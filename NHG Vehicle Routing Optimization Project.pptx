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1B3258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CBD1D9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B3BAC6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#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1B3258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CBD1D9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B3BAC6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#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1B3258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CBD1D9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B3BAC6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#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1B3258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CBD1D9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B3BAC6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#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2638" y="0"/>
            <a:ext cx="6579361" cy="619836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705224" y="-2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9524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524" y="0"/>
                </a:lnTo>
                <a:lnTo>
                  <a:pt x="9524" y="6857999"/>
                </a:lnTo>
                <a:close/>
              </a:path>
            </a:pathLst>
          </a:custGeom>
          <a:solidFill>
            <a:srgbClr val="162E52">
              <a:alpha val="58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CBD1D9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B3BAC6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#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05545" y="2116140"/>
            <a:ext cx="2980908" cy="149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1B3258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1524" y="3219447"/>
            <a:ext cx="5067300" cy="1697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6899" y="6512162"/>
            <a:ext cx="1471930" cy="11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CBD1D9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223575" y="6501570"/>
            <a:ext cx="373379" cy="128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rgbClr val="B3BAC6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#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1399" y="0"/>
              <a:ext cx="7340600" cy="6857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422399"/>
              <a:ext cx="7340600" cy="5435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283455"/>
              <a:ext cx="7340600" cy="257454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00499" y="94297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6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6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798F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49300" y="874676"/>
            <a:ext cx="4432935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401060" algn="l"/>
              </a:tabLst>
            </a:pPr>
            <a:r>
              <a:rPr dirty="0" sz="850" spc="-26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50" spc="-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50" spc="26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105" b="1">
                <a:solidFill>
                  <a:srgbClr val="C87D09"/>
                </a:solidFill>
                <a:latin typeface="Verdana"/>
                <a:cs typeface="Verdana"/>
              </a:rPr>
              <a:t>7</a:t>
            </a:r>
            <a:r>
              <a:rPr dirty="0" sz="850" spc="-9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100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r>
              <a:rPr dirty="0" sz="850" spc="-7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0</a:t>
            </a:r>
            <a:r>
              <a:rPr dirty="0" sz="850" spc="-7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0</a:t>
            </a:r>
            <a:r>
              <a:rPr dirty="0" sz="850" spc="3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—</a:t>
            </a:r>
            <a:r>
              <a:rPr dirty="0" sz="850" spc="26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3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sz="85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70" b="1">
                <a:solidFill>
                  <a:srgbClr val="C87D09"/>
                </a:solidFill>
                <a:latin typeface="Verdana"/>
                <a:cs typeface="Verdana"/>
              </a:rPr>
              <a:t>U</a:t>
            </a:r>
            <a:r>
              <a:rPr dirty="0" sz="850" spc="-5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70" b="1">
                <a:solidFill>
                  <a:srgbClr val="C87D09"/>
                </a:solidFill>
                <a:latin typeface="Verdana"/>
                <a:cs typeface="Verdana"/>
              </a:rPr>
              <a:t>P</a:t>
            </a:r>
            <a:r>
              <a:rPr dirty="0" sz="850" spc="-9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70" b="1">
                <a:solidFill>
                  <a:srgbClr val="C87D09"/>
                </a:solidFill>
                <a:latin typeface="Verdana"/>
                <a:cs typeface="Verdana"/>
              </a:rPr>
              <a:t>P</a:t>
            </a:r>
            <a:r>
              <a:rPr dirty="0" sz="850" spc="-9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85" b="1">
                <a:solidFill>
                  <a:srgbClr val="C87D09"/>
                </a:solidFill>
                <a:latin typeface="Verdana"/>
                <a:cs typeface="Verdana"/>
              </a:rPr>
              <a:t>L</a:t>
            </a:r>
            <a:r>
              <a:rPr dirty="0" sz="850" spc="-16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Y</a:t>
            </a:r>
            <a:r>
              <a:rPr dirty="0" sz="850" spc="2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75" b="1">
                <a:solidFill>
                  <a:srgbClr val="C87D09"/>
                </a:solidFill>
                <a:latin typeface="Verdana"/>
                <a:cs typeface="Verdana"/>
              </a:rPr>
              <a:t>C</a:t>
            </a:r>
            <a:r>
              <a:rPr dirty="0" sz="850" spc="-10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95" b="1">
                <a:solidFill>
                  <a:srgbClr val="C87D09"/>
                </a:solidFill>
                <a:latin typeface="Verdana"/>
                <a:cs typeface="Verdana"/>
              </a:rPr>
              <a:t>H</a:t>
            </a:r>
            <a:r>
              <a:rPr dirty="0" sz="85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50" spc="-114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50" spc="-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N</a:t>
            </a:r>
            <a:r>
              <a:rPr dirty="0" sz="850" spc="33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50" spc="-6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N</a:t>
            </a:r>
            <a:r>
              <a:rPr dirty="0" sz="850" spc="-5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G</a:t>
            </a:r>
            <a:r>
              <a:rPr dirty="0" sz="850" spc="-11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50" spc="-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N</a:t>
            </a:r>
            <a:r>
              <a:rPr dirty="0" sz="850" spc="-5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50" spc="-6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50" spc="-6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45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sz="850" spc="-10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50" spc="-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N</a:t>
            </a:r>
            <a:r>
              <a:rPr dirty="0" sz="850" spc="-5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50" b="1">
                <a:solidFill>
                  <a:srgbClr val="C87D09"/>
                </a:solidFill>
                <a:latin typeface="Verdana"/>
                <a:cs typeface="Verdana"/>
              </a:rPr>
              <a:t>G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	</a:t>
            </a:r>
            <a:r>
              <a:rPr dirty="0" sz="850" spc="-3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sz="85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70" b="1">
                <a:solidFill>
                  <a:srgbClr val="C87D09"/>
                </a:solidFill>
                <a:latin typeface="Verdana"/>
                <a:cs typeface="Verdana"/>
              </a:rPr>
              <a:t>P</a:t>
            </a:r>
            <a:r>
              <a:rPr dirty="0" sz="85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45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sz="85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 N</a:t>
            </a:r>
            <a:r>
              <a:rPr dirty="0" sz="85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G</a:t>
            </a:r>
            <a:r>
              <a:rPr dirty="0" sz="850" spc="3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100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r>
              <a:rPr dirty="0" sz="850" spc="-6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0</a:t>
            </a:r>
            <a:r>
              <a:rPr dirty="0" sz="850" spc="-6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100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r>
              <a:rPr dirty="0" sz="850" spc="-6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50" b="1">
                <a:solidFill>
                  <a:srgbClr val="C87D09"/>
                </a:solidFill>
                <a:latin typeface="Verdana"/>
                <a:cs typeface="Verdana"/>
              </a:rPr>
              <a:t>6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49300" y="1172594"/>
            <a:ext cx="6264910" cy="2967990"/>
          </a:xfrm>
          <a:prstGeom prst="rect"/>
        </p:spPr>
        <p:txBody>
          <a:bodyPr wrap="square" lIns="0" tIns="177165" rIns="0" bIns="0" rtlCol="0" vert="horz">
            <a:spAutoFit/>
          </a:bodyPr>
          <a:lstStyle/>
          <a:p>
            <a:pPr marL="12700" marR="5080">
              <a:lnSpc>
                <a:spcPct val="78900"/>
              </a:lnSpc>
              <a:spcBef>
                <a:spcPts val="1395"/>
              </a:spcBef>
            </a:pPr>
            <a:r>
              <a:rPr dirty="0" sz="5150" spc="-320"/>
              <a:t>NHG</a:t>
            </a:r>
            <a:r>
              <a:rPr dirty="0" sz="5150" spc="-1085"/>
              <a:t> </a:t>
            </a:r>
            <a:r>
              <a:rPr dirty="0" sz="5150" spc="-580">
                <a:solidFill>
                  <a:srgbClr val="C87D09"/>
                </a:solidFill>
              </a:rPr>
              <a:t>G</a:t>
            </a:r>
            <a:r>
              <a:rPr dirty="0" sz="5150" spc="-490">
                <a:solidFill>
                  <a:srgbClr val="C87D09"/>
                </a:solidFill>
              </a:rPr>
              <a:t>r</a:t>
            </a:r>
            <a:r>
              <a:rPr dirty="0" sz="5150" spc="-515">
                <a:solidFill>
                  <a:srgbClr val="C87D09"/>
                </a:solidFill>
              </a:rPr>
              <a:t>o</a:t>
            </a:r>
            <a:r>
              <a:rPr dirty="0" sz="4800" spc="-630">
                <a:solidFill>
                  <a:srgbClr val="C87D09"/>
                </a:solidFill>
              </a:rPr>
              <a:t>w</a:t>
            </a:r>
            <a:r>
              <a:rPr dirty="0" sz="5150" spc="-110">
                <a:solidFill>
                  <a:srgbClr val="C87D09"/>
                </a:solidFill>
              </a:rPr>
              <a:t>i</a:t>
            </a:r>
            <a:r>
              <a:rPr dirty="0" sz="5150" spc="-295">
                <a:solidFill>
                  <a:srgbClr val="C87D09"/>
                </a:solidFill>
              </a:rPr>
              <a:t>n</a:t>
            </a:r>
            <a:r>
              <a:rPr dirty="0" sz="5150" spc="-305">
                <a:solidFill>
                  <a:srgbClr val="C87D09"/>
                </a:solidFill>
              </a:rPr>
              <a:t>g</a:t>
            </a:r>
            <a:r>
              <a:rPr dirty="0" sz="5150" spc="-795">
                <a:solidFill>
                  <a:srgbClr val="C87D09"/>
                </a:solidFill>
              </a:rPr>
              <a:t> </a:t>
            </a:r>
            <a:r>
              <a:rPr dirty="0" sz="5150" spc="-605">
                <a:solidFill>
                  <a:srgbClr val="C87D09"/>
                </a:solidFill>
              </a:rPr>
              <a:t>Pains: </a:t>
            </a:r>
            <a:r>
              <a:rPr dirty="0" sz="5150" spc="-840"/>
              <a:t>V</a:t>
            </a:r>
            <a:r>
              <a:rPr dirty="0" sz="5150" spc="-509"/>
              <a:t>e</a:t>
            </a:r>
            <a:r>
              <a:rPr dirty="0" sz="5150" spc="-355"/>
              <a:t>h</a:t>
            </a:r>
            <a:r>
              <a:rPr dirty="0" sz="5150" spc="-170"/>
              <a:t>i</a:t>
            </a:r>
            <a:r>
              <a:rPr dirty="0" sz="5150" spc="-509"/>
              <a:t>c</a:t>
            </a:r>
            <a:r>
              <a:rPr dirty="0" sz="5150" spc="-165"/>
              <a:t>l</a:t>
            </a:r>
            <a:r>
              <a:rPr dirty="0" sz="5150" spc="-365"/>
              <a:t>e</a:t>
            </a:r>
            <a:r>
              <a:rPr dirty="0" sz="5150" spc="-935"/>
              <a:t> </a:t>
            </a:r>
            <a:r>
              <a:rPr dirty="0" sz="5150" spc="-725"/>
              <a:t>R</a:t>
            </a:r>
            <a:r>
              <a:rPr dirty="0" sz="5150" spc="-540"/>
              <a:t>o</a:t>
            </a:r>
            <a:r>
              <a:rPr dirty="0" sz="4800" spc="-330"/>
              <a:t>u</a:t>
            </a:r>
            <a:r>
              <a:rPr dirty="0" sz="5150" spc="-450"/>
              <a:t>t</a:t>
            </a:r>
            <a:r>
              <a:rPr dirty="0" sz="5150" spc="-204"/>
              <a:t>i</a:t>
            </a:r>
            <a:r>
              <a:rPr dirty="0" sz="5150" spc="-390"/>
              <a:t>n</a:t>
            </a:r>
            <a:r>
              <a:rPr dirty="0" sz="5150" spc="-400"/>
              <a:t>g</a:t>
            </a:r>
            <a:r>
              <a:rPr dirty="0" sz="5150" spc="-434"/>
              <a:t> </a:t>
            </a:r>
            <a:r>
              <a:rPr dirty="0" sz="5150" spc="-430"/>
              <a:t>Optimi</a:t>
            </a:r>
            <a:r>
              <a:rPr dirty="0" sz="4800" spc="-430"/>
              <a:t>z</a:t>
            </a:r>
            <a:r>
              <a:rPr dirty="0" sz="5150" spc="-430"/>
              <a:t>ation</a:t>
            </a:r>
            <a:endParaRPr sz="5150"/>
          </a:p>
          <a:p>
            <a:pPr marL="12700" marR="1337310">
              <a:lnSpc>
                <a:spcPct val="130000"/>
              </a:lnSpc>
              <a:spcBef>
                <a:spcPts val="1395"/>
              </a:spcBef>
            </a:pPr>
            <a:r>
              <a:rPr dirty="0" sz="1250" spc="-25" b="0">
                <a:solidFill>
                  <a:srgbClr val="768499"/>
                </a:solidFill>
                <a:latin typeface="Microsoft Sans Serif"/>
                <a:cs typeface="Microsoft Sans Serif"/>
              </a:rPr>
              <a:t>Benchmarking</a:t>
            </a:r>
            <a:r>
              <a:rPr dirty="0" sz="1250" spc="1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70" b="0">
                <a:solidFill>
                  <a:srgbClr val="768499"/>
                </a:solidFill>
                <a:latin typeface="Microsoft Sans Serif"/>
                <a:cs typeface="Microsoft Sans Serif"/>
              </a:rPr>
              <a:t>NHG's</a:t>
            </a:r>
            <a:r>
              <a:rPr dirty="0" sz="1250" spc="6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in-</a:t>
            </a:r>
            <a:r>
              <a:rPr dirty="0" sz="1250" spc="-10" b="0">
                <a:solidFill>
                  <a:srgbClr val="768499"/>
                </a:solidFill>
                <a:latin typeface="Microsoft Sans Serif"/>
                <a:cs typeface="Microsoft Sans Serif"/>
              </a:rPr>
              <a:t>house</a:t>
            </a:r>
            <a:r>
              <a:rPr dirty="0" sz="1250" spc="35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distribution</a:t>
            </a:r>
            <a:r>
              <a:rPr dirty="0" sz="1250" spc="7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model</a:t>
            </a:r>
            <a:r>
              <a:rPr dirty="0" sz="1250" spc="13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20" b="0">
                <a:solidFill>
                  <a:srgbClr val="768499"/>
                </a:solidFill>
                <a:latin typeface="Microsoft Sans Serif"/>
                <a:cs typeface="Microsoft Sans Serif"/>
              </a:rPr>
              <a:t>against</a:t>
            </a:r>
            <a:r>
              <a:rPr dirty="0" sz="1250" spc="5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a</a:t>
            </a:r>
            <a:r>
              <a:rPr dirty="0" sz="1250" spc="7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third-</a:t>
            </a:r>
            <a:r>
              <a:rPr dirty="0" sz="1250" spc="-10" b="0">
                <a:solidFill>
                  <a:srgbClr val="768499"/>
                </a:solidFill>
                <a:latin typeface="Microsoft Sans Serif"/>
                <a:cs typeface="Microsoft Sans Serif"/>
              </a:rPr>
              <a:t>party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logistics</a:t>
            </a:r>
            <a:r>
              <a:rPr dirty="0" sz="1250" spc="5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proposal</a:t>
            </a:r>
            <a:r>
              <a:rPr dirty="0" sz="1250" spc="7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280" b="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250" spc="-3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20" b="0">
                <a:solidFill>
                  <a:srgbClr val="768499"/>
                </a:solidFill>
                <a:latin typeface="Microsoft Sans Serif"/>
                <a:cs typeface="Microsoft Sans Serif"/>
              </a:rPr>
              <a:t>using</a:t>
            </a:r>
            <a:r>
              <a:rPr dirty="0" sz="1250" spc="-3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capacitated</a:t>
            </a:r>
            <a:r>
              <a:rPr dirty="0" sz="1250" spc="2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35" b="0">
                <a:solidFill>
                  <a:srgbClr val="768499"/>
                </a:solidFill>
                <a:latin typeface="Microsoft Sans Serif"/>
                <a:cs typeface="Microsoft Sans Serif"/>
              </a:rPr>
              <a:t>VRP</a:t>
            </a:r>
            <a:r>
              <a:rPr dirty="0" sz="1250" spc="-15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with</a:t>
            </a:r>
            <a:r>
              <a:rPr dirty="0" sz="1250" spc="15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time</a:t>
            </a:r>
            <a:r>
              <a:rPr dirty="0" sz="1250" spc="-1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windows</a:t>
            </a:r>
            <a:r>
              <a:rPr dirty="0" sz="1250" spc="1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 b="0">
                <a:solidFill>
                  <a:srgbClr val="768499"/>
                </a:solidFill>
                <a:latin typeface="Microsoft Sans Serif"/>
                <a:cs typeface="Microsoft Sans Serif"/>
              </a:rPr>
              <a:t>across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three</a:t>
            </a:r>
            <a:r>
              <a:rPr dirty="0" sz="1250" spc="-6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b="0">
                <a:solidFill>
                  <a:srgbClr val="768499"/>
                </a:solidFill>
                <a:latin typeface="Microsoft Sans Serif"/>
                <a:cs typeface="Microsoft Sans Serif"/>
              </a:rPr>
              <a:t>operational</a:t>
            </a:r>
            <a:r>
              <a:rPr dirty="0" sz="1250" spc="10" b="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 b="0">
                <a:solidFill>
                  <a:srgbClr val="768499"/>
                </a:solidFill>
                <a:latin typeface="Microsoft Sans Serif"/>
                <a:cs typeface="Microsoft Sans Serif"/>
              </a:rPr>
              <a:t>scenarios.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300" y="4652651"/>
            <a:ext cx="995680" cy="3613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750" b="1">
                <a:solidFill>
                  <a:srgbClr val="B3BAC6"/>
                </a:solidFill>
                <a:latin typeface="Arial"/>
                <a:cs typeface="Arial"/>
              </a:rPr>
              <a:t>C</a:t>
            </a:r>
            <a:r>
              <a:rPr dirty="0" sz="750" spc="-7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B3BAC6"/>
                </a:solidFill>
                <a:latin typeface="Arial"/>
                <a:cs typeface="Arial"/>
              </a:rPr>
              <a:t>O</a:t>
            </a:r>
            <a:r>
              <a:rPr dirty="0" sz="750" spc="-7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45" b="1">
                <a:solidFill>
                  <a:srgbClr val="B3BAC6"/>
                </a:solidFill>
                <a:latin typeface="Arial"/>
                <a:cs typeface="Arial"/>
              </a:rPr>
              <a:t>U </a:t>
            </a:r>
            <a:r>
              <a:rPr dirty="0" sz="750" spc="-75" b="1">
                <a:solidFill>
                  <a:srgbClr val="B3BAC6"/>
                </a:solidFill>
                <a:latin typeface="Arial"/>
                <a:cs typeface="Arial"/>
              </a:rPr>
              <a:t>R</a:t>
            </a:r>
            <a:r>
              <a:rPr dirty="0" sz="750" spc="-55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B3BAC6"/>
                </a:solidFill>
                <a:latin typeface="Arial"/>
                <a:cs typeface="Arial"/>
              </a:rPr>
              <a:t>S</a:t>
            </a:r>
            <a:r>
              <a:rPr dirty="0" sz="750" spc="-55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B3BAC6"/>
                </a:solidFill>
                <a:latin typeface="Arial"/>
                <a:cs typeface="Arial"/>
              </a:rPr>
              <a:t>E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100" spc="-204" b="1">
                <a:solidFill>
                  <a:srgbClr val="485A76"/>
                </a:solidFill>
                <a:latin typeface="Verdana"/>
                <a:cs typeface="Verdana"/>
              </a:rPr>
              <a:t>IE</a:t>
            </a:r>
            <a:r>
              <a:rPr dirty="0" sz="1100" spc="-125" b="1">
                <a:solidFill>
                  <a:srgbClr val="485A76"/>
                </a:solidFill>
                <a:latin typeface="Verdana"/>
                <a:cs typeface="Verdana"/>
              </a:rPr>
              <a:t> </a:t>
            </a:r>
            <a:r>
              <a:rPr dirty="0" sz="1100" spc="-80" b="1">
                <a:solidFill>
                  <a:srgbClr val="485A76"/>
                </a:solidFill>
                <a:latin typeface="Verdana"/>
                <a:cs typeface="Verdana"/>
              </a:rPr>
              <a:t>7200</a:t>
            </a:r>
            <a:r>
              <a:rPr dirty="0" sz="1100" spc="-130" b="1">
                <a:solidFill>
                  <a:srgbClr val="485A76"/>
                </a:solidFill>
                <a:latin typeface="Verdana"/>
                <a:cs typeface="Verdana"/>
              </a:rPr>
              <a:t> </a:t>
            </a:r>
            <a:r>
              <a:rPr dirty="0" sz="1100" spc="-85" b="1">
                <a:solidFill>
                  <a:srgbClr val="485A76"/>
                </a:solidFill>
                <a:latin typeface="Verdana"/>
                <a:cs typeface="Verdana"/>
              </a:rPr>
              <a:t>—</a:t>
            </a:r>
            <a:r>
              <a:rPr dirty="0" sz="1100" spc="-215" b="1">
                <a:solidFill>
                  <a:srgbClr val="485A76"/>
                </a:solidFill>
                <a:latin typeface="Verdana"/>
                <a:cs typeface="Verdana"/>
              </a:rPr>
              <a:t> </a:t>
            </a:r>
            <a:r>
              <a:rPr dirty="0" sz="1100" spc="-40" b="1">
                <a:solidFill>
                  <a:srgbClr val="485A76"/>
                </a:solidFill>
                <a:latin typeface="Verdana"/>
                <a:cs typeface="Verdana"/>
              </a:rPr>
              <a:t>SCE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38337" y="4676775"/>
            <a:ext cx="3457575" cy="342900"/>
          </a:xfrm>
          <a:custGeom>
            <a:avLst/>
            <a:gdLst/>
            <a:ahLst/>
            <a:cxnLst/>
            <a:rect l="l" t="t" r="r" b="b"/>
            <a:pathLst>
              <a:path w="3457575" h="342900">
                <a:moveTo>
                  <a:pt x="9525" y="0"/>
                </a:moveTo>
                <a:lnTo>
                  <a:pt x="0" y="0"/>
                </a:lnTo>
                <a:lnTo>
                  <a:pt x="0" y="342900"/>
                </a:lnTo>
                <a:lnTo>
                  <a:pt x="9525" y="342900"/>
                </a:lnTo>
                <a:lnTo>
                  <a:pt x="9525" y="0"/>
                </a:lnTo>
                <a:close/>
              </a:path>
              <a:path w="3457575" h="342900">
                <a:moveTo>
                  <a:pt x="2076450" y="0"/>
                </a:moveTo>
                <a:lnTo>
                  <a:pt x="2066925" y="0"/>
                </a:lnTo>
                <a:lnTo>
                  <a:pt x="2066925" y="342900"/>
                </a:lnTo>
                <a:lnTo>
                  <a:pt x="2076450" y="342900"/>
                </a:lnTo>
                <a:lnTo>
                  <a:pt x="2076450" y="0"/>
                </a:lnTo>
                <a:close/>
              </a:path>
              <a:path w="3457575" h="342900">
                <a:moveTo>
                  <a:pt x="3457575" y="0"/>
                </a:moveTo>
                <a:lnTo>
                  <a:pt x="3448050" y="0"/>
                </a:lnTo>
                <a:lnTo>
                  <a:pt x="3448050" y="342900"/>
                </a:lnTo>
                <a:lnTo>
                  <a:pt x="3457575" y="342900"/>
                </a:lnTo>
                <a:lnTo>
                  <a:pt x="3457575" y="0"/>
                </a:lnTo>
                <a:close/>
              </a:path>
            </a:pathLst>
          </a:custGeom>
          <a:solidFill>
            <a:srgbClr val="162E52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39677" y="4652651"/>
            <a:ext cx="1477010" cy="3613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750" b="1">
                <a:solidFill>
                  <a:srgbClr val="B3BAC6"/>
                </a:solidFill>
                <a:latin typeface="Arial"/>
                <a:cs typeface="Arial"/>
              </a:rPr>
              <a:t>M</a:t>
            </a:r>
            <a:r>
              <a:rPr dirty="0" sz="750" spc="-55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B3BAC6"/>
                </a:solidFill>
                <a:latin typeface="Arial"/>
                <a:cs typeface="Arial"/>
              </a:rPr>
              <a:t>E</a:t>
            </a:r>
            <a:r>
              <a:rPr dirty="0" sz="750" spc="-45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B3BAC6"/>
                </a:solidFill>
                <a:latin typeface="Arial"/>
                <a:cs typeface="Arial"/>
              </a:rPr>
              <a:t>T</a:t>
            </a:r>
            <a:r>
              <a:rPr dirty="0" sz="750" spc="-7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25" b="1">
                <a:solidFill>
                  <a:srgbClr val="B3BAC6"/>
                </a:solidFill>
                <a:latin typeface="Arial"/>
                <a:cs typeface="Arial"/>
              </a:rPr>
              <a:t>H</a:t>
            </a:r>
            <a:r>
              <a:rPr dirty="0" sz="750" spc="-4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B3BAC6"/>
                </a:solidFill>
                <a:latin typeface="Arial"/>
                <a:cs typeface="Arial"/>
              </a:rPr>
              <a:t>O</a:t>
            </a:r>
            <a:r>
              <a:rPr dirty="0" sz="750" spc="-7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B3BAC6"/>
                </a:solidFill>
                <a:latin typeface="Arial"/>
                <a:cs typeface="Arial"/>
              </a:rPr>
              <a:t>D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100" spc="-85" b="1">
                <a:solidFill>
                  <a:srgbClr val="485A76"/>
                </a:solidFill>
                <a:latin typeface="Verdana"/>
                <a:cs typeface="Verdana"/>
              </a:rPr>
              <a:t>CVRPTW</a:t>
            </a:r>
            <a:r>
              <a:rPr dirty="0" sz="1100" spc="-215" b="1">
                <a:solidFill>
                  <a:srgbClr val="485A76"/>
                </a:solidFill>
                <a:latin typeface="Verdana"/>
                <a:cs typeface="Verdana"/>
              </a:rPr>
              <a:t> </a:t>
            </a:r>
            <a:r>
              <a:rPr dirty="0" sz="1100" spc="-345" b="1">
                <a:solidFill>
                  <a:srgbClr val="485A76"/>
                </a:solidFill>
                <a:latin typeface="Verdana"/>
                <a:cs typeface="Verdana"/>
              </a:rPr>
              <a:t>+</a:t>
            </a:r>
            <a:r>
              <a:rPr dirty="0" sz="1100" spc="-110" b="1">
                <a:solidFill>
                  <a:srgbClr val="485A76"/>
                </a:solidFill>
                <a:latin typeface="Verdana"/>
                <a:cs typeface="Verdana"/>
              </a:rPr>
              <a:t> </a:t>
            </a:r>
            <a:r>
              <a:rPr dirty="0" sz="1100" spc="-60" b="1">
                <a:solidFill>
                  <a:srgbClr val="485A76"/>
                </a:solidFill>
                <a:latin typeface="Verdana"/>
                <a:cs typeface="Verdana"/>
              </a:rPr>
              <a:t>Heuristics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08834" y="4652651"/>
            <a:ext cx="782955" cy="3613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750" spc="-50" b="1">
                <a:solidFill>
                  <a:srgbClr val="B3BAC6"/>
                </a:solidFill>
                <a:latin typeface="Arial"/>
                <a:cs typeface="Arial"/>
              </a:rPr>
              <a:t>S</a:t>
            </a:r>
            <a:r>
              <a:rPr dirty="0" sz="750" spc="-6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B3BAC6"/>
                </a:solidFill>
                <a:latin typeface="Arial"/>
                <a:cs typeface="Arial"/>
              </a:rPr>
              <a:t>C</a:t>
            </a:r>
            <a:r>
              <a:rPr dirty="0" sz="750" spc="-65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B3BAC6"/>
                </a:solidFill>
                <a:latin typeface="Arial"/>
                <a:cs typeface="Arial"/>
              </a:rPr>
              <a:t>E</a:t>
            </a:r>
            <a:r>
              <a:rPr dirty="0" sz="750" spc="-5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20" b="1">
                <a:solidFill>
                  <a:srgbClr val="B3BAC6"/>
                </a:solidFill>
                <a:latin typeface="Arial"/>
                <a:cs typeface="Arial"/>
              </a:rPr>
              <a:t>N</a:t>
            </a:r>
            <a:r>
              <a:rPr dirty="0" sz="750" spc="-4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B3BAC6"/>
                </a:solidFill>
                <a:latin typeface="Arial"/>
                <a:cs typeface="Arial"/>
              </a:rPr>
              <a:t>A</a:t>
            </a:r>
            <a:r>
              <a:rPr dirty="0" sz="750" spc="-8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B3BAC6"/>
                </a:solidFill>
                <a:latin typeface="Arial"/>
                <a:cs typeface="Arial"/>
              </a:rPr>
              <a:t>R</a:t>
            </a:r>
            <a:r>
              <a:rPr dirty="0" sz="750" spc="-6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B3BAC6"/>
                </a:solidFill>
                <a:latin typeface="Arial"/>
                <a:cs typeface="Arial"/>
              </a:rPr>
              <a:t>I</a:t>
            </a:r>
            <a:r>
              <a:rPr dirty="0" sz="750" spc="-5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B3BAC6"/>
                </a:solidFill>
                <a:latin typeface="Arial"/>
                <a:cs typeface="Arial"/>
              </a:rPr>
              <a:t>O</a:t>
            </a:r>
            <a:r>
              <a:rPr dirty="0" sz="750" spc="-7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B3BAC6"/>
                </a:solidFill>
                <a:latin typeface="Arial"/>
                <a:cs typeface="Arial"/>
              </a:rPr>
              <a:t>S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100" spc="-229" b="1">
                <a:solidFill>
                  <a:srgbClr val="485A76"/>
                </a:solidFill>
                <a:latin typeface="Verdana"/>
                <a:cs typeface="Verdana"/>
              </a:rPr>
              <a:t>Q1</a:t>
            </a:r>
            <a:r>
              <a:rPr dirty="0" sz="1100" spc="-70" b="1">
                <a:solidFill>
                  <a:srgbClr val="485A76"/>
                </a:solidFill>
                <a:latin typeface="Verdana"/>
                <a:cs typeface="Verdana"/>
              </a:rPr>
              <a:t> </a:t>
            </a:r>
            <a:r>
              <a:rPr dirty="0" sz="1100" spc="-165" b="1">
                <a:solidFill>
                  <a:srgbClr val="485A76"/>
                </a:solidFill>
                <a:latin typeface="Verdana"/>
                <a:cs typeface="Verdana"/>
              </a:rPr>
              <a:t>·</a:t>
            </a:r>
            <a:r>
              <a:rPr dirty="0" sz="1100" spc="-100" b="1">
                <a:solidFill>
                  <a:srgbClr val="485A76"/>
                </a:solidFill>
                <a:latin typeface="Verdana"/>
                <a:cs typeface="Verdana"/>
              </a:rPr>
              <a:t> </a:t>
            </a:r>
            <a:r>
              <a:rPr dirty="0" sz="1100" spc="-85" b="1">
                <a:solidFill>
                  <a:srgbClr val="485A76"/>
                </a:solidFill>
                <a:latin typeface="Verdana"/>
                <a:cs typeface="Verdana"/>
              </a:rPr>
              <a:t>Q2</a:t>
            </a:r>
            <a:r>
              <a:rPr dirty="0" sz="1100" spc="-140" b="1">
                <a:solidFill>
                  <a:srgbClr val="485A76"/>
                </a:solidFill>
                <a:latin typeface="Verdana"/>
                <a:cs typeface="Verdana"/>
              </a:rPr>
              <a:t> </a:t>
            </a:r>
            <a:r>
              <a:rPr dirty="0" sz="1100" spc="-165" b="1">
                <a:solidFill>
                  <a:srgbClr val="485A76"/>
                </a:solidFill>
                <a:latin typeface="Verdana"/>
                <a:cs typeface="Verdana"/>
              </a:rPr>
              <a:t>·</a:t>
            </a:r>
            <a:r>
              <a:rPr dirty="0" sz="1100" spc="-95" b="1">
                <a:solidFill>
                  <a:srgbClr val="485A76"/>
                </a:solidFill>
                <a:latin typeface="Verdana"/>
                <a:cs typeface="Verdana"/>
              </a:rPr>
              <a:t> </a:t>
            </a:r>
            <a:r>
              <a:rPr dirty="0" sz="1100" spc="-55" b="1">
                <a:solidFill>
                  <a:srgbClr val="485A76"/>
                </a:solidFill>
                <a:latin typeface="Verdana"/>
                <a:cs typeface="Verdana"/>
              </a:rPr>
              <a:t>Q3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84601" y="4652651"/>
            <a:ext cx="1312545" cy="3613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750" spc="-75" b="1">
                <a:solidFill>
                  <a:srgbClr val="B3BAC6"/>
                </a:solidFill>
                <a:latin typeface="Arial"/>
                <a:cs typeface="Arial"/>
              </a:rPr>
              <a:t>R</a:t>
            </a:r>
            <a:r>
              <a:rPr dirty="0" sz="750" spc="-6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B3BAC6"/>
                </a:solidFill>
                <a:latin typeface="Arial"/>
                <a:cs typeface="Arial"/>
              </a:rPr>
              <a:t>E</a:t>
            </a:r>
            <a:r>
              <a:rPr dirty="0" sz="750" spc="-5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B3BAC6"/>
                </a:solidFill>
                <a:latin typeface="Arial"/>
                <a:cs typeface="Arial"/>
              </a:rPr>
              <a:t>G</a:t>
            </a:r>
            <a:r>
              <a:rPr dirty="0" sz="750" spc="-65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B3BAC6"/>
                </a:solidFill>
                <a:latin typeface="Arial"/>
                <a:cs typeface="Arial"/>
              </a:rPr>
              <a:t>I</a:t>
            </a:r>
            <a:r>
              <a:rPr dirty="0" sz="750" spc="-10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B3BAC6"/>
                </a:solidFill>
                <a:latin typeface="Arial"/>
                <a:cs typeface="Arial"/>
              </a:rPr>
              <a:t>O</a:t>
            </a:r>
            <a:r>
              <a:rPr dirty="0" sz="750" spc="-75" b="1">
                <a:solidFill>
                  <a:srgbClr val="B3BAC6"/>
                </a:solidFill>
                <a:latin typeface="Arial"/>
                <a:cs typeface="Arial"/>
              </a:rPr>
              <a:t> </a:t>
            </a:r>
            <a:r>
              <a:rPr dirty="0" sz="750" spc="-60" b="1">
                <a:solidFill>
                  <a:srgbClr val="B3BAC6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100" spc="-70" b="1">
                <a:solidFill>
                  <a:srgbClr val="485A76"/>
                </a:solidFill>
                <a:latin typeface="Verdana"/>
                <a:cs typeface="Verdana"/>
              </a:rPr>
              <a:t>6</a:t>
            </a:r>
            <a:r>
              <a:rPr dirty="0" sz="1100" spc="-135" b="1">
                <a:solidFill>
                  <a:srgbClr val="485A76"/>
                </a:solidFill>
                <a:latin typeface="Verdana"/>
                <a:cs typeface="Verdana"/>
              </a:rPr>
              <a:t> </a:t>
            </a:r>
            <a:r>
              <a:rPr dirty="0" sz="1100" spc="-85" b="1">
                <a:solidFill>
                  <a:srgbClr val="485A76"/>
                </a:solidFill>
                <a:latin typeface="Verdana"/>
                <a:cs typeface="Verdana"/>
              </a:rPr>
              <a:t>Northeast</a:t>
            </a:r>
            <a:r>
              <a:rPr dirty="0" sz="1100" spc="-105" b="1">
                <a:solidFill>
                  <a:srgbClr val="485A76"/>
                </a:solidFill>
                <a:latin typeface="Verdana"/>
                <a:cs typeface="Verdana"/>
              </a:rPr>
              <a:t> </a:t>
            </a:r>
            <a:r>
              <a:rPr dirty="0" sz="1100" spc="-60" b="1">
                <a:solidFill>
                  <a:srgbClr val="485A76"/>
                </a:solidFill>
                <a:latin typeface="Verdana"/>
                <a:cs typeface="Verdana"/>
              </a:rPr>
              <a:t>States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9300" y="5346712"/>
            <a:ext cx="343535" cy="143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spc="-10" b="1">
                <a:solidFill>
                  <a:srgbClr val="BEC4CE"/>
                </a:solidFill>
                <a:latin typeface="Arial"/>
                <a:cs typeface="Arial"/>
              </a:rPr>
              <a:t>T</a:t>
            </a:r>
            <a:r>
              <a:rPr dirty="0" sz="750" spc="-75" b="1">
                <a:solidFill>
                  <a:srgbClr val="BEC4CE"/>
                </a:solidFill>
                <a:latin typeface="Arial"/>
                <a:cs typeface="Arial"/>
              </a:rPr>
              <a:t> E</a:t>
            </a:r>
            <a:r>
              <a:rPr dirty="0" sz="750" spc="-50" b="1">
                <a:solidFill>
                  <a:srgbClr val="BEC4CE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BEC4CE"/>
                </a:solidFill>
                <a:latin typeface="Arial"/>
                <a:cs typeface="Arial"/>
              </a:rPr>
              <a:t>A</a:t>
            </a:r>
            <a:r>
              <a:rPr dirty="0" sz="750" spc="-85" b="1">
                <a:solidFill>
                  <a:srgbClr val="BEC4CE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BEC4CE"/>
                </a:solidFill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9300" y="5483584"/>
            <a:ext cx="250190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90"/>
              </a:spcBef>
            </a:pPr>
            <a:r>
              <a:rPr dirty="0" sz="1100" spc="-120" b="1">
                <a:solidFill>
                  <a:srgbClr val="607189"/>
                </a:solidFill>
                <a:latin typeface="Verdana"/>
                <a:cs typeface="Verdana"/>
              </a:rPr>
              <a:t>Harshavardhan</a:t>
            </a:r>
            <a:r>
              <a:rPr dirty="0" sz="1100" spc="-75" b="1">
                <a:solidFill>
                  <a:srgbClr val="607189"/>
                </a:solidFill>
                <a:latin typeface="Verdana"/>
                <a:cs typeface="Verdana"/>
              </a:rPr>
              <a:t> </a:t>
            </a:r>
            <a:r>
              <a:rPr dirty="0" sz="1100" spc="-125" b="1">
                <a:solidFill>
                  <a:srgbClr val="607189"/>
                </a:solidFill>
                <a:latin typeface="Verdana"/>
                <a:cs typeface="Verdana"/>
              </a:rPr>
              <a:t>Surya</a:t>
            </a:r>
            <a:r>
              <a:rPr dirty="0" sz="1100" spc="-70" b="1">
                <a:solidFill>
                  <a:srgbClr val="607189"/>
                </a:solidFill>
                <a:latin typeface="Verdana"/>
                <a:cs typeface="Verdana"/>
              </a:rPr>
              <a:t> </a:t>
            </a:r>
            <a:r>
              <a:rPr dirty="0" sz="1100" spc="-120" b="1">
                <a:solidFill>
                  <a:srgbClr val="607189"/>
                </a:solidFill>
                <a:latin typeface="Verdana"/>
                <a:cs typeface="Verdana"/>
              </a:rPr>
              <a:t>Babu</a:t>
            </a:r>
            <a:r>
              <a:rPr dirty="0" sz="1100" spc="-60" b="1">
                <a:solidFill>
                  <a:srgbClr val="607189"/>
                </a:solidFill>
                <a:latin typeface="Verdana"/>
                <a:cs typeface="Verdana"/>
              </a:rPr>
              <a:t> </a:t>
            </a:r>
            <a:r>
              <a:rPr dirty="0" sz="1100" spc="-90" b="1">
                <a:solidFill>
                  <a:srgbClr val="607189"/>
                </a:solidFill>
                <a:latin typeface="Verdana"/>
                <a:cs typeface="Verdana"/>
              </a:rPr>
              <a:t>Sivagami </a:t>
            </a:r>
            <a:r>
              <a:rPr dirty="0" sz="1100" spc="-105" b="1">
                <a:solidFill>
                  <a:srgbClr val="607189"/>
                </a:solidFill>
                <a:latin typeface="Verdana"/>
                <a:cs typeface="Verdana"/>
              </a:rPr>
              <a:t>Sainath</a:t>
            </a:r>
            <a:r>
              <a:rPr dirty="0" sz="1100" spc="-80" b="1">
                <a:solidFill>
                  <a:srgbClr val="607189"/>
                </a:solidFill>
                <a:latin typeface="Verdana"/>
                <a:cs typeface="Verdana"/>
              </a:rPr>
              <a:t> </a:t>
            </a:r>
            <a:r>
              <a:rPr dirty="0" sz="1100" spc="-10" b="1">
                <a:solidFill>
                  <a:srgbClr val="607189"/>
                </a:solidFill>
                <a:latin typeface="Verdana"/>
                <a:cs typeface="Verdana"/>
              </a:rPr>
              <a:t>Boreda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21799" y="3921124"/>
            <a:ext cx="2120900" cy="2540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0" spc="-50">
                <a:solidFill>
                  <a:srgbClr val="EDF1F7"/>
                </a:solidFill>
                <a:latin typeface="Arial MT"/>
                <a:cs typeface="Arial MT"/>
              </a:rPr>
              <a:t></a:t>
            </a:r>
            <a:endParaRPr sz="16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0911" y="0"/>
              <a:ext cx="5911088" cy="496011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96899" y="475299"/>
            <a:ext cx="193167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P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N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spc="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N</a:t>
            </a:r>
            <a:r>
              <a:rPr dirty="0" sz="800" spc="35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30" b="1">
                <a:solidFill>
                  <a:srgbClr val="C87D09"/>
                </a:solidFill>
                <a:latin typeface="Verdana"/>
                <a:cs typeface="Verdana"/>
              </a:rPr>
              <a:t>V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sz="800" spc="-9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30" b="1">
                <a:solidFill>
                  <a:srgbClr val="C87D09"/>
                </a:solidFill>
                <a:latin typeface="Verdana"/>
                <a:cs typeface="Verdana"/>
              </a:rPr>
              <a:t>V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spc="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W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6899" y="399906"/>
            <a:ext cx="2520950" cy="1003300"/>
          </a:xfrm>
          <a:prstGeom prst="rect"/>
        </p:spPr>
        <p:txBody>
          <a:bodyPr wrap="square" lIns="0" tIns="257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25"/>
              </a:spcBef>
            </a:pPr>
            <a:r>
              <a:rPr dirty="0" sz="3150" spc="-305"/>
              <a:t>Agenda</a:t>
            </a:r>
            <a:endParaRPr sz="3150"/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100" b="0">
                <a:solidFill>
                  <a:srgbClr val="6E7D93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1100" spc="-4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100" b="0">
                <a:solidFill>
                  <a:srgbClr val="6E7D93"/>
                </a:solidFill>
                <a:latin typeface="Microsoft Sans Serif"/>
                <a:cs typeface="Microsoft Sans Serif"/>
              </a:rPr>
              <a:t>of</a:t>
            </a:r>
            <a:r>
              <a:rPr dirty="0" sz="1100" spc="-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100" b="0">
                <a:solidFill>
                  <a:srgbClr val="6E7D93"/>
                </a:solidFill>
                <a:latin typeface="Microsoft Sans Serif"/>
                <a:cs typeface="Microsoft Sans Serif"/>
              </a:rPr>
              <a:t>today's</a:t>
            </a:r>
            <a:r>
              <a:rPr dirty="0" sz="110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5" b="0">
                <a:solidFill>
                  <a:srgbClr val="6E7D93"/>
                </a:solidFill>
                <a:latin typeface="Microsoft Sans Serif"/>
                <a:cs typeface="Microsoft Sans Serif"/>
              </a:rPr>
              <a:t>analysis</a:t>
            </a:r>
            <a:r>
              <a:rPr dirty="0" sz="1100" spc="-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100" b="0">
                <a:solidFill>
                  <a:srgbClr val="6E7D93"/>
                </a:solidFill>
                <a:latin typeface="Microsoft Sans Serif"/>
                <a:cs typeface="Microsoft Sans Serif"/>
              </a:rPr>
              <a:t>and</a:t>
            </a:r>
            <a:r>
              <a:rPr dirty="0" sz="1100" spc="-1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findings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9599" y="1876424"/>
            <a:ext cx="5410200" cy="885825"/>
            <a:chOff x="609599" y="1876424"/>
            <a:chExt cx="5410200" cy="885825"/>
          </a:xfrm>
        </p:grpSpPr>
        <p:sp>
          <p:nvSpPr>
            <p:cNvPr id="8" name="object 8"/>
            <p:cNvSpPr/>
            <p:nvPr/>
          </p:nvSpPr>
          <p:spPr>
            <a:xfrm>
              <a:off x="609599" y="1876424"/>
              <a:ext cx="5410200" cy="885825"/>
            </a:xfrm>
            <a:custGeom>
              <a:avLst/>
              <a:gdLst/>
              <a:ahLst/>
              <a:cxnLst/>
              <a:rect l="l" t="t" r="r" b="b"/>
              <a:pathLst>
                <a:path w="5410200" h="885825">
                  <a:moveTo>
                    <a:pt x="5295899" y="885824"/>
                  </a:moveTo>
                  <a:lnTo>
                    <a:pt x="114299" y="885824"/>
                  </a:lnTo>
                  <a:lnTo>
                    <a:pt x="103040" y="885280"/>
                  </a:lnTo>
                  <a:lnTo>
                    <a:pt x="60364" y="872312"/>
                  </a:lnTo>
                  <a:lnTo>
                    <a:pt x="25900" y="844000"/>
                  </a:lnTo>
                  <a:lnTo>
                    <a:pt x="4893" y="804654"/>
                  </a:lnTo>
                  <a:lnTo>
                    <a:pt x="0" y="7715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700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71524"/>
                  </a:lnTo>
                  <a:lnTo>
                    <a:pt x="5401498" y="815265"/>
                  </a:lnTo>
                  <a:lnTo>
                    <a:pt x="5376721" y="852346"/>
                  </a:lnTo>
                  <a:lnTo>
                    <a:pt x="5339639" y="877123"/>
                  </a:lnTo>
                  <a:lnTo>
                    <a:pt x="5295899" y="885824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599" y="1876424"/>
              <a:ext cx="5410200" cy="885825"/>
            </a:xfrm>
            <a:custGeom>
              <a:avLst/>
              <a:gdLst/>
              <a:ahLst/>
              <a:cxnLst/>
              <a:rect l="l" t="t" r="r" b="b"/>
              <a:pathLst>
                <a:path w="5410200" h="885825">
                  <a:moveTo>
                    <a:pt x="5295899" y="885824"/>
                  </a:moveTo>
                  <a:lnTo>
                    <a:pt x="114299" y="885824"/>
                  </a:lnTo>
                  <a:lnTo>
                    <a:pt x="103040" y="885281"/>
                  </a:lnTo>
                  <a:lnTo>
                    <a:pt x="60364" y="872312"/>
                  </a:lnTo>
                  <a:lnTo>
                    <a:pt x="25900" y="844000"/>
                  </a:lnTo>
                  <a:lnTo>
                    <a:pt x="4893" y="804654"/>
                  </a:lnTo>
                  <a:lnTo>
                    <a:pt x="0" y="7715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40" y="8700"/>
                  </a:lnTo>
                  <a:lnTo>
                    <a:pt x="53413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778404"/>
                  </a:lnTo>
                  <a:lnTo>
                    <a:pt x="20133" y="817976"/>
                  </a:lnTo>
                  <a:lnTo>
                    <a:pt x="45077" y="850476"/>
                  </a:lnTo>
                  <a:lnTo>
                    <a:pt x="80560" y="870957"/>
                  </a:lnTo>
                  <a:lnTo>
                    <a:pt x="107420" y="876299"/>
                  </a:lnTo>
                  <a:lnTo>
                    <a:pt x="5341385" y="876299"/>
                  </a:lnTo>
                  <a:lnTo>
                    <a:pt x="5339639" y="877123"/>
                  </a:lnTo>
                  <a:lnTo>
                    <a:pt x="5329029" y="880930"/>
                  </a:lnTo>
                  <a:lnTo>
                    <a:pt x="5318202" y="883649"/>
                  </a:lnTo>
                  <a:lnTo>
                    <a:pt x="5307159" y="885281"/>
                  </a:lnTo>
                  <a:lnTo>
                    <a:pt x="5295899" y="885824"/>
                  </a:lnTo>
                  <a:close/>
                </a:path>
                <a:path w="5410200" h="885825">
                  <a:moveTo>
                    <a:pt x="5341385" y="876299"/>
                  </a:moveTo>
                  <a:lnTo>
                    <a:pt x="5302779" y="876299"/>
                  </a:lnTo>
                  <a:lnTo>
                    <a:pt x="5309592" y="875628"/>
                  </a:lnTo>
                  <a:lnTo>
                    <a:pt x="5323087" y="872944"/>
                  </a:lnTo>
                  <a:lnTo>
                    <a:pt x="5359829" y="854819"/>
                  </a:lnTo>
                  <a:lnTo>
                    <a:pt x="5386838" y="824014"/>
                  </a:lnTo>
                  <a:lnTo>
                    <a:pt x="5400003" y="785218"/>
                  </a:lnTo>
                  <a:lnTo>
                    <a:pt x="5400674" y="778404"/>
                  </a:lnTo>
                  <a:lnTo>
                    <a:pt x="5400674" y="107420"/>
                  </a:lnTo>
                  <a:lnTo>
                    <a:pt x="5390065" y="67848"/>
                  </a:lnTo>
                  <a:lnTo>
                    <a:pt x="5365121" y="35348"/>
                  </a:lnTo>
                  <a:lnTo>
                    <a:pt x="5329638" y="14867"/>
                  </a:lnTo>
                  <a:lnTo>
                    <a:pt x="5302779" y="9524"/>
                  </a:lnTo>
                  <a:lnTo>
                    <a:pt x="5341387" y="9524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71524"/>
                  </a:lnTo>
                  <a:lnTo>
                    <a:pt x="5409655" y="782784"/>
                  </a:lnTo>
                  <a:lnTo>
                    <a:pt x="5396687" y="825459"/>
                  </a:lnTo>
                  <a:lnTo>
                    <a:pt x="5368375" y="859924"/>
                  </a:lnTo>
                  <a:lnTo>
                    <a:pt x="5349834" y="872312"/>
                  </a:lnTo>
                  <a:lnTo>
                    <a:pt x="5341385" y="876299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96925" y="1968858"/>
            <a:ext cx="333375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 spc="-440" b="1">
                <a:solidFill>
                  <a:srgbClr val="FBE7C6"/>
                </a:solidFill>
                <a:latin typeface="Verdana"/>
                <a:cs typeface="Verdana"/>
              </a:rPr>
              <a:t>0</a:t>
            </a:r>
            <a:r>
              <a:rPr dirty="0" sz="2300" spc="-440" b="1">
                <a:solidFill>
                  <a:srgbClr val="FBE7C6"/>
                </a:solidFill>
                <a:latin typeface="Verdana"/>
                <a:cs typeface="Verdana"/>
              </a:rPr>
              <a:t>1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2225" y="1984856"/>
            <a:ext cx="4201795" cy="5848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Problem</a:t>
            </a:r>
            <a:r>
              <a:rPr dirty="0" sz="11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85" b="1">
                <a:solidFill>
                  <a:srgbClr val="1B3258"/>
                </a:solidFill>
                <a:latin typeface="Verdana"/>
                <a:cs typeface="Verdana"/>
              </a:rPr>
              <a:t>&amp;</a:t>
            </a:r>
            <a:r>
              <a:rPr dirty="0" sz="1150" spc="-19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Conte</a:t>
            </a:r>
            <a:r>
              <a:rPr dirty="0" sz="1100" spc="-10" b="1">
                <a:solidFill>
                  <a:srgbClr val="1B3258"/>
                </a:solidFill>
                <a:latin typeface="Verdana"/>
                <a:cs typeface="Verdana"/>
              </a:rPr>
              <a:t>x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t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900" spc="-55">
                <a:solidFill>
                  <a:srgbClr val="8F9BAC"/>
                </a:solidFill>
                <a:latin typeface="Microsoft Sans Serif"/>
                <a:cs typeface="Microsoft Sans Serif"/>
              </a:rPr>
              <a:t>NHG's</a:t>
            </a:r>
            <a:r>
              <a:rPr dirty="0" sz="900" spc="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distribution</a:t>
            </a:r>
            <a:r>
              <a:rPr dirty="0" sz="900" spc="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challenge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220">
                <a:solidFill>
                  <a:srgbClr val="8F9BAC"/>
                </a:solidFill>
                <a:latin typeface="Microsoft Sans Serif"/>
                <a:cs typeface="Microsoft Sans Serif"/>
              </a:rPr>
              <a:t>—</a:t>
            </a:r>
            <a:r>
              <a:rPr dirty="0" sz="900" spc="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one depot,</a:t>
            </a:r>
            <a:r>
              <a:rPr dirty="0" sz="900" spc="2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85">
                <a:solidFill>
                  <a:srgbClr val="8F9BAC"/>
                </a:solidFill>
                <a:latin typeface="Microsoft Sans Serif"/>
                <a:cs typeface="Microsoft Sans Serif"/>
              </a:rPr>
              <a:t>123</a:t>
            </a:r>
            <a:r>
              <a:rPr dirty="0" sz="900" spc="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stores,</a:t>
            </a:r>
            <a:r>
              <a:rPr dirty="0" sz="900" spc="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six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Northeast</a:t>
            </a:r>
            <a:r>
              <a:rPr dirty="0" sz="900" spc="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states,</a:t>
            </a:r>
            <a:r>
              <a:rPr dirty="0" sz="900" spc="2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growing weekly</a:t>
            </a:r>
            <a:r>
              <a:rPr dirty="0" sz="900" spc="-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order</a:t>
            </a:r>
            <a:r>
              <a:rPr dirty="0" sz="900" spc="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volume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72199" y="1876424"/>
            <a:ext cx="5410200" cy="885825"/>
            <a:chOff x="6172199" y="1876424"/>
            <a:chExt cx="5410200" cy="885825"/>
          </a:xfrm>
        </p:grpSpPr>
        <p:sp>
          <p:nvSpPr>
            <p:cNvPr id="13" name="object 13"/>
            <p:cNvSpPr/>
            <p:nvPr/>
          </p:nvSpPr>
          <p:spPr>
            <a:xfrm>
              <a:off x="6172199" y="1876424"/>
              <a:ext cx="5410200" cy="885825"/>
            </a:xfrm>
            <a:custGeom>
              <a:avLst/>
              <a:gdLst/>
              <a:ahLst/>
              <a:cxnLst/>
              <a:rect l="l" t="t" r="r" b="b"/>
              <a:pathLst>
                <a:path w="5410200" h="885825">
                  <a:moveTo>
                    <a:pt x="5295899" y="885824"/>
                  </a:moveTo>
                  <a:lnTo>
                    <a:pt x="114299" y="885824"/>
                  </a:lnTo>
                  <a:lnTo>
                    <a:pt x="103040" y="885280"/>
                  </a:lnTo>
                  <a:lnTo>
                    <a:pt x="60364" y="872312"/>
                  </a:lnTo>
                  <a:lnTo>
                    <a:pt x="25899" y="844000"/>
                  </a:lnTo>
                  <a:lnTo>
                    <a:pt x="4893" y="804654"/>
                  </a:lnTo>
                  <a:lnTo>
                    <a:pt x="0" y="771524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700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71524"/>
                  </a:lnTo>
                  <a:lnTo>
                    <a:pt x="5401498" y="815265"/>
                  </a:lnTo>
                  <a:lnTo>
                    <a:pt x="5376721" y="852346"/>
                  </a:lnTo>
                  <a:lnTo>
                    <a:pt x="5339639" y="877123"/>
                  </a:lnTo>
                  <a:lnTo>
                    <a:pt x="5295899" y="885824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172199" y="1876424"/>
              <a:ext cx="5410200" cy="885825"/>
            </a:xfrm>
            <a:custGeom>
              <a:avLst/>
              <a:gdLst/>
              <a:ahLst/>
              <a:cxnLst/>
              <a:rect l="l" t="t" r="r" b="b"/>
              <a:pathLst>
                <a:path w="5410200" h="885825">
                  <a:moveTo>
                    <a:pt x="5295899" y="885824"/>
                  </a:moveTo>
                  <a:lnTo>
                    <a:pt x="114299" y="885824"/>
                  </a:lnTo>
                  <a:lnTo>
                    <a:pt x="103040" y="885281"/>
                  </a:lnTo>
                  <a:lnTo>
                    <a:pt x="60364" y="872312"/>
                  </a:lnTo>
                  <a:lnTo>
                    <a:pt x="25899" y="844000"/>
                  </a:lnTo>
                  <a:lnTo>
                    <a:pt x="4893" y="804654"/>
                  </a:lnTo>
                  <a:lnTo>
                    <a:pt x="0" y="771524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700"/>
                  </a:lnTo>
                  <a:lnTo>
                    <a:pt x="53413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778404"/>
                  </a:lnTo>
                  <a:lnTo>
                    <a:pt x="20133" y="817976"/>
                  </a:lnTo>
                  <a:lnTo>
                    <a:pt x="45077" y="850476"/>
                  </a:lnTo>
                  <a:lnTo>
                    <a:pt x="80560" y="870957"/>
                  </a:lnTo>
                  <a:lnTo>
                    <a:pt x="107420" y="876299"/>
                  </a:lnTo>
                  <a:lnTo>
                    <a:pt x="5341385" y="876299"/>
                  </a:lnTo>
                  <a:lnTo>
                    <a:pt x="5339639" y="877123"/>
                  </a:lnTo>
                  <a:lnTo>
                    <a:pt x="5329028" y="880930"/>
                  </a:lnTo>
                  <a:lnTo>
                    <a:pt x="5318201" y="883649"/>
                  </a:lnTo>
                  <a:lnTo>
                    <a:pt x="5307158" y="885281"/>
                  </a:lnTo>
                  <a:lnTo>
                    <a:pt x="5295899" y="885824"/>
                  </a:lnTo>
                  <a:close/>
                </a:path>
                <a:path w="5410200" h="885825">
                  <a:moveTo>
                    <a:pt x="5341385" y="876299"/>
                  </a:moveTo>
                  <a:lnTo>
                    <a:pt x="5302779" y="876299"/>
                  </a:lnTo>
                  <a:lnTo>
                    <a:pt x="5309592" y="875628"/>
                  </a:lnTo>
                  <a:lnTo>
                    <a:pt x="5323087" y="872944"/>
                  </a:lnTo>
                  <a:lnTo>
                    <a:pt x="5359829" y="854819"/>
                  </a:lnTo>
                  <a:lnTo>
                    <a:pt x="5386838" y="824014"/>
                  </a:lnTo>
                  <a:lnTo>
                    <a:pt x="5400003" y="785218"/>
                  </a:lnTo>
                  <a:lnTo>
                    <a:pt x="5400674" y="778404"/>
                  </a:lnTo>
                  <a:lnTo>
                    <a:pt x="5400674" y="107420"/>
                  </a:lnTo>
                  <a:lnTo>
                    <a:pt x="5390065" y="67848"/>
                  </a:lnTo>
                  <a:lnTo>
                    <a:pt x="5365121" y="35348"/>
                  </a:lnTo>
                  <a:lnTo>
                    <a:pt x="5329638" y="14867"/>
                  </a:lnTo>
                  <a:lnTo>
                    <a:pt x="5302779" y="9524"/>
                  </a:lnTo>
                  <a:lnTo>
                    <a:pt x="5341386" y="9524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71524"/>
                  </a:lnTo>
                  <a:lnTo>
                    <a:pt x="5409655" y="782784"/>
                  </a:lnTo>
                  <a:lnTo>
                    <a:pt x="5396687" y="825459"/>
                  </a:lnTo>
                  <a:lnTo>
                    <a:pt x="5368375" y="859924"/>
                  </a:lnTo>
                  <a:lnTo>
                    <a:pt x="5349834" y="872312"/>
                  </a:lnTo>
                  <a:lnTo>
                    <a:pt x="5341385" y="876299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359525" y="1976485"/>
            <a:ext cx="40195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100" b="1">
                <a:solidFill>
                  <a:srgbClr val="FBE7C6"/>
                </a:solidFill>
                <a:latin typeface="Verdana"/>
                <a:cs typeface="Verdana"/>
              </a:rPr>
              <a:t>02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86375" y="1984856"/>
            <a:ext cx="3901440" cy="5848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Operational</a:t>
            </a:r>
            <a:r>
              <a:rPr dirty="0" sz="1150" spc="-3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Constraints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900" spc="-70">
                <a:solidFill>
                  <a:srgbClr val="8F9BAC"/>
                </a:solidFill>
                <a:latin typeface="Microsoft Sans Serif"/>
                <a:cs typeface="Microsoft Sans Serif"/>
              </a:rPr>
              <a:t>DOT</a:t>
            </a:r>
            <a:r>
              <a:rPr dirty="0" sz="900" spc="-3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hours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of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 service,</a:t>
            </a:r>
            <a:r>
              <a:rPr dirty="0" sz="900" spc="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vehicle</a:t>
            </a:r>
            <a:r>
              <a:rPr dirty="0" sz="900" spc="-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capacity,</a:t>
            </a:r>
            <a:r>
              <a:rPr dirty="0" sz="900" spc="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delivery</a:t>
            </a:r>
            <a:r>
              <a:rPr dirty="0" sz="900" spc="-4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time</a:t>
            </a:r>
            <a:r>
              <a:rPr dirty="0" sz="900" spc="-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windows,</a:t>
            </a:r>
            <a:r>
              <a:rPr dirty="0" sz="900" spc="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and</a:t>
            </a:r>
            <a:r>
              <a:rPr dirty="0" sz="900" spc="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unloading parameters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9599" y="2914649"/>
            <a:ext cx="5410200" cy="895350"/>
            <a:chOff x="609599" y="2914649"/>
            <a:chExt cx="5410200" cy="895350"/>
          </a:xfrm>
        </p:grpSpPr>
        <p:sp>
          <p:nvSpPr>
            <p:cNvPr id="18" name="object 18"/>
            <p:cNvSpPr/>
            <p:nvPr/>
          </p:nvSpPr>
          <p:spPr>
            <a:xfrm>
              <a:off x="609599" y="2914649"/>
              <a:ext cx="5410200" cy="895350"/>
            </a:xfrm>
            <a:custGeom>
              <a:avLst/>
              <a:gdLst/>
              <a:ahLst/>
              <a:cxnLst/>
              <a:rect l="l" t="t" r="r" b="b"/>
              <a:pathLst>
                <a:path w="5410200" h="895350">
                  <a:moveTo>
                    <a:pt x="5295899" y="895349"/>
                  </a:moveTo>
                  <a:lnTo>
                    <a:pt x="114299" y="895349"/>
                  </a:lnTo>
                  <a:lnTo>
                    <a:pt x="103040" y="894806"/>
                  </a:lnTo>
                  <a:lnTo>
                    <a:pt x="60364" y="881837"/>
                  </a:lnTo>
                  <a:lnTo>
                    <a:pt x="25900" y="853525"/>
                  </a:lnTo>
                  <a:lnTo>
                    <a:pt x="4893" y="814179"/>
                  </a:lnTo>
                  <a:lnTo>
                    <a:pt x="0" y="7810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700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81049"/>
                  </a:lnTo>
                  <a:lnTo>
                    <a:pt x="5401498" y="824790"/>
                  </a:lnTo>
                  <a:lnTo>
                    <a:pt x="5376721" y="861872"/>
                  </a:lnTo>
                  <a:lnTo>
                    <a:pt x="5339639" y="886649"/>
                  </a:lnTo>
                  <a:lnTo>
                    <a:pt x="5295899" y="89534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09599" y="2914650"/>
              <a:ext cx="5410200" cy="895350"/>
            </a:xfrm>
            <a:custGeom>
              <a:avLst/>
              <a:gdLst/>
              <a:ahLst/>
              <a:cxnLst/>
              <a:rect l="l" t="t" r="r" b="b"/>
              <a:pathLst>
                <a:path w="5410200" h="895350">
                  <a:moveTo>
                    <a:pt x="5295899" y="895349"/>
                  </a:moveTo>
                  <a:lnTo>
                    <a:pt x="114299" y="895349"/>
                  </a:lnTo>
                  <a:lnTo>
                    <a:pt x="103040" y="894806"/>
                  </a:lnTo>
                  <a:lnTo>
                    <a:pt x="60364" y="881837"/>
                  </a:lnTo>
                  <a:lnTo>
                    <a:pt x="25900" y="853525"/>
                  </a:lnTo>
                  <a:lnTo>
                    <a:pt x="4893" y="814179"/>
                  </a:lnTo>
                  <a:lnTo>
                    <a:pt x="0" y="7810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40" y="8700"/>
                  </a:lnTo>
                  <a:lnTo>
                    <a:pt x="53413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787929"/>
                  </a:lnTo>
                  <a:lnTo>
                    <a:pt x="20133" y="827501"/>
                  </a:lnTo>
                  <a:lnTo>
                    <a:pt x="45077" y="860001"/>
                  </a:lnTo>
                  <a:lnTo>
                    <a:pt x="80560" y="880481"/>
                  </a:lnTo>
                  <a:lnTo>
                    <a:pt x="107420" y="885824"/>
                  </a:lnTo>
                  <a:lnTo>
                    <a:pt x="5341386" y="885824"/>
                  </a:lnTo>
                  <a:lnTo>
                    <a:pt x="5339639" y="886649"/>
                  </a:lnTo>
                  <a:lnTo>
                    <a:pt x="5329029" y="890455"/>
                  </a:lnTo>
                  <a:lnTo>
                    <a:pt x="5318202" y="893174"/>
                  </a:lnTo>
                  <a:lnTo>
                    <a:pt x="5307159" y="894806"/>
                  </a:lnTo>
                  <a:lnTo>
                    <a:pt x="5295899" y="895349"/>
                  </a:lnTo>
                  <a:close/>
                </a:path>
                <a:path w="5410200" h="895350">
                  <a:moveTo>
                    <a:pt x="5341386" y="885824"/>
                  </a:moveTo>
                  <a:lnTo>
                    <a:pt x="5302779" y="885824"/>
                  </a:lnTo>
                  <a:lnTo>
                    <a:pt x="5309592" y="885153"/>
                  </a:lnTo>
                  <a:lnTo>
                    <a:pt x="5323087" y="882469"/>
                  </a:lnTo>
                  <a:lnTo>
                    <a:pt x="5359829" y="864344"/>
                  </a:lnTo>
                  <a:lnTo>
                    <a:pt x="5386838" y="833539"/>
                  </a:lnTo>
                  <a:lnTo>
                    <a:pt x="5400003" y="794743"/>
                  </a:lnTo>
                  <a:lnTo>
                    <a:pt x="5400674" y="787929"/>
                  </a:lnTo>
                  <a:lnTo>
                    <a:pt x="5400674" y="107420"/>
                  </a:lnTo>
                  <a:lnTo>
                    <a:pt x="5390065" y="67848"/>
                  </a:lnTo>
                  <a:lnTo>
                    <a:pt x="5365121" y="35348"/>
                  </a:lnTo>
                  <a:lnTo>
                    <a:pt x="5329638" y="14867"/>
                  </a:lnTo>
                  <a:lnTo>
                    <a:pt x="5302779" y="9524"/>
                  </a:lnTo>
                  <a:lnTo>
                    <a:pt x="5341387" y="9524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81049"/>
                  </a:lnTo>
                  <a:lnTo>
                    <a:pt x="5409655" y="792309"/>
                  </a:lnTo>
                  <a:lnTo>
                    <a:pt x="5396687" y="834984"/>
                  </a:lnTo>
                  <a:lnTo>
                    <a:pt x="5368375" y="869449"/>
                  </a:lnTo>
                  <a:lnTo>
                    <a:pt x="5349834" y="881837"/>
                  </a:lnTo>
                  <a:lnTo>
                    <a:pt x="5341386" y="88582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96925" y="3007083"/>
            <a:ext cx="405130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 spc="-105" b="1">
                <a:solidFill>
                  <a:srgbClr val="FBE7C6"/>
                </a:solidFill>
                <a:latin typeface="Verdana"/>
                <a:cs typeface="Verdana"/>
              </a:rPr>
              <a:t>0</a:t>
            </a:r>
            <a:r>
              <a:rPr dirty="0" sz="2300" spc="-105" b="1">
                <a:solidFill>
                  <a:srgbClr val="FBE7C6"/>
                </a:solidFill>
                <a:latin typeface="Verdana"/>
                <a:cs typeface="Verdana"/>
              </a:rPr>
              <a:t>3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24669" y="3023081"/>
            <a:ext cx="4487545" cy="42290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50" spc="-105" b="1">
                <a:solidFill>
                  <a:srgbClr val="1B3258"/>
                </a:solidFill>
                <a:latin typeface="Verdana"/>
                <a:cs typeface="Verdana"/>
              </a:rPr>
              <a:t>Sol</a:t>
            </a:r>
            <a:r>
              <a:rPr dirty="0" sz="1100" spc="-105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05" b="1">
                <a:solidFill>
                  <a:srgbClr val="1B3258"/>
                </a:solidFill>
                <a:latin typeface="Verdana"/>
                <a:cs typeface="Verdana"/>
              </a:rPr>
              <a:t>tion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Methodolog</a:t>
            </a:r>
            <a:r>
              <a:rPr dirty="0" sz="1100" spc="-10" b="1">
                <a:solidFill>
                  <a:srgbClr val="1B3258"/>
                </a:solidFill>
                <a:latin typeface="Verdana"/>
                <a:cs typeface="Verdana"/>
              </a:rPr>
              <a:t>y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Clarke-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Wright</a:t>
            </a:r>
            <a:r>
              <a:rPr dirty="0" sz="900" spc="5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30">
                <a:solidFill>
                  <a:srgbClr val="8F9BAC"/>
                </a:solidFill>
                <a:latin typeface="Microsoft Sans Serif"/>
                <a:cs typeface="Microsoft Sans Serif"/>
              </a:rPr>
              <a:t>savings,</a:t>
            </a:r>
            <a:r>
              <a:rPr dirty="0" sz="900" spc="70">
                <a:solidFill>
                  <a:srgbClr val="8F9BAC"/>
                </a:solidFill>
                <a:latin typeface="Microsoft Sans Serif"/>
                <a:cs typeface="Microsoft Sans Serif"/>
              </a:rPr>
              <a:t> 2-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Opt</a:t>
            </a:r>
            <a:r>
              <a:rPr dirty="0" sz="900" spc="5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improvement,</a:t>
            </a:r>
            <a:r>
              <a:rPr dirty="0" sz="900" spc="7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route</a:t>
            </a:r>
            <a:r>
              <a:rPr dirty="0" sz="900" spc="4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consolidation,</a:t>
            </a:r>
            <a:r>
              <a:rPr dirty="0" sz="900" spc="7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and</a:t>
            </a:r>
            <a:r>
              <a:rPr dirty="0" sz="900" spc="7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inter-route</a:t>
            </a:r>
            <a:r>
              <a:rPr dirty="0" sz="900" spc="4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Or-</a:t>
            </a:r>
            <a:r>
              <a:rPr dirty="0" sz="900" spc="-25">
                <a:solidFill>
                  <a:srgbClr val="8F9BAC"/>
                </a:solidFill>
                <a:latin typeface="Microsoft Sans Serif"/>
                <a:cs typeface="Microsoft Sans Serif"/>
              </a:rPr>
              <a:t>Opt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72199" y="2914649"/>
            <a:ext cx="5410200" cy="895350"/>
            <a:chOff x="6172199" y="2914649"/>
            <a:chExt cx="5410200" cy="895350"/>
          </a:xfrm>
        </p:grpSpPr>
        <p:sp>
          <p:nvSpPr>
            <p:cNvPr id="23" name="object 23"/>
            <p:cNvSpPr/>
            <p:nvPr/>
          </p:nvSpPr>
          <p:spPr>
            <a:xfrm>
              <a:off x="6172199" y="2914649"/>
              <a:ext cx="5410200" cy="895350"/>
            </a:xfrm>
            <a:custGeom>
              <a:avLst/>
              <a:gdLst/>
              <a:ahLst/>
              <a:cxnLst/>
              <a:rect l="l" t="t" r="r" b="b"/>
              <a:pathLst>
                <a:path w="5410200" h="895350">
                  <a:moveTo>
                    <a:pt x="5295899" y="895349"/>
                  </a:moveTo>
                  <a:lnTo>
                    <a:pt x="114299" y="895349"/>
                  </a:lnTo>
                  <a:lnTo>
                    <a:pt x="103040" y="894806"/>
                  </a:lnTo>
                  <a:lnTo>
                    <a:pt x="60364" y="881837"/>
                  </a:lnTo>
                  <a:lnTo>
                    <a:pt x="25899" y="853525"/>
                  </a:lnTo>
                  <a:lnTo>
                    <a:pt x="4893" y="814179"/>
                  </a:lnTo>
                  <a:lnTo>
                    <a:pt x="0" y="78104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700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81049"/>
                  </a:lnTo>
                  <a:lnTo>
                    <a:pt x="5401498" y="824790"/>
                  </a:lnTo>
                  <a:lnTo>
                    <a:pt x="5376721" y="861872"/>
                  </a:lnTo>
                  <a:lnTo>
                    <a:pt x="5339639" y="886649"/>
                  </a:lnTo>
                  <a:lnTo>
                    <a:pt x="5295899" y="89534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172199" y="2914650"/>
              <a:ext cx="5410200" cy="895350"/>
            </a:xfrm>
            <a:custGeom>
              <a:avLst/>
              <a:gdLst/>
              <a:ahLst/>
              <a:cxnLst/>
              <a:rect l="l" t="t" r="r" b="b"/>
              <a:pathLst>
                <a:path w="5410200" h="895350">
                  <a:moveTo>
                    <a:pt x="5295899" y="895349"/>
                  </a:moveTo>
                  <a:lnTo>
                    <a:pt x="114299" y="895349"/>
                  </a:lnTo>
                  <a:lnTo>
                    <a:pt x="103040" y="894806"/>
                  </a:lnTo>
                  <a:lnTo>
                    <a:pt x="60364" y="881837"/>
                  </a:lnTo>
                  <a:lnTo>
                    <a:pt x="25899" y="853525"/>
                  </a:lnTo>
                  <a:lnTo>
                    <a:pt x="4893" y="814179"/>
                  </a:lnTo>
                  <a:lnTo>
                    <a:pt x="0" y="78104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700"/>
                  </a:lnTo>
                  <a:lnTo>
                    <a:pt x="53413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787929"/>
                  </a:lnTo>
                  <a:lnTo>
                    <a:pt x="20133" y="827501"/>
                  </a:lnTo>
                  <a:lnTo>
                    <a:pt x="45077" y="860001"/>
                  </a:lnTo>
                  <a:lnTo>
                    <a:pt x="80560" y="880481"/>
                  </a:lnTo>
                  <a:lnTo>
                    <a:pt x="107420" y="885824"/>
                  </a:lnTo>
                  <a:lnTo>
                    <a:pt x="5341386" y="885824"/>
                  </a:lnTo>
                  <a:lnTo>
                    <a:pt x="5339639" y="886649"/>
                  </a:lnTo>
                  <a:lnTo>
                    <a:pt x="5329028" y="890455"/>
                  </a:lnTo>
                  <a:lnTo>
                    <a:pt x="5318201" y="893174"/>
                  </a:lnTo>
                  <a:lnTo>
                    <a:pt x="5307158" y="894806"/>
                  </a:lnTo>
                  <a:lnTo>
                    <a:pt x="5295899" y="895349"/>
                  </a:lnTo>
                  <a:close/>
                </a:path>
                <a:path w="5410200" h="895350">
                  <a:moveTo>
                    <a:pt x="5341386" y="885824"/>
                  </a:moveTo>
                  <a:lnTo>
                    <a:pt x="5302779" y="885824"/>
                  </a:lnTo>
                  <a:lnTo>
                    <a:pt x="5309592" y="885153"/>
                  </a:lnTo>
                  <a:lnTo>
                    <a:pt x="5323087" y="882469"/>
                  </a:lnTo>
                  <a:lnTo>
                    <a:pt x="5359829" y="864344"/>
                  </a:lnTo>
                  <a:lnTo>
                    <a:pt x="5386838" y="833539"/>
                  </a:lnTo>
                  <a:lnTo>
                    <a:pt x="5400003" y="794743"/>
                  </a:lnTo>
                  <a:lnTo>
                    <a:pt x="5400674" y="787929"/>
                  </a:lnTo>
                  <a:lnTo>
                    <a:pt x="5400674" y="107420"/>
                  </a:lnTo>
                  <a:lnTo>
                    <a:pt x="5390065" y="67848"/>
                  </a:lnTo>
                  <a:lnTo>
                    <a:pt x="5365121" y="35348"/>
                  </a:lnTo>
                  <a:lnTo>
                    <a:pt x="5329638" y="14867"/>
                  </a:lnTo>
                  <a:lnTo>
                    <a:pt x="5302779" y="9524"/>
                  </a:lnTo>
                  <a:lnTo>
                    <a:pt x="5341386" y="9524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81049"/>
                  </a:lnTo>
                  <a:lnTo>
                    <a:pt x="5409655" y="792309"/>
                  </a:lnTo>
                  <a:lnTo>
                    <a:pt x="5396687" y="834984"/>
                  </a:lnTo>
                  <a:lnTo>
                    <a:pt x="5368375" y="869449"/>
                  </a:lnTo>
                  <a:lnTo>
                    <a:pt x="5349834" y="881837"/>
                  </a:lnTo>
                  <a:lnTo>
                    <a:pt x="5341386" y="88582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359525" y="3007083"/>
            <a:ext cx="424180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 spc="-25" b="1">
                <a:solidFill>
                  <a:srgbClr val="FBE7C6"/>
                </a:solidFill>
                <a:latin typeface="Verdana"/>
                <a:cs typeface="Verdana"/>
              </a:rPr>
              <a:t>0</a:t>
            </a:r>
            <a:r>
              <a:rPr dirty="0" sz="2300" spc="-25" b="1">
                <a:solidFill>
                  <a:srgbClr val="FBE7C6"/>
                </a:solidFill>
                <a:latin typeface="Verdana"/>
                <a:cs typeface="Verdana"/>
              </a:rPr>
              <a:t>4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64349" y="3023081"/>
            <a:ext cx="4525645" cy="5848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50" spc="-254" b="1">
                <a:solidFill>
                  <a:srgbClr val="1B3258"/>
                </a:solidFill>
                <a:latin typeface="Verdana"/>
                <a:cs typeface="Verdana"/>
              </a:rPr>
              <a:t>Q1</a:t>
            </a:r>
            <a:r>
              <a:rPr dirty="0" sz="1150" spc="-8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—</a:t>
            </a:r>
            <a:r>
              <a:rPr dirty="0" sz="1150" spc="-229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Base</a:t>
            </a:r>
            <a:r>
              <a:rPr dirty="0" sz="1150" spc="-17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95" b="1">
                <a:solidFill>
                  <a:srgbClr val="1B3258"/>
                </a:solidFill>
                <a:latin typeface="Verdana"/>
                <a:cs typeface="Verdana"/>
              </a:rPr>
              <a:t>Case</a:t>
            </a:r>
            <a:r>
              <a:rPr dirty="0" sz="1150" spc="-18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55" b="1">
                <a:solidFill>
                  <a:srgbClr val="1B3258"/>
                </a:solidFill>
                <a:latin typeface="Verdana"/>
                <a:cs typeface="Verdana"/>
              </a:rPr>
              <a:t>(Vans</a:t>
            </a:r>
            <a:r>
              <a:rPr dirty="0" sz="1150" spc="-17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Onl</a:t>
            </a:r>
            <a:r>
              <a:rPr dirty="0" sz="1100" spc="-10" b="1">
                <a:solidFill>
                  <a:srgbClr val="1B3258"/>
                </a:solidFill>
                <a:latin typeface="Verdana"/>
                <a:cs typeface="Verdana"/>
              </a:rPr>
              <a:t>y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)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Homogeneous</a:t>
            </a:r>
            <a:r>
              <a:rPr dirty="0" sz="900" spc="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van</a:t>
            </a:r>
            <a:r>
              <a:rPr dirty="0" sz="900" spc="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fleet</a:t>
            </a:r>
            <a:r>
              <a:rPr dirty="0" sz="900" spc="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on</a:t>
            </a:r>
            <a:r>
              <a:rPr dirty="0" sz="900" spc="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the</a:t>
            </a:r>
            <a:r>
              <a:rPr dirty="0" sz="900" spc="-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existing</a:t>
            </a:r>
            <a:r>
              <a:rPr dirty="0" sz="900" spc="-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fixed</a:t>
            </a:r>
            <a:r>
              <a:rPr dirty="0" sz="900" spc="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delivery</a:t>
            </a:r>
            <a:r>
              <a:rPr dirty="0" sz="900" spc="-3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schedule </a:t>
            </a:r>
            <a:r>
              <a:rPr dirty="0" sz="900" spc="220">
                <a:solidFill>
                  <a:srgbClr val="8F9BAC"/>
                </a:solidFill>
                <a:latin typeface="Microsoft Sans Serif"/>
                <a:cs typeface="Microsoft Sans Serif"/>
              </a:rPr>
              <a:t>—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 the </a:t>
            </a:r>
            <a:r>
              <a:rPr dirty="0" sz="900" spc="-45">
                <a:solidFill>
                  <a:srgbClr val="8F9BAC"/>
                </a:solidFill>
                <a:latin typeface="Microsoft Sans Serif"/>
                <a:cs typeface="Microsoft Sans Serif"/>
              </a:rPr>
              <a:t>MAD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 benchmarking baseline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9599" y="3962399"/>
            <a:ext cx="5410200" cy="885825"/>
            <a:chOff x="609599" y="3962399"/>
            <a:chExt cx="5410200" cy="885825"/>
          </a:xfrm>
        </p:grpSpPr>
        <p:sp>
          <p:nvSpPr>
            <p:cNvPr id="28" name="object 28"/>
            <p:cNvSpPr/>
            <p:nvPr/>
          </p:nvSpPr>
          <p:spPr>
            <a:xfrm>
              <a:off x="609599" y="3962399"/>
              <a:ext cx="5410200" cy="885825"/>
            </a:xfrm>
            <a:custGeom>
              <a:avLst/>
              <a:gdLst/>
              <a:ahLst/>
              <a:cxnLst/>
              <a:rect l="l" t="t" r="r" b="b"/>
              <a:pathLst>
                <a:path w="5410200" h="885825">
                  <a:moveTo>
                    <a:pt x="5295899" y="885824"/>
                  </a:moveTo>
                  <a:lnTo>
                    <a:pt x="114299" y="885824"/>
                  </a:lnTo>
                  <a:lnTo>
                    <a:pt x="103040" y="885280"/>
                  </a:lnTo>
                  <a:lnTo>
                    <a:pt x="60364" y="872312"/>
                  </a:lnTo>
                  <a:lnTo>
                    <a:pt x="25900" y="844000"/>
                  </a:lnTo>
                  <a:lnTo>
                    <a:pt x="4893" y="804654"/>
                  </a:lnTo>
                  <a:lnTo>
                    <a:pt x="0" y="7715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700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71524"/>
                  </a:lnTo>
                  <a:lnTo>
                    <a:pt x="5401498" y="815265"/>
                  </a:lnTo>
                  <a:lnTo>
                    <a:pt x="5376721" y="852346"/>
                  </a:lnTo>
                  <a:lnTo>
                    <a:pt x="5339638" y="877124"/>
                  </a:lnTo>
                  <a:lnTo>
                    <a:pt x="5295899" y="885824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09599" y="3962399"/>
              <a:ext cx="5410200" cy="885825"/>
            </a:xfrm>
            <a:custGeom>
              <a:avLst/>
              <a:gdLst/>
              <a:ahLst/>
              <a:cxnLst/>
              <a:rect l="l" t="t" r="r" b="b"/>
              <a:pathLst>
                <a:path w="5410200" h="885825">
                  <a:moveTo>
                    <a:pt x="5295899" y="885824"/>
                  </a:moveTo>
                  <a:lnTo>
                    <a:pt x="114299" y="885824"/>
                  </a:lnTo>
                  <a:lnTo>
                    <a:pt x="103040" y="885280"/>
                  </a:lnTo>
                  <a:lnTo>
                    <a:pt x="60364" y="872312"/>
                  </a:lnTo>
                  <a:lnTo>
                    <a:pt x="25900" y="844000"/>
                  </a:lnTo>
                  <a:lnTo>
                    <a:pt x="4893" y="804654"/>
                  </a:lnTo>
                  <a:lnTo>
                    <a:pt x="0" y="7715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07159" y="543"/>
                  </a:lnTo>
                  <a:lnTo>
                    <a:pt x="5318202" y="2174"/>
                  </a:lnTo>
                  <a:lnTo>
                    <a:pt x="5329029" y="4893"/>
                  </a:lnTo>
                  <a:lnTo>
                    <a:pt x="5339640" y="8700"/>
                  </a:lnTo>
                  <a:lnTo>
                    <a:pt x="5341387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778404"/>
                  </a:lnTo>
                  <a:lnTo>
                    <a:pt x="20133" y="817976"/>
                  </a:lnTo>
                  <a:lnTo>
                    <a:pt x="45077" y="850476"/>
                  </a:lnTo>
                  <a:lnTo>
                    <a:pt x="80560" y="870957"/>
                  </a:lnTo>
                  <a:lnTo>
                    <a:pt x="107420" y="876299"/>
                  </a:lnTo>
                  <a:lnTo>
                    <a:pt x="5341385" y="876299"/>
                  </a:lnTo>
                  <a:lnTo>
                    <a:pt x="5339638" y="877124"/>
                  </a:lnTo>
                  <a:lnTo>
                    <a:pt x="5329028" y="880930"/>
                  </a:lnTo>
                  <a:lnTo>
                    <a:pt x="5318201" y="883649"/>
                  </a:lnTo>
                  <a:lnTo>
                    <a:pt x="5307159" y="885280"/>
                  </a:lnTo>
                  <a:lnTo>
                    <a:pt x="5295899" y="885824"/>
                  </a:lnTo>
                  <a:close/>
                </a:path>
                <a:path w="5410200" h="885825">
                  <a:moveTo>
                    <a:pt x="5341385" y="876299"/>
                  </a:moveTo>
                  <a:lnTo>
                    <a:pt x="5302779" y="876299"/>
                  </a:lnTo>
                  <a:lnTo>
                    <a:pt x="5309592" y="875628"/>
                  </a:lnTo>
                  <a:lnTo>
                    <a:pt x="5323087" y="872944"/>
                  </a:lnTo>
                  <a:lnTo>
                    <a:pt x="5359829" y="854819"/>
                  </a:lnTo>
                  <a:lnTo>
                    <a:pt x="5386838" y="824014"/>
                  </a:lnTo>
                  <a:lnTo>
                    <a:pt x="5400003" y="785217"/>
                  </a:lnTo>
                  <a:lnTo>
                    <a:pt x="5400674" y="778404"/>
                  </a:lnTo>
                  <a:lnTo>
                    <a:pt x="5400674" y="107420"/>
                  </a:lnTo>
                  <a:lnTo>
                    <a:pt x="5390065" y="67848"/>
                  </a:lnTo>
                  <a:lnTo>
                    <a:pt x="5365121" y="35348"/>
                  </a:lnTo>
                  <a:lnTo>
                    <a:pt x="5329638" y="14867"/>
                  </a:lnTo>
                  <a:lnTo>
                    <a:pt x="5302779" y="9524"/>
                  </a:lnTo>
                  <a:lnTo>
                    <a:pt x="5341387" y="9524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71524"/>
                  </a:lnTo>
                  <a:lnTo>
                    <a:pt x="5409655" y="782784"/>
                  </a:lnTo>
                  <a:lnTo>
                    <a:pt x="5396687" y="825459"/>
                  </a:lnTo>
                  <a:lnTo>
                    <a:pt x="5368375" y="859923"/>
                  </a:lnTo>
                  <a:lnTo>
                    <a:pt x="5349833" y="872312"/>
                  </a:lnTo>
                  <a:lnTo>
                    <a:pt x="5341385" y="876299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796925" y="4054833"/>
            <a:ext cx="412115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 spc="-80" b="1">
                <a:solidFill>
                  <a:srgbClr val="FBE7C6"/>
                </a:solidFill>
                <a:latin typeface="Verdana"/>
                <a:cs typeface="Verdana"/>
              </a:rPr>
              <a:t>0</a:t>
            </a:r>
            <a:r>
              <a:rPr dirty="0" sz="2300" spc="-80" b="1">
                <a:solidFill>
                  <a:srgbClr val="FBE7C6"/>
                </a:solidFill>
                <a:latin typeface="Verdana"/>
                <a:cs typeface="Verdana"/>
              </a:rPr>
              <a:t>5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99219" y="4070831"/>
            <a:ext cx="4431665" cy="5848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50" spc="-105" b="1">
                <a:solidFill>
                  <a:srgbClr val="1B3258"/>
                </a:solidFill>
                <a:latin typeface="Verdana"/>
                <a:cs typeface="Verdana"/>
              </a:rPr>
              <a:t>Q</a:t>
            </a:r>
            <a:r>
              <a:rPr dirty="0" sz="1100" spc="-105" b="1">
                <a:solidFill>
                  <a:srgbClr val="1B3258"/>
                </a:solidFill>
                <a:latin typeface="Verdana"/>
                <a:cs typeface="Verdana"/>
              </a:rPr>
              <a:t>2</a:t>
            </a:r>
            <a:r>
              <a:rPr dirty="0" sz="1100" spc="-14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—</a:t>
            </a:r>
            <a:r>
              <a:rPr dirty="0" sz="1150" spc="-23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Mi</a:t>
            </a:r>
            <a:r>
              <a:rPr dirty="0" sz="1100" spc="-100" b="1">
                <a:solidFill>
                  <a:srgbClr val="1B3258"/>
                </a:solidFill>
                <a:latin typeface="Verdana"/>
                <a:cs typeface="Verdana"/>
              </a:rPr>
              <a:t>x</a:t>
            </a: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ed</a:t>
            </a:r>
            <a:r>
              <a:rPr dirty="0" sz="1150" spc="-14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20" b="1">
                <a:solidFill>
                  <a:srgbClr val="1B3258"/>
                </a:solidFill>
                <a:latin typeface="Verdana"/>
                <a:cs typeface="Verdana"/>
              </a:rPr>
              <a:t>Fleet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Introducing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Straight</a:t>
            </a:r>
            <a:r>
              <a:rPr dirty="0" sz="900" spc="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5">
                <a:solidFill>
                  <a:srgbClr val="8F9BAC"/>
                </a:solidFill>
                <a:latin typeface="Microsoft Sans Serif"/>
                <a:cs typeface="Microsoft Sans Serif"/>
              </a:rPr>
              <a:t>Trucks</a:t>
            </a:r>
            <a:r>
              <a:rPr dirty="0" sz="900" spc="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for</a:t>
            </a:r>
            <a:r>
              <a:rPr dirty="0" sz="900" spc="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65">
                <a:solidFill>
                  <a:srgbClr val="8F9BAC"/>
                </a:solidFill>
                <a:latin typeface="Microsoft Sans Serif"/>
                <a:cs typeface="Microsoft Sans Serif"/>
              </a:rPr>
              <a:t>60</a:t>
            </a:r>
            <a:r>
              <a:rPr dirty="0" sz="900" spc="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mandatory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orders</a:t>
            </a:r>
            <a:r>
              <a:rPr dirty="0" sz="900" spc="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220">
                <a:solidFill>
                  <a:srgbClr val="8F9BAC"/>
                </a:solidFill>
                <a:latin typeface="Microsoft Sans Serif"/>
                <a:cs typeface="Microsoft Sans Serif"/>
              </a:rPr>
              <a:t>—</a:t>
            </a:r>
            <a:r>
              <a:rPr dirty="0" sz="900" spc="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impact</a:t>
            </a:r>
            <a:r>
              <a:rPr dirty="0" sz="900" spc="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on</a:t>
            </a:r>
            <a:r>
              <a:rPr dirty="0" sz="900" spc="2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route</a:t>
            </a:r>
            <a:r>
              <a:rPr dirty="0" sz="900" spc="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count,</a:t>
            </a:r>
            <a:r>
              <a:rPr dirty="0" sz="900" spc="3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mileage,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and</a:t>
            </a:r>
            <a:r>
              <a:rPr dirty="0" sz="900" spc="-3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cost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72199" y="3962399"/>
            <a:ext cx="5410200" cy="885825"/>
            <a:chOff x="6172199" y="3962399"/>
            <a:chExt cx="5410200" cy="885825"/>
          </a:xfrm>
        </p:grpSpPr>
        <p:sp>
          <p:nvSpPr>
            <p:cNvPr id="33" name="object 33"/>
            <p:cNvSpPr/>
            <p:nvPr/>
          </p:nvSpPr>
          <p:spPr>
            <a:xfrm>
              <a:off x="6172199" y="3962399"/>
              <a:ext cx="5410200" cy="885825"/>
            </a:xfrm>
            <a:custGeom>
              <a:avLst/>
              <a:gdLst/>
              <a:ahLst/>
              <a:cxnLst/>
              <a:rect l="l" t="t" r="r" b="b"/>
              <a:pathLst>
                <a:path w="5410200" h="885825">
                  <a:moveTo>
                    <a:pt x="5295899" y="885824"/>
                  </a:moveTo>
                  <a:lnTo>
                    <a:pt x="114299" y="885824"/>
                  </a:lnTo>
                  <a:lnTo>
                    <a:pt x="103040" y="885280"/>
                  </a:lnTo>
                  <a:lnTo>
                    <a:pt x="60364" y="872312"/>
                  </a:lnTo>
                  <a:lnTo>
                    <a:pt x="25899" y="844000"/>
                  </a:lnTo>
                  <a:lnTo>
                    <a:pt x="4893" y="804654"/>
                  </a:lnTo>
                  <a:lnTo>
                    <a:pt x="0" y="771524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700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71524"/>
                  </a:lnTo>
                  <a:lnTo>
                    <a:pt x="5401498" y="815265"/>
                  </a:lnTo>
                  <a:lnTo>
                    <a:pt x="5376721" y="852346"/>
                  </a:lnTo>
                  <a:lnTo>
                    <a:pt x="5339638" y="877124"/>
                  </a:lnTo>
                  <a:lnTo>
                    <a:pt x="5295899" y="885824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172199" y="3962399"/>
              <a:ext cx="5410200" cy="885825"/>
            </a:xfrm>
            <a:custGeom>
              <a:avLst/>
              <a:gdLst/>
              <a:ahLst/>
              <a:cxnLst/>
              <a:rect l="l" t="t" r="r" b="b"/>
              <a:pathLst>
                <a:path w="5410200" h="885825">
                  <a:moveTo>
                    <a:pt x="5295899" y="885824"/>
                  </a:moveTo>
                  <a:lnTo>
                    <a:pt x="114299" y="885824"/>
                  </a:lnTo>
                  <a:lnTo>
                    <a:pt x="103040" y="885280"/>
                  </a:lnTo>
                  <a:lnTo>
                    <a:pt x="60364" y="872312"/>
                  </a:lnTo>
                  <a:lnTo>
                    <a:pt x="25899" y="844000"/>
                  </a:lnTo>
                  <a:lnTo>
                    <a:pt x="4893" y="804654"/>
                  </a:lnTo>
                  <a:lnTo>
                    <a:pt x="0" y="771524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07158" y="543"/>
                  </a:lnTo>
                  <a:lnTo>
                    <a:pt x="5318201" y="2174"/>
                  </a:lnTo>
                  <a:lnTo>
                    <a:pt x="5329028" y="4893"/>
                  </a:lnTo>
                  <a:lnTo>
                    <a:pt x="5339639" y="8700"/>
                  </a:lnTo>
                  <a:lnTo>
                    <a:pt x="5341387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778404"/>
                  </a:lnTo>
                  <a:lnTo>
                    <a:pt x="20133" y="817976"/>
                  </a:lnTo>
                  <a:lnTo>
                    <a:pt x="45077" y="850476"/>
                  </a:lnTo>
                  <a:lnTo>
                    <a:pt x="80560" y="870957"/>
                  </a:lnTo>
                  <a:lnTo>
                    <a:pt x="107420" y="876299"/>
                  </a:lnTo>
                  <a:lnTo>
                    <a:pt x="5341385" y="876299"/>
                  </a:lnTo>
                  <a:lnTo>
                    <a:pt x="5339638" y="877124"/>
                  </a:lnTo>
                  <a:lnTo>
                    <a:pt x="5329028" y="880930"/>
                  </a:lnTo>
                  <a:lnTo>
                    <a:pt x="5318201" y="883649"/>
                  </a:lnTo>
                  <a:lnTo>
                    <a:pt x="5307158" y="885280"/>
                  </a:lnTo>
                  <a:lnTo>
                    <a:pt x="5295899" y="885824"/>
                  </a:lnTo>
                  <a:close/>
                </a:path>
                <a:path w="5410200" h="885825">
                  <a:moveTo>
                    <a:pt x="5341385" y="876299"/>
                  </a:moveTo>
                  <a:lnTo>
                    <a:pt x="5302779" y="876299"/>
                  </a:lnTo>
                  <a:lnTo>
                    <a:pt x="5309592" y="875628"/>
                  </a:lnTo>
                  <a:lnTo>
                    <a:pt x="5323087" y="872944"/>
                  </a:lnTo>
                  <a:lnTo>
                    <a:pt x="5359829" y="854819"/>
                  </a:lnTo>
                  <a:lnTo>
                    <a:pt x="5386838" y="824014"/>
                  </a:lnTo>
                  <a:lnTo>
                    <a:pt x="5400003" y="785217"/>
                  </a:lnTo>
                  <a:lnTo>
                    <a:pt x="5400674" y="778404"/>
                  </a:lnTo>
                  <a:lnTo>
                    <a:pt x="5400674" y="107420"/>
                  </a:lnTo>
                  <a:lnTo>
                    <a:pt x="5390065" y="67848"/>
                  </a:lnTo>
                  <a:lnTo>
                    <a:pt x="5365121" y="35348"/>
                  </a:lnTo>
                  <a:lnTo>
                    <a:pt x="5329638" y="14867"/>
                  </a:lnTo>
                  <a:lnTo>
                    <a:pt x="5302779" y="9524"/>
                  </a:lnTo>
                  <a:lnTo>
                    <a:pt x="5341387" y="9524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771524"/>
                  </a:lnTo>
                  <a:lnTo>
                    <a:pt x="5409655" y="782784"/>
                  </a:lnTo>
                  <a:lnTo>
                    <a:pt x="5396687" y="825459"/>
                  </a:lnTo>
                  <a:lnTo>
                    <a:pt x="5368375" y="859923"/>
                  </a:lnTo>
                  <a:lnTo>
                    <a:pt x="5349833" y="872312"/>
                  </a:lnTo>
                  <a:lnTo>
                    <a:pt x="5341385" y="876299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359525" y="4054833"/>
            <a:ext cx="424180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 spc="-25" b="1">
                <a:solidFill>
                  <a:srgbClr val="FBE7C6"/>
                </a:solidFill>
                <a:latin typeface="Verdana"/>
                <a:cs typeface="Verdana"/>
              </a:rPr>
              <a:t>0</a:t>
            </a:r>
            <a:r>
              <a:rPr dirty="0" sz="2300" spc="-25" b="1">
                <a:solidFill>
                  <a:srgbClr val="FBE7C6"/>
                </a:solidFill>
                <a:latin typeface="Verdana"/>
                <a:cs typeface="Verdana"/>
              </a:rPr>
              <a:t>6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89650" y="4070831"/>
            <a:ext cx="4398645" cy="5848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Q3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—</a:t>
            </a:r>
            <a:r>
              <a:rPr dirty="0" sz="1150" spc="-229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Rela</a:t>
            </a:r>
            <a:r>
              <a:rPr dirty="0" sz="1100" spc="-125" b="1">
                <a:solidFill>
                  <a:srgbClr val="1B3258"/>
                </a:solidFill>
                <a:latin typeface="Verdana"/>
                <a:cs typeface="Verdana"/>
              </a:rPr>
              <a:t>x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ed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Sched</a:t>
            </a:r>
            <a:r>
              <a:rPr dirty="0" sz="1100" spc="-10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le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Geographic</a:t>
            </a:r>
            <a:r>
              <a:rPr dirty="0" sz="900" spc="2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clustering</a:t>
            </a:r>
            <a:r>
              <a:rPr dirty="0" sz="900" spc="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across</a:t>
            </a:r>
            <a:r>
              <a:rPr dirty="0" sz="900" spc="3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weekdays</a:t>
            </a:r>
            <a:r>
              <a:rPr dirty="0" sz="900" spc="3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220">
                <a:solidFill>
                  <a:srgbClr val="8F9BAC"/>
                </a:solidFill>
                <a:latin typeface="Microsoft Sans Serif"/>
                <a:cs typeface="Microsoft Sans Serif"/>
              </a:rPr>
              <a:t>—</a:t>
            </a:r>
            <a:r>
              <a:rPr dirty="0" sz="900" spc="2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the</a:t>
            </a:r>
            <a:r>
              <a:rPr dirty="0" sz="900" spc="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largest</a:t>
            </a:r>
            <a:r>
              <a:rPr dirty="0" sz="900" spc="3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cost-reduction</a:t>
            </a:r>
            <a:r>
              <a:rPr dirty="0" sz="900" spc="4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lever</a:t>
            </a:r>
            <a:r>
              <a:rPr dirty="0" sz="900" spc="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5">
                <a:solidFill>
                  <a:srgbClr val="8F9BAC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900" spc="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5">
                <a:solidFill>
                  <a:srgbClr val="8F9BAC"/>
                </a:solidFill>
                <a:latin typeface="Microsoft Sans Serif"/>
                <a:cs typeface="Microsoft Sans Serif"/>
              </a:rPr>
              <a:t>to NHG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09599" y="5000624"/>
            <a:ext cx="5410200" cy="895350"/>
            <a:chOff x="609599" y="5000624"/>
            <a:chExt cx="5410200" cy="895350"/>
          </a:xfrm>
        </p:grpSpPr>
        <p:sp>
          <p:nvSpPr>
            <p:cNvPr id="38" name="object 38"/>
            <p:cNvSpPr/>
            <p:nvPr/>
          </p:nvSpPr>
          <p:spPr>
            <a:xfrm>
              <a:off x="609599" y="5000624"/>
              <a:ext cx="5410200" cy="895350"/>
            </a:xfrm>
            <a:custGeom>
              <a:avLst/>
              <a:gdLst/>
              <a:ahLst/>
              <a:cxnLst/>
              <a:rect l="l" t="t" r="r" b="b"/>
              <a:pathLst>
                <a:path w="5410200" h="895350">
                  <a:moveTo>
                    <a:pt x="5295899" y="895349"/>
                  </a:moveTo>
                  <a:lnTo>
                    <a:pt x="114299" y="895349"/>
                  </a:lnTo>
                  <a:lnTo>
                    <a:pt x="103040" y="894805"/>
                  </a:lnTo>
                  <a:lnTo>
                    <a:pt x="60364" y="881837"/>
                  </a:lnTo>
                  <a:lnTo>
                    <a:pt x="25900" y="853525"/>
                  </a:lnTo>
                  <a:lnTo>
                    <a:pt x="4893" y="814179"/>
                  </a:lnTo>
                  <a:lnTo>
                    <a:pt x="0" y="7810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699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699"/>
                  </a:lnTo>
                  <a:lnTo>
                    <a:pt x="5376721" y="33477"/>
                  </a:lnTo>
                  <a:lnTo>
                    <a:pt x="5401498" y="70558"/>
                  </a:lnTo>
                  <a:lnTo>
                    <a:pt x="5410199" y="114299"/>
                  </a:lnTo>
                  <a:lnTo>
                    <a:pt x="5410199" y="781049"/>
                  </a:lnTo>
                  <a:lnTo>
                    <a:pt x="5401498" y="824790"/>
                  </a:lnTo>
                  <a:lnTo>
                    <a:pt x="5376721" y="861871"/>
                  </a:lnTo>
                  <a:lnTo>
                    <a:pt x="5339639" y="886648"/>
                  </a:lnTo>
                  <a:lnTo>
                    <a:pt x="5295899" y="89534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09599" y="5000624"/>
              <a:ext cx="5410200" cy="895350"/>
            </a:xfrm>
            <a:custGeom>
              <a:avLst/>
              <a:gdLst/>
              <a:ahLst/>
              <a:cxnLst/>
              <a:rect l="l" t="t" r="r" b="b"/>
              <a:pathLst>
                <a:path w="5410200" h="895350">
                  <a:moveTo>
                    <a:pt x="5295899" y="895349"/>
                  </a:moveTo>
                  <a:lnTo>
                    <a:pt x="114299" y="895349"/>
                  </a:lnTo>
                  <a:lnTo>
                    <a:pt x="103040" y="894805"/>
                  </a:lnTo>
                  <a:lnTo>
                    <a:pt x="60364" y="881837"/>
                  </a:lnTo>
                  <a:lnTo>
                    <a:pt x="25900" y="853525"/>
                  </a:lnTo>
                  <a:lnTo>
                    <a:pt x="4893" y="814179"/>
                  </a:lnTo>
                  <a:lnTo>
                    <a:pt x="0" y="7810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699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40" y="8699"/>
                  </a:lnTo>
                  <a:lnTo>
                    <a:pt x="5341388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787929"/>
                  </a:lnTo>
                  <a:lnTo>
                    <a:pt x="20133" y="827501"/>
                  </a:lnTo>
                  <a:lnTo>
                    <a:pt x="45077" y="860001"/>
                  </a:lnTo>
                  <a:lnTo>
                    <a:pt x="80560" y="880481"/>
                  </a:lnTo>
                  <a:lnTo>
                    <a:pt x="107420" y="885824"/>
                  </a:lnTo>
                  <a:lnTo>
                    <a:pt x="5341385" y="885824"/>
                  </a:lnTo>
                  <a:lnTo>
                    <a:pt x="5339639" y="886648"/>
                  </a:lnTo>
                  <a:lnTo>
                    <a:pt x="5329029" y="890455"/>
                  </a:lnTo>
                  <a:lnTo>
                    <a:pt x="5318202" y="893174"/>
                  </a:lnTo>
                  <a:lnTo>
                    <a:pt x="5307159" y="894805"/>
                  </a:lnTo>
                  <a:lnTo>
                    <a:pt x="5295899" y="895349"/>
                  </a:lnTo>
                  <a:close/>
                </a:path>
                <a:path w="5410200" h="895350">
                  <a:moveTo>
                    <a:pt x="5341385" y="885824"/>
                  </a:moveTo>
                  <a:lnTo>
                    <a:pt x="5302779" y="885824"/>
                  </a:lnTo>
                  <a:lnTo>
                    <a:pt x="5309592" y="885153"/>
                  </a:lnTo>
                  <a:lnTo>
                    <a:pt x="5323087" y="882469"/>
                  </a:lnTo>
                  <a:lnTo>
                    <a:pt x="5359829" y="864344"/>
                  </a:lnTo>
                  <a:lnTo>
                    <a:pt x="5386838" y="833539"/>
                  </a:lnTo>
                  <a:lnTo>
                    <a:pt x="5400003" y="794742"/>
                  </a:lnTo>
                  <a:lnTo>
                    <a:pt x="5400674" y="787929"/>
                  </a:lnTo>
                  <a:lnTo>
                    <a:pt x="5400674" y="107420"/>
                  </a:lnTo>
                  <a:lnTo>
                    <a:pt x="5390065" y="67848"/>
                  </a:lnTo>
                  <a:lnTo>
                    <a:pt x="5365121" y="35348"/>
                  </a:lnTo>
                  <a:lnTo>
                    <a:pt x="5329638" y="14867"/>
                  </a:lnTo>
                  <a:lnTo>
                    <a:pt x="5302779" y="9524"/>
                  </a:lnTo>
                  <a:lnTo>
                    <a:pt x="5341388" y="9524"/>
                  </a:lnTo>
                  <a:lnTo>
                    <a:pt x="5376721" y="33477"/>
                  </a:lnTo>
                  <a:lnTo>
                    <a:pt x="5401498" y="70558"/>
                  </a:lnTo>
                  <a:lnTo>
                    <a:pt x="5410199" y="114299"/>
                  </a:lnTo>
                  <a:lnTo>
                    <a:pt x="5410199" y="781049"/>
                  </a:lnTo>
                  <a:lnTo>
                    <a:pt x="5409655" y="792309"/>
                  </a:lnTo>
                  <a:lnTo>
                    <a:pt x="5396687" y="834984"/>
                  </a:lnTo>
                  <a:lnTo>
                    <a:pt x="5368375" y="869449"/>
                  </a:lnTo>
                  <a:lnTo>
                    <a:pt x="5349834" y="881837"/>
                  </a:lnTo>
                  <a:lnTo>
                    <a:pt x="5341385" y="88582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796925" y="5093058"/>
            <a:ext cx="406400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 spc="-100" b="1">
                <a:solidFill>
                  <a:srgbClr val="FBE7C6"/>
                </a:solidFill>
                <a:latin typeface="Verdana"/>
                <a:cs typeface="Verdana"/>
              </a:rPr>
              <a:t>0</a:t>
            </a:r>
            <a:r>
              <a:rPr dirty="0" sz="2300" spc="-100" b="1">
                <a:solidFill>
                  <a:srgbClr val="FBE7C6"/>
                </a:solidFill>
                <a:latin typeface="Verdana"/>
                <a:cs typeface="Verdana"/>
              </a:rPr>
              <a:t>7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19311" y="5109056"/>
            <a:ext cx="4403725" cy="42290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Scenario</a:t>
            </a:r>
            <a:r>
              <a:rPr dirty="0" sz="11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Comparison</a:t>
            </a: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85" b="1">
                <a:solidFill>
                  <a:srgbClr val="1B3258"/>
                </a:solidFill>
                <a:latin typeface="Verdana"/>
                <a:cs typeface="Verdana"/>
              </a:rPr>
              <a:t>&amp;</a:t>
            </a:r>
            <a:r>
              <a:rPr dirty="0" sz="1150" spc="-19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Dashboard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Side-</a:t>
            </a:r>
            <a:r>
              <a:rPr dirty="0" sz="900" spc="55">
                <a:solidFill>
                  <a:srgbClr val="8F9BAC"/>
                </a:solidFill>
                <a:latin typeface="Microsoft Sans Serif"/>
                <a:cs typeface="Microsoft Sans Serif"/>
              </a:rPr>
              <a:t>by-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side</a:t>
            </a:r>
            <a:r>
              <a:rPr dirty="0" sz="900" spc="-3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metrics,</a:t>
            </a:r>
            <a:r>
              <a:rPr dirty="0" sz="900" spc="-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daily</a:t>
            </a:r>
            <a:r>
              <a:rPr dirty="0" sz="900" spc="-5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breakdowns,</a:t>
            </a:r>
            <a:r>
              <a:rPr dirty="0" sz="900" spc="-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and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 visual</a:t>
            </a:r>
            <a:r>
              <a:rPr dirty="0" sz="900" spc="3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across</a:t>
            </a:r>
            <a:r>
              <a:rPr dirty="0" sz="900" spc="-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all</a:t>
            </a:r>
            <a:r>
              <a:rPr dirty="0" sz="900" spc="2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three</a:t>
            </a:r>
            <a:r>
              <a:rPr dirty="0" sz="900" spc="-2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scenarios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172199" y="5000624"/>
            <a:ext cx="5410200" cy="895350"/>
            <a:chOff x="6172199" y="5000624"/>
            <a:chExt cx="5410200" cy="895350"/>
          </a:xfrm>
        </p:grpSpPr>
        <p:sp>
          <p:nvSpPr>
            <p:cNvPr id="43" name="object 43"/>
            <p:cNvSpPr/>
            <p:nvPr/>
          </p:nvSpPr>
          <p:spPr>
            <a:xfrm>
              <a:off x="6172199" y="5000624"/>
              <a:ext cx="5410200" cy="895350"/>
            </a:xfrm>
            <a:custGeom>
              <a:avLst/>
              <a:gdLst/>
              <a:ahLst/>
              <a:cxnLst/>
              <a:rect l="l" t="t" r="r" b="b"/>
              <a:pathLst>
                <a:path w="5410200" h="895350">
                  <a:moveTo>
                    <a:pt x="5295899" y="895349"/>
                  </a:moveTo>
                  <a:lnTo>
                    <a:pt x="114299" y="895349"/>
                  </a:lnTo>
                  <a:lnTo>
                    <a:pt x="103040" y="894805"/>
                  </a:lnTo>
                  <a:lnTo>
                    <a:pt x="60364" y="881837"/>
                  </a:lnTo>
                  <a:lnTo>
                    <a:pt x="25899" y="853525"/>
                  </a:lnTo>
                  <a:lnTo>
                    <a:pt x="4893" y="814179"/>
                  </a:lnTo>
                  <a:lnTo>
                    <a:pt x="0" y="781049"/>
                  </a:lnTo>
                  <a:lnTo>
                    <a:pt x="0" y="114299"/>
                  </a:lnTo>
                  <a:lnTo>
                    <a:pt x="8699" y="70558"/>
                  </a:lnTo>
                  <a:lnTo>
                    <a:pt x="33477" y="33477"/>
                  </a:lnTo>
                  <a:lnTo>
                    <a:pt x="70557" y="8699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699"/>
                  </a:lnTo>
                  <a:lnTo>
                    <a:pt x="5376721" y="33477"/>
                  </a:lnTo>
                  <a:lnTo>
                    <a:pt x="5401498" y="70558"/>
                  </a:lnTo>
                  <a:lnTo>
                    <a:pt x="5410199" y="114299"/>
                  </a:lnTo>
                  <a:lnTo>
                    <a:pt x="5410199" y="781049"/>
                  </a:lnTo>
                  <a:lnTo>
                    <a:pt x="5401498" y="824790"/>
                  </a:lnTo>
                  <a:lnTo>
                    <a:pt x="5376721" y="861871"/>
                  </a:lnTo>
                  <a:lnTo>
                    <a:pt x="5339639" y="886648"/>
                  </a:lnTo>
                  <a:lnTo>
                    <a:pt x="5295899" y="89534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172199" y="5000624"/>
              <a:ext cx="5410200" cy="895350"/>
            </a:xfrm>
            <a:custGeom>
              <a:avLst/>
              <a:gdLst/>
              <a:ahLst/>
              <a:cxnLst/>
              <a:rect l="l" t="t" r="r" b="b"/>
              <a:pathLst>
                <a:path w="5410200" h="895350">
                  <a:moveTo>
                    <a:pt x="5295899" y="895349"/>
                  </a:moveTo>
                  <a:lnTo>
                    <a:pt x="114299" y="895349"/>
                  </a:lnTo>
                  <a:lnTo>
                    <a:pt x="103040" y="894805"/>
                  </a:lnTo>
                  <a:lnTo>
                    <a:pt x="60364" y="881837"/>
                  </a:lnTo>
                  <a:lnTo>
                    <a:pt x="25899" y="853525"/>
                  </a:lnTo>
                  <a:lnTo>
                    <a:pt x="4893" y="814179"/>
                  </a:lnTo>
                  <a:lnTo>
                    <a:pt x="0" y="781049"/>
                  </a:lnTo>
                  <a:lnTo>
                    <a:pt x="0" y="114299"/>
                  </a:lnTo>
                  <a:lnTo>
                    <a:pt x="8699" y="70558"/>
                  </a:lnTo>
                  <a:lnTo>
                    <a:pt x="33477" y="33477"/>
                  </a:lnTo>
                  <a:lnTo>
                    <a:pt x="70557" y="8699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699"/>
                  </a:lnTo>
                  <a:lnTo>
                    <a:pt x="5341387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787929"/>
                  </a:lnTo>
                  <a:lnTo>
                    <a:pt x="20133" y="827501"/>
                  </a:lnTo>
                  <a:lnTo>
                    <a:pt x="45077" y="860001"/>
                  </a:lnTo>
                  <a:lnTo>
                    <a:pt x="80560" y="880481"/>
                  </a:lnTo>
                  <a:lnTo>
                    <a:pt x="107420" y="885824"/>
                  </a:lnTo>
                  <a:lnTo>
                    <a:pt x="5341385" y="885824"/>
                  </a:lnTo>
                  <a:lnTo>
                    <a:pt x="5339639" y="886648"/>
                  </a:lnTo>
                  <a:lnTo>
                    <a:pt x="5329028" y="890455"/>
                  </a:lnTo>
                  <a:lnTo>
                    <a:pt x="5318201" y="893174"/>
                  </a:lnTo>
                  <a:lnTo>
                    <a:pt x="5307158" y="894805"/>
                  </a:lnTo>
                  <a:lnTo>
                    <a:pt x="5295899" y="895349"/>
                  </a:lnTo>
                  <a:close/>
                </a:path>
                <a:path w="5410200" h="895350">
                  <a:moveTo>
                    <a:pt x="5341385" y="885824"/>
                  </a:moveTo>
                  <a:lnTo>
                    <a:pt x="5302779" y="885824"/>
                  </a:lnTo>
                  <a:lnTo>
                    <a:pt x="5309592" y="885153"/>
                  </a:lnTo>
                  <a:lnTo>
                    <a:pt x="5323087" y="882469"/>
                  </a:lnTo>
                  <a:lnTo>
                    <a:pt x="5359829" y="864344"/>
                  </a:lnTo>
                  <a:lnTo>
                    <a:pt x="5386838" y="833539"/>
                  </a:lnTo>
                  <a:lnTo>
                    <a:pt x="5400003" y="794742"/>
                  </a:lnTo>
                  <a:lnTo>
                    <a:pt x="5400674" y="787929"/>
                  </a:lnTo>
                  <a:lnTo>
                    <a:pt x="5400674" y="107420"/>
                  </a:lnTo>
                  <a:lnTo>
                    <a:pt x="5390065" y="67848"/>
                  </a:lnTo>
                  <a:lnTo>
                    <a:pt x="5365121" y="35348"/>
                  </a:lnTo>
                  <a:lnTo>
                    <a:pt x="5329638" y="14867"/>
                  </a:lnTo>
                  <a:lnTo>
                    <a:pt x="5302779" y="9524"/>
                  </a:lnTo>
                  <a:lnTo>
                    <a:pt x="5341387" y="9524"/>
                  </a:lnTo>
                  <a:lnTo>
                    <a:pt x="5376721" y="33477"/>
                  </a:lnTo>
                  <a:lnTo>
                    <a:pt x="5401498" y="70558"/>
                  </a:lnTo>
                  <a:lnTo>
                    <a:pt x="5410199" y="114299"/>
                  </a:lnTo>
                  <a:lnTo>
                    <a:pt x="5410199" y="781049"/>
                  </a:lnTo>
                  <a:lnTo>
                    <a:pt x="5409655" y="792309"/>
                  </a:lnTo>
                  <a:lnTo>
                    <a:pt x="5396687" y="834984"/>
                  </a:lnTo>
                  <a:lnTo>
                    <a:pt x="5368375" y="869449"/>
                  </a:lnTo>
                  <a:lnTo>
                    <a:pt x="5349834" y="881837"/>
                  </a:lnTo>
                  <a:lnTo>
                    <a:pt x="5341385" y="88582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359525" y="5093058"/>
            <a:ext cx="417195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 spc="-60" b="1">
                <a:solidFill>
                  <a:srgbClr val="FBE7C6"/>
                </a:solidFill>
                <a:latin typeface="Verdana"/>
                <a:cs typeface="Verdana"/>
              </a:rPr>
              <a:t>0</a:t>
            </a:r>
            <a:r>
              <a:rPr dirty="0" sz="2300" spc="-60" b="1">
                <a:solidFill>
                  <a:srgbClr val="FBE7C6"/>
                </a:solidFill>
                <a:latin typeface="Verdana"/>
                <a:cs typeface="Verdana"/>
              </a:rPr>
              <a:t>8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227692" y="6501570"/>
            <a:ext cx="369570" cy="128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850" spc="-50" b="1">
                <a:solidFill>
                  <a:srgbClr val="B3BAC6"/>
                </a:solidFill>
                <a:latin typeface="Verdana"/>
                <a:cs typeface="Verdana"/>
              </a:rPr>
              <a:t>02</a:t>
            </a:r>
            <a:r>
              <a:rPr dirty="0" sz="850" spc="-110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B3BAC6"/>
                </a:solidFill>
                <a:latin typeface="Verdana"/>
                <a:cs typeface="Verdana"/>
              </a:rPr>
              <a:t>/</a:t>
            </a:r>
            <a:r>
              <a:rPr dirty="0" sz="850" spc="-120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114" b="1">
                <a:solidFill>
                  <a:srgbClr val="B3BAC6"/>
                </a:solidFill>
                <a:latin typeface="Verdana"/>
                <a:cs typeface="Verdana"/>
              </a:rPr>
              <a:t>15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6882357" y="5109056"/>
            <a:ext cx="4039870" cy="5848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50" spc="-130" b="1">
                <a:solidFill>
                  <a:srgbClr val="1B3258"/>
                </a:solidFill>
                <a:latin typeface="Verdana"/>
                <a:cs typeface="Verdana"/>
              </a:rPr>
              <a:t>Insights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85" b="1">
                <a:solidFill>
                  <a:srgbClr val="1B3258"/>
                </a:solidFill>
                <a:latin typeface="Verdana"/>
                <a:cs typeface="Verdana"/>
              </a:rPr>
              <a:t>&amp;</a:t>
            </a:r>
            <a:r>
              <a:rPr dirty="0" sz="1150" spc="-19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50" b="1">
                <a:solidFill>
                  <a:srgbClr val="1B3258"/>
                </a:solidFill>
                <a:latin typeface="Verdana"/>
                <a:cs typeface="Verdana"/>
              </a:rPr>
              <a:t>Recommendations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900" spc="-45">
                <a:solidFill>
                  <a:srgbClr val="8F9BAC"/>
                </a:solidFill>
                <a:latin typeface="Microsoft Sans Serif"/>
                <a:cs typeface="Microsoft Sans Serif"/>
              </a:rPr>
              <a:t>Key</a:t>
            </a:r>
            <a:r>
              <a:rPr dirty="0" sz="900" spc="-3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takeaways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 and</a:t>
            </a:r>
            <a:r>
              <a:rPr dirty="0" sz="900" spc="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strategic guidance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for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55">
                <a:solidFill>
                  <a:srgbClr val="8F9BAC"/>
                </a:solidFill>
                <a:latin typeface="Microsoft Sans Serif"/>
                <a:cs typeface="Microsoft Sans Serif"/>
              </a:rPr>
              <a:t>NHG's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45">
                <a:solidFill>
                  <a:srgbClr val="8F9BAC"/>
                </a:solidFill>
                <a:latin typeface="Microsoft Sans Serif"/>
                <a:cs typeface="Microsoft Sans Serif"/>
              </a:rPr>
              <a:t>MAD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negotiation</a:t>
            </a:r>
            <a:r>
              <a:rPr dirty="0" sz="900" spc="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and</a:t>
            </a:r>
            <a:r>
              <a:rPr dirty="0" sz="900" spc="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schedule optimization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2638" y="0"/>
              <a:ext cx="6579361" cy="638733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96899" y="475299"/>
            <a:ext cx="157797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P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sz="800" spc="-9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B</a:t>
            </a: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L</a:t>
            </a:r>
            <a:r>
              <a:rPr dirty="0" sz="800" spc="-6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M</a:t>
            </a:r>
            <a:r>
              <a:rPr dirty="0" sz="800" spc="34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sz="800" spc="-9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12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4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M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N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6899" y="461029"/>
            <a:ext cx="5795645" cy="1293495"/>
          </a:xfrm>
          <a:prstGeom prst="rect"/>
        </p:spPr>
        <p:txBody>
          <a:bodyPr wrap="square" lIns="0" tIns="196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3150" spc="-275"/>
              <a:t>NHG's</a:t>
            </a:r>
            <a:r>
              <a:rPr dirty="0" sz="3150" spc="-525"/>
              <a:t> </a:t>
            </a:r>
            <a:r>
              <a:rPr dirty="0" sz="3150" spc="-250"/>
              <a:t>Distrib</a:t>
            </a:r>
            <a:r>
              <a:rPr dirty="0" sz="3050" spc="-250"/>
              <a:t>u</a:t>
            </a:r>
            <a:r>
              <a:rPr dirty="0" sz="3150" spc="-250"/>
              <a:t>tion</a:t>
            </a:r>
            <a:r>
              <a:rPr dirty="0" sz="3150" spc="-434"/>
              <a:t> </a:t>
            </a:r>
            <a:r>
              <a:rPr dirty="0" sz="3150" spc="-265"/>
              <a:t>Challenge</a:t>
            </a:r>
            <a:endParaRPr sz="3150"/>
          </a:p>
          <a:p>
            <a:pPr marL="12700" marR="5080">
              <a:lnSpc>
                <a:spcPct val="119000"/>
              </a:lnSpc>
              <a:spcBef>
                <a:spcPts val="254"/>
              </a:spcBef>
            </a:pPr>
            <a:r>
              <a:rPr dirty="0" sz="1050" spc="-25" b="0">
                <a:solidFill>
                  <a:srgbClr val="6E7D93"/>
                </a:solidFill>
                <a:latin typeface="Microsoft Sans Serif"/>
                <a:cs typeface="Microsoft Sans Serif"/>
              </a:rPr>
              <a:t>Rapid</a:t>
            </a:r>
            <a:r>
              <a:rPr dirty="0" sz="105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retail</a:t>
            </a:r>
            <a:r>
              <a:rPr dirty="0" sz="1050" spc="5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growth</a:t>
            </a:r>
            <a:r>
              <a:rPr dirty="0" sz="105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is </a:t>
            </a:r>
            <a:r>
              <a:rPr dirty="0" sz="105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straining</a:t>
            </a:r>
            <a:r>
              <a:rPr dirty="0" sz="1050" spc="-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 b="0">
                <a:solidFill>
                  <a:srgbClr val="6E7D93"/>
                </a:solidFill>
                <a:latin typeface="Microsoft Sans Serif"/>
                <a:cs typeface="Microsoft Sans Serif"/>
              </a:rPr>
              <a:t>NHG's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 logistics </a:t>
            </a:r>
            <a:r>
              <a:rPr dirty="0" sz="105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network.</a:t>
            </a:r>
            <a:r>
              <a:rPr dirty="0" sz="1050" spc="2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4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single</a:t>
            </a:r>
            <a:r>
              <a:rPr dirty="0" sz="1050" spc="-1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depot</a:t>
            </a:r>
            <a:r>
              <a:rPr dirty="0" sz="1050" spc="-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must</a:t>
            </a:r>
            <a:r>
              <a:rPr dirty="0" sz="1050" spc="-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serve</a:t>
            </a:r>
            <a:r>
              <a:rPr dirty="0" sz="1050" spc="-1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stores </a:t>
            </a:r>
            <a:r>
              <a:rPr dirty="0" sz="105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across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 b="0">
                <a:solidFill>
                  <a:srgbClr val="6E7D93"/>
                </a:solidFill>
                <a:latin typeface="Microsoft Sans Serif"/>
                <a:cs typeface="Microsoft Sans Serif"/>
              </a:rPr>
              <a:t>six New </a:t>
            </a:r>
            <a:r>
              <a:rPr dirty="0" sz="1050" spc="-30" b="0">
                <a:solidFill>
                  <a:srgbClr val="6E7D93"/>
                </a:solidFill>
                <a:latin typeface="Microsoft Sans Serif"/>
                <a:cs typeface="Microsoft Sans Serif"/>
              </a:rPr>
              <a:t>England</a:t>
            </a:r>
            <a:r>
              <a:rPr dirty="0" sz="1050" spc="4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states</a:t>
            </a:r>
            <a:r>
              <a:rPr dirty="0" sz="105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25" b="0">
                <a:solidFill>
                  <a:srgbClr val="6E7D93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4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4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third-party</a:t>
            </a:r>
            <a:r>
              <a:rPr dirty="0" sz="105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logistics</a:t>
            </a:r>
            <a:r>
              <a:rPr dirty="0" sz="105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partner</a:t>
            </a:r>
            <a:r>
              <a:rPr dirty="0" sz="1050" spc="2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 b="0">
                <a:solidFill>
                  <a:srgbClr val="6E7D93"/>
                </a:solidFill>
                <a:latin typeface="Microsoft Sans Serif"/>
                <a:cs typeface="Microsoft Sans Serif"/>
              </a:rPr>
              <a:t>(MAD)</a:t>
            </a:r>
            <a:r>
              <a:rPr dirty="0" sz="1050" spc="4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has</a:t>
            </a:r>
            <a:r>
              <a:rPr dirty="0" sz="105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submitted</a:t>
            </a:r>
            <a:r>
              <a:rPr dirty="0" sz="1050" spc="4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4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competing proposal.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9599" y="2000249"/>
            <a:ext cx="2628900" cy="933450"/>
            <a:chOff x="609599" y="2000249"/>
            <a:chExt cx="2628900" cy="933450"/>
          </a:xfrm>
        </p:grpSpPr>
        <p:sp>
          <p:nvSpPr>
            <p:cNvPr id="8" name="object 8"/>
            <p:cNvSpPr/>
            <p:nvPr/>
          </p:nvSpPr>
          <p:spPr>
            <a:xfrm>
              <a:off x="609599" y="2000249"/>
              <a:ext cx="2628900" cy="933450"/>
            </a:xfrm>
            <a:custGeom>
              <a:avLst/>
              <a:gdLst/>
              <a:ahLst/>
              <a:cxnLst/>
              <a:rect l="l" t="t" r="r" b="b"/>
              <a:pathLst>
                <a:path w="2628900" h="933450">
                  <a:moveTo>
                    <a:pt x="2514599" y="933449"/>
                  </a:moveTo>
                  <a:lnTo>
                    <a:pt x="114299" y="933449"/>
                  </a:lnTo>
                  <a:lnTo>
                    <a:pt x="103040" y="932906"/>
                  </a:lnTo>
                  <a:lnTo>
                    <a:pt x="60364" y="919937"/>
                  </a:lnTo>
                  <a:lnTo>
                    <a:pt x="25900" y="891625"/>
                  </a:lnTo>
                  <a:lnTo>
                    <a:pt x="4893" y="852279"/>
                  </a:lnTo>
                  <a:lnTo>
                    <a:pt x="0" y="8191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14599" y="0"/>
                  </a:lnTo>
                  <a:lnTo>
                    <a:pt x="2558340" y="8700"/>
                  </a:lnTo>
                  <a:lnTo>
                    <a:pt x="2595422" y="33477"/>
                  </a:lnTo>
                  <a:lnTo>
                    <a:pt x="2620198" y="70559"/>
                  </a:lnTo>
                  <a:lnTo>
                    <a:pt x="2628899" y="114299"/>
                  </a:lnTo>
                  <a:lnTo>
                    <a:pt x="2628899" y="819149"/>
                  </a:lnTo>
                  <a:lnTo>
                    <a:pt x="2620199" y="862890"/>
                  </a:lnTo>
                  <a:lnTo>
                    <a:pt x="2595422" y="899972"/>
                  </a:lnTo>
                  <a:lnTo>
                    <a:pt x="2558339" y="924749"/>
                  </a:lnTo>
                  <a:lnTo>
                    <a:pt x="2514599" y="93344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599" y="2000250"/>
              <a:ext cx="2628900" cy="933450"/>
            </a:xfrm>
            <a:custGeom>
              <a:avLst/>
              <a:gdLst/>
              <a:ahLst/>
              <a:cxnLst/>
              <a:rect l="l" t="t" r="r" b="b"/>
              <a:pathLst>
                <a:path w="2628900" h="933450">
                  <a:moveTo>
                    <a:pt x="2514599" y="933449"/>
                  </a:moveTo>
                  <a:lnTo>
                    <a:pt x="114299" y="933449"/>
                  </a:lnTo>
                  <a:lnTo>
                    <a:pt x="103040" y="932906"/>
                  </a:lnTo>
                  <a:lnTo>
                    <a:pt x="60364" y="919937"/>
                  </a:lnTo>
                  <a:lnTo>
                    <a:pt x="25900" y="891625"/>
                  </a:lnTo>
                  <a:lnTo>
                    <a:pt x="4893" y="852279"/>
                  </a:lnTo>
                  <a:lnTo>
                    <a:pt x="0" y="8191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14599" y="0"/>
                  </a:lnTo>
                  <a:lnTo>
                    <a:pt x="2558340" y="8700"/>
                  </a:lnTo>
                  <a:lnTo>
                    <a:pt x="25600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26029"/>
                  </a:lnTo>
                  <a:lnTo>
                    <a:pt x="20133" y="865601"/>
                  </a:lnTo>
                  <a:lnTo>
                    <a:pt x="45077" y="898101"/>
                  </a:lnTo>
                  <a:lnTo>
                    <a:pt x="80560" y="918582"/>
                  </a:lnTo>
                  <a:lnTo>
                    <a:pt x="107420" y="923924"/>
                  </a:lnTo>
                  <a:lnTo>
                    <a:pt x="2560086" y="923924"/>
                  </a:lnTo>
                  <a:lnTo>
                    <a:pt x="2558340" y="924749"/>
                  </a:lnTo>
                  <a:lnTo>
                    <a:pt x="2547729" y="928555"/>
                  </a:lnTo>
                  <a:lnTo>
                    <a:pt x="2536902" y="931274"/>
                  </a:lnTo>
                  <a:lnTo>
                    <a:pt x="2525858" y="932906"/>
                  </a:lnTo>
                  <a:lnTo>
                    <a:pt x="2514599" y="933449"/>
                  </a:lnTo>
                  <a:close/>
                </a:path>
                <a:path w="2628900" h="933450">
                  <a:moveTo>
                    <a:pt x="2560086" y="923924"/>
                  </a:moveTo>
                  <a:lnTo>
                    <a:pt x="2521479" y="923924"/>
                  </a:lnTo>
                  <a:lnTo>
                    <a:pt x="2528292" y="923253"/>
                  </a:lnTo>
                  <a:lnTo>
                    <a:pt x="2541787" y="920569"/>
                  </a:lnTo>
                  <a:lnTo>
                    <a:pt x="2578529" y="902444"/>
                  </a:lnTo>
                  <a:lnTo>
                    <a:pt x="2605538" y="871639"/>
                  </a:lnTo>
                  <a:lnTo>
                    <a:pt x="2618703" y="832843"/>
                  </a:lnTo>
                  <a:lnTo>
                    <a:pt x="2619374" y="826029"/>
                  </a:lnTo>
                  <a:lnTo>
                    <a:pt x="2619374" y="107420"/>
                  </a:lnTo>
                  <a:lnTo>
                    <a:pt x="2608766" y="67848"/>
                  </a:lnTo>
                  <a:lnTo>
                    <a:pt x="2583822" y="35348"/>
                  </a:lnTo>
                  <a:lnTo>
                    <a:pt x="2548339" y="14867"/>
                  </a:lnTo>
                  <a:lnTo>
                    <a:pt x="2521479" y="9524"/>
                  </a:lnTo>
                  <a:lnTo>
                    <a:pt x="2560087" y="9524"/>
                  </a:lnTo>
                  <a:lnTo>
                    <a:pt x="2595422" y="33477"/>
                  </a:lnTo>
                  <a:lnTo>
                    <a:pt x="2620199" y="70559"/>
                  </a:lnTo>
                  <a:lnTo>
                    <a:pt x="2628899" y="114299"/>
                  </a:lnTo>
                  <a:lnTo>
                    <a:pt x="2628899" y="819149"/>
                  </a:lnTo>
                  <a:lnTo>
                    <a:pt x="2628356" y="830409"/>
                  </a:lnTo>
                  <a:lnTo>
                    <a:pt x="2615387" y="873084"/>
                  </a:lnTo>
                  <a:lnTo>
                    <a:pt x="2587075" y="907549"/>
                  </a:lnTo>
                  <a:lnTo>
                    <a:pt x="2568534" y="919937"/>
                  </a:lnTo>
                  <a:lnTo>
                    <a:pt x="2560086" y="92392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35024" y="2048788"/>
            <a:ext cx="1021080" cy="69088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3050" spc="-625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r>
              <a:rPr dirty="0" sz="3150" spc="-625" b="1">
                <a:solidFill>
                  <a:srgbClr val="C87D09"/>
                </a:solidFill>
                <a:latin typeface="Verdana"/>
                <a:cs typeface="Verdana"/>
              </a:rPr>
              <a:t>61</a:t>
            </a:r>
            <a:endParaRPr sz="3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KLY</a:t>
            </a:r>
            <a:r>
              <a:rPr dirty="0" sz="850" spc="19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">
                <a:solidFill>
                  <a:srgbClr val="8490A3"/>
                </a:solidFill>
                <a:latin typeface="Microsoft Sans Serif"/>
                <a:cs typeface="Microsoft Sans Serif"/>
              </a:rPr>
              <a:t>OR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30">
                <a:solidFill>
                  <a:srgbClr val="8490A3"/>
                </a:solidFill>
                <a:latin typeface="Microsoft Sans Serif"/>
                <a:cs typeface="Microsoft Sans Serif"/>
              </a:rPr>
              <a:t>DE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5">
                <a:solidFill>
                  <a:srgbClr val="8490A3"/>
                </a:solidFill>
                <a:latin typeface="Microsoft Sans Serif"/>
                <a:cs typeface="Microsoft Sans Serif"/>
              </a:rPr>
              <a:t>R</a:t>
            </a:r>
            <a:r>
              <a:rPr dirty="0" sz="850" spc="-1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90899" y="2000249"/>
            <a:ext cx="2628900" cy="933450"/>
            <a:chOff x="3390899" y="2000249"/>
            <a:chExt cx="2628900" cy="933450"/>
          </a:xfrm>
        </p:grpSpPr>
        <p:sp>
          <p:nvSpPr>
            <p:cNvPr id="12" name="object 12"/>
            <p:cNvSpPr/>
            <p:nvPr/>
          </p:nvSpPr>
          <p:spPr>
            <a:xfrm>
              <a:off x="3390899" y="2000249"/>
              <a:ext cx="2628900" cy="933450"/>
            </a:xfrm>
            <a:custGeom>
              <a:avLst/>
              <a:gdLst/>
              <a:ahLst/>
              <a:cxnLst/>
              <a:rect l="l" t="t" r="r" b="b"/>
              <a:pathLst>
                <a:path w="2628900" h="933450">
                  <a:moveTo>
                    <a:pt x="2514599" y="933449"/>
                  </a:moveTo>
                  <a:lnTo>
                    <a:pt x="114299" y="933449"/>
                  </a:lnTo>
                  <a:lnTo>
                    <a:pt x="103040" y="932906"/>
                  </a:lnTo>
                  <a:lnTo>
                    <a:pt x="60364" y="919937"/>
                  </a:lnTo>
                  <a:lnTo>
                    <a:pt x="25900" y="891625"/>
                  </a:lnTo>
                  <a:lnTo>
                    <a:pt x="4893" y="852279"/>
                  </a:lnTo>
                  <a:lnTo>
                    <a:pt x="0" y="8191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14599" y="0"/>
                  </a:lnTo>
                  <a:lnTo>
                    <a:pt x="2558340" y="8700"/>
                  </a:lnTo>
                  <a:lnTo>
                    <a:pt x="2595421" y="33477"/>
                  </a:lnTo>
                  <a:lnTo>
                    <a:pt x="2620198" y="70559"/>
                  </a:lnTo>
                  <a:lnTo>
                    <a:pt x="2628899" y="114299"/>
                  </a:lnTo>
                  <a:lnTo>
                    <a:pt x="2628899" y="819149"/>
                  </a:lnTo>
                  <a:lnTo>
                    <a:pt x="2620198" y="862890"/>
                  </a:lnTo>
                  <a:lnTo>
                    <a:pt x="2595421" y="899972"/>
                  </a:lnTo>
                  <a:lnTo>
                    <a:pt x="2558339" y="924749"/>
                  </a:lnTo>
                  <a:lnTo>
                    <a:pt x="2514599" y="93344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90899" y="2000250"/>
              <a:ext cx="2628900" cy="933450"/>
            </a:xfrm>
            <a:custGeom>
              <a:avLst/>
              <a:gdLst/>
              <a:ahLst/>
              <a:cxnLst/>
              <a:rect l="l" t="t" r="r" b="b"/>
              <a:pathLst>
                <a:path w="2628900" h="933450">
                  <a:moveTo>
                    <a:pt x="2514599" y="933449"/>
                  </a:moveTo>
                  <a:lnTo>
                    <a:pt x="114299" y="933449"/>
                  </a:lnTo>
                  <a:lnTo>
                    <a:pt x="103040" y="932906"/>
                  </a:lnTo>
                  <a:lnTo>
                    <a:pt x="60364" y="919937"/>
                  </a:lnTo>
                  <a:lnTo>
                    <a:pt x="25900" y="891625"/>
                  </a:lnTo>
                  <a:lnTo>
                    <a:pt x="4893" y="852279"/>
                  </a:lnTo>
                  <a:lnTo>
                    <a:pt x="0" y="8191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14599" y="0"/>
                  </a:lnTo>
                  <a:lnTo>
                    <a:pt x="2558340" y="8700"/>
                  </a:lnTo>
                  <a:lnTo>
                    <a:pt x="25600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26029"/>
                  </a:lnTo>
                  <a:lnTo>
                    <a:pt x="20133" y="865601"/>
                  </a:lnTo>
                  <a:lnTo>
                    <a:pt x="45077" y="898101"/>
                  </a:lnTo>
                  <a:lnTo>
                    <a:pt x="80560" y="918582"/>
                  </a:lnTo>
                  <a:lnTo>
                    <a:pt x="107420" y="923924"/>
                  </a:lnTo>
                  <a:lnTo>
                    <a:pt x="2560086" y="923924"/>
                  </a:lnTo>
                  <a:lnTo>
                    <a:pt x="2558339" y="924749"/>
                  </a:lnTo>
                  <a:lnTo>
                    <a:pt x="2547728" y="928555"/>
                  </a:lnTo>
                  <a:lnTo>
                    <a:pt x="2536901" y="931274"/>
                  </a:lnTo>
                  <a:lnTo>
                    <a:pt x="2525858" y="932906"/>
                  </a:lnTo>
                  <a:lnTo>
                    <a:pt x="2514599" y="933449"/>
                  </a:lnTo>
                  <a:close/>
                </a:path>
                <a:path w="2628900" h="933450">
                  <a:moveTo>
                    <a:pt x="2560086" y="923924"/>
                  </a:moveTo>
                  <a:lnTo>
                    <a:pt x="2521479" y="923924"/>
                  </a:lnTo>
                  <a:lnTo>
                    <a:pt x="2528292" y="923253"/>
                  </a:lnTo>
                  <a:lnTo>
                    <a:pt x="2541787" y="920569"/>
                  </a:lnTo>
                  <a:lnTo>
                    <a:pt x="2578529" y="902444"/>
                  </a:lnTo>
                  <a:lnTo>
                    <a:pt x="2605538" y="871639"/>
                  </a:lnTo>
                  <a:lnTo>
                    <a:pt x="2618703" y="832843"/>
                  </a:lnTo>
                  <a:lnTo>
                    <a:pt x="2619374" y="826029"/>
                  </a:lnTo>
                  <a:lnTo>
                    <a:pt x="2619374" y="107420"/>
                  </a:lnTo>
                  <a:lnTo>
                    <a:pt x="2608766" y="67848"/>
                  </a:lnTo>
                  <a:lnTo>
                    <a:pt x="2583822" y="35348"/>
                  </a:lnTo>
                  <a:lnTo>
                    <a:pt x="2548339" y="14867"/>
                  </a:lnTo>
                  <a:lnTo>
                    <a:pt x="2521479" y="9524"/>
                  </a:lnTo>
                  <a:lnTo>
                    <a:pt x="2560087" y="9524"/>
                  </a:lnTo>
                  <a:lnTo>
                    <a:pt x="2595421" y="33477"/>
                  </a:lnTo>
                  <a:lnTo>
                    <a:pt x="2620198" y="70559"/>
                  </a:lnTo>
                  <a:lnTo>
                    <a:pt x="2628899" y="114299"/>
                  </a:lnTo>
                  <a:lnTo>
                    <a:pt x="2628899" y="819149"/>
                  </a:lnTo>
                  <a:lnTo>
                    <a:pt x="2628355" y="830409"/>
                  </a:lnTo>
                  <a:lnTo>
                    <a:pt x="2615387" y="873084"/>
                  </a:lnTo>
                  <a:lnTo>
                    <a:pt x="2587075" y="907549"/>
                  </a:lnTo>
                  <a:lnTo>
                    <a:pt x="2568534" y="919937"/>
                  </a:lnTo>
                  <a:lnTo>
                    <a:pt x="2560086" y="92392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616324" y="2048788"/>
            <a:ext cx="1144905" cy="69088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3150" spc="-620" b="1">
                <a:solidFill>
                  <a:srgbClr val="C87D09"/>
                </a:solidFill>
                <a:latin typeface="Verdana"/>
                <a:cs typeface="Verdana"/>
              </a:rPr>
              <a:t>1</a:t>
            </a:r>
            <a:r>
              <a:rPr dirty="0" sz="3050" spc="-620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r>
              <a:rPr dirty="0" sz="3150" spc="-620" b="1">
                <a:solidFill>
                  <a:srgbClr val="C87D09"/>
                </a:solidFill>
                <a:latin typeface="Verdana"/>
                <a:cs typeface="Verdana"/>
              </a:rPr>
              <a:t>3</a:t>
            </a:r>
            <a:endParaRPr sz="3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STOR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229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8490A3"/>
                </a:solidFill>
                <a:latin typeface="Microsoft Sans Serif"/>
                <a:cs typeface="Microsoft Sans Serif"/>
              </a:rPr>
              <a:t>LOCATI</a:t>
            </a:r>
            <a:r>
              <a:rPr dirty="0" sz="850" spc="-6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8490A3"/>
                </a:solidFill>
                <a:latin typeface="Microsoft Sans Serif"/>
                <a:cs typeface="Microsoft Sans Serif"/>
              </a:rPr>
              <a:t>ON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72199" y="2000249"/>
            <a:ext cx="2628900" cy="933450"/>
            <a:chOff x="6172199" y="2000249"/>
            <a:chExt cx="2628900" cy="933450"/>
          </a:xfrm>
        </p:grpSpPr>
        <p:sp>
          <p:nvSpPr>
            <p:cNvPr id="16" name="object 16"/>
            <p:cNvSpPr/>
            <p:nvPr/>
          </p:nvSpPr>
          <p:spPr>
            <a:xfrm>
              <a:off x="6172199" y="2000249"/>
              <a:ext cx="2628900" cy="933450"/>
            </a:xfrm>
            <a:custGeom>
              <a:avLst/>
              <a:gdLst/>
              <a:ahLst/>
              <a:cxnLst/>
              <a:rect l="l" t="t" r="r" b="b"/>
              <a:pathLst>
                <a:path w="2628900" h="933450">
                  <a:moveTo>
                    <a:pt x="2514599" y="933449"/>
                  </a:moveTo>
                  <a:lnTo>
                    <a:pt x="114299" y="933449"/>
                  </a:lnTo>
                  <a:lnTo>
                    <a:pt x="103040" y="932906"/>
                  </a:lnTo>
                  <a:lnTo>
                    <a:pt x="60364" y="919937"/>
                  </a:lnTo>
                  <a:lnTo>
                    <a:pt x="25899" y="891625"/>
                  </a:lnTo>
                  <a:lnTo>
                    <a:pt x="4893" y="852279"/>
                  </a:lnTo>
                  <a:lnTo>
                    <a:pt x="0" y="81914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2514599" y="0"/>
                  </a:lnTo>
                  <a:lnTo>
                    <a:pt x="2558338" y="8700"/>
                  </a:lnTo>
                  <a:lnTo>
                    <a:pt x="2595420" y="33477"/>
                  </a:lnTo>
                  <a:lnTo>
                    <a:pt x="2620197" y="70559"/>
                  </a:lnTo>
                  <a:lnTo>
                    <a:pt x="2628899" y="114299"/>
                  </a:lnTo>
                  <a:lnTo>
                    <a:pt x="2628899" y="819149"/>
                  </a:lnTo>
                  <a:lnTo>
                    <a:pt x="2620197" y="862890"/>
                  </a:lnTo>
                  <a:lnTo>
                    <a:pt x="2595420" y="899972"/>
                  </a:lnTo>
                  <a:lnTo>
                    <a:pt x="2558338" y="924749"/>
                  </a:lnTo>
                  <a:lnTo>
                    <a:pt x="2514599" y="93344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72199" y="2000250"/>
              <a:ext cx="2628900" cy="933450"/>
            </a:xfrm>
            <a:custGeom>
              <a:avLst/>
              <a:gdLst/>
              <a:ahLst/>
              <a:cxnLst/>
              <a:rect l="l" t="t" r="r" b="b"/>
              <a:pathLst>
                <a:path w="2628900" h="933450">
                  <a:moveTo>
                    <a:pt x="2514599" y="933449"/>
                  </a:moveTo>
                  <a:lnTo>
                    <a:pt x="114299" y="933449"/>
                  </a:lnTo>
                  <a:lnTo>
                    <a:pt x="103040" y="932906"/>
                  </a:lnTo>
                  <a:lnTo>
                    <a:pt x="60364" y="919937"/>
                  </a:lnTo>
                  <a:lnTo>
                    <a:pt x="25899" y="891625"/>
                  </a:lnTo>
                  <a:lnTo>
                    <a:pt x="4893" y="852279"/>
                  </a:lnTo>
                  <a:lnTo>
                    <a:pt x="0" y="81914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2514599" y="0"/>
                  </a:lnTo>
                  <a:lnTo>
                    <a:pt x="2558339" y="8700"/>
                  </a:lnTo>
                  <a:lnTo>
                    <a:pt x="2560085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26029"/>
                  </a:lnTo>
                  <a:lnTo>
                    <a:pt x="20133" y="865601"/>
                  </a:lnTo>
                  <a:lnTo>
                    <a:pt x="45077" y="898101"/>
                  </a:lnTo>
                  <a:lnTo>
                    <a:pt x="80560" y="918582"/>
                  </a:lnTo>
                  <a:lnTo>
                    <a:pt x="107420" y="923924"/>
                  </a:lnTo>
                  <a:lnTo>
                    <a:pt x="2560085" y="923924"/>
                  </a:lnTo>
                  <a:lnTo>
                    <a:pt x="2558338" y="924749"/>
                  </a:lnTo>
                  <a:lnTo>
                    <a:pt x="2547728" y="928555"/>
                  </a:lnTo>
                  <a:lnTo>
                    <a:pt x="2536901" y="931274"/>
                  </a:lnTo>
                  <a:lnTo>
                    <a:pt x="2525858" y="932906"/>
                  </a:lnTo>
                  <a:lnTo>
                    <a:pt x="2514599" y="933449"/>
                  </a:lnTo>
                  <a:close/>
                </a:path>
                <a:path w="2628900" h="933450">
                  <a:moveTo>
                    <a:pt x="2560085" y="923924"/>
                  </a:moveTo>
                  <a:lnTo>
                    <a:pt x="2521479" y="923924"/>
                  </a:lnTo>
                  <a:lnTo>
                    <a:pt x="2528292" y="923253"/>
                  </a:lnTo>
                  <a:lnTo>
                    <a:pt x="2541787" y="920569"/>
                  </a:lnTo>
                  <a:lnTo>
                    <a:pt x="2578529" y="902444"/>
                  </a:lnTo>
                  <a:lnTo>
                    <a:pt x="2605538" y="871639"/>
                  </a:lnTo>
                  <a:lnTo>
                    <a:pt x="2618703" y="832843"/>
                  </a:lnTo>
                  <a:lnTo>
                    <a:pt x="2619374" y="826029"/>
                  </a:lnTo>
                  <a:lnTo>
                    <a:pt x="2619374" y="107420"/>
                  </a:lnTo>
                  <a:lnTo>
                    <a:pt x="2608766" y="67848"/>
                  </a:lnTo>
                  <a:lnTo>
                    <a:pt x="2583822" y="35348"/>
                  </a:lnTo>
                  <a:lnTo>
                    <a:pt x="2548339" y="14867"/>
                  </a:lnTo>
                  <a:lnTo>
                    <a:pt x="2521479" y="9524"/>
                  </a:lnTo>
                  <a:lnTo>
                    <a:pt x="2560085" y="9524"/>
                  </a:lnTo>
                  <a:lnTo>
                    <a:pt x="2595420" y="33477"/>
                  </a:lnTo>
                  <a:lnTo>
                    <a:pt x="2620197" y="70559"/>
                  </a:lnTo>
                  <a:lnTo>
                    <a:pt x="2628899" y="114299"/>
                  </a:lnTo>
                  <a:lnTo>
                    <a:pt x="2628899" y="819149"/>
                  </a:lnTo>
                  <a:lnTo>
                    <a:pt x="2628355" y="830409"/>
                  </a:lnTo>
                  <a:lnTo>
                    <a:pt x="2615386" y="873084"/>
                  </a:lnTo>
                  <a:lnTo>
                    <a:pt x="2587074" y="907549"/>
                  </a:lnTo>
                  <a:lnTo>
                    <a:pt x="2568533" y="919937"/>
                  </a:lnTo>
                  <a:lnTo>
                    <a:pt x="2560085" y="92392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397625" y="2048788"/>
            <a:ext cx="1346835" cy="69088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3150" spc="-330" b="1">
                <a:solidFill>
                  <a:srgbClr val="C87D09"/>
                </a:solidFill>
                <a:latin typeface="Verdana"/>
                <a:cs typeface="Verdana"/>
              </a:rPr>
              <a:t>65,4</a:t>
            </a:r>
            <a:r>
              <a:rPr dirty="0" sz="3050" spc="-330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r>
              <a:rPr dirty="0" sz="3150" spc="-330" b="1">
                <a:solidFill>
                  <a:srgbClr val="C87D09"/>
                </a:solidFill>
                <a:latin typeface="Verdana"/>
                <a:cs typeface="Verdana"/>
              </a:rPr>
              <a:t>9</a:t>
            </a:r>
            <a:endParaRPr sz="3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FT³</a:t>
            </a:r>
            <a:r>
              <a:rPr dirty="0" sz="850" spc="27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8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8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KLY</a:t>
            </a:r>
            <a:r>
              <a:rPr dirty="0" sz="850" spc="24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VOLU</a:t>
            </a:r>
            <a:r>
              <a:rPr dirty="0" sz="850" spc="-8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953499" y="2000249"/>
            <a:ext cx="2628900" cy="933450"/>
            <a:chOff x="8953499" y="2000249"/>
            <a:chExt cx="2628900" cy="933450"/>
          </a:xfrm>
        </p:grpSpPr>
        <p:sp>
          <p:nvSpPr>
            <p:cNvPr id="20" name="object 20"/>
            <p:cNvSpPr/>
            <p:nvPr/>
          </p:nvSpPr>
          <p:spPr>
            <a:xfrm>
              <a:off x="8953499" y="2000249"/>
              <a:ext cx="2628900" cy="933450"/>
            </a:xfrm>
            <a:custGeom>
              <a:avLst/>
              <a:gdLst/>
              <a:ahLst/>
              <a:cxnLst/>
              <a:rect l="l" t="t" r="r" b="b"/>
              <a:pathLst>
                <a:path w="2628900" h="933450">
                  <a:moveTo>
                    <a:pt x="2514599" y="933449"/>
                  </a:moveTo>
                  <a:lnTo>
                    <a:pt x="114299" y="933449"/>
                  </a:lnTo>
                  <a:lnTo>
                    <a:pt x="103040" y="932906"/>
                  </a:lnTo>
                  <a:lnTo>
                    <a:pt x="60363" y="919937"/>
                  </a:lnTo>
                  <a:lnTo>
                    <a:pt x="25899" y="891625"/>
                  </a:lnTo>
                  <a:lnTo>
                    <a:pt x="4893" y="852279"/>
                  </a:lnTo>
                  <a:lnTo>
                    <a:pt x="0" y="81914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6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514599" y="0"/>
                  </a:lnTo>
                  <a:lnTo>
                    <a:pt x="2558339" y="8700"/>
                  </a:lnTo>
                  <a:lnTo>
                    <a:pt x="2595421" y="33477"/>
                  </a:lnTo>
                  <a:lnTo>
                    <a:pt x="2620198" y="70559"/>
                  </a:lnTo>
                  <a:lnTo>
                    <a:pt x="2628899" y="114299"/>
                  </a:lnTo>
                  <a:lnTo>
                    <a:pt x="2628899" y="819149"/>
                  </a:lnTo>
                  <a:lnTo>
                    <a:pt x="2620198" y="862890"/>
                  </a:lnTo>
                  <a:lnTo>
                    <a:pt x="2595421" y="899972"/>
                  </a:lnTo>
                  <a:lnTo>
                    <a:pt x="2558339" y="924749"/>
                  </a:lnTo>
                  <a:lnTo>
                    <a:pt x="2514599" y="93344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953499" y="2000250"/>
              <a:ext cx="2628900" cy="933450"/>
            </a:xfrm>
            <a:custGeom>
              <a:avLst/>
              <a:gdLst/>
              <a:ahLst/>
              <a:cxnLst/>
              <a:rect l="l" t="t" r="r" b="b"/>
              <a:pathLst>
                <a:path w="2628900" h="933450">
                  <a:moveTo>
                    <a:pt x="2514599" y="933449"/>
                  </a:moveTo>
                  <a:lnTo>
                    <a:pt x="114299" y="933449"/>
                  </a:lnTo>
                  <a:lnTo>
                    <a:pt x="103040" y="932906"/>
                  </a:lnTo>
                  <a:lnTo>
                    <a:pt x="60363" y="919937"/>
                  </a:lnTo>
                  <a:lnTo>
                    <a:pt x="25899" y="891625"/>
                  </a:lnTo>
                  <a:lnTo>
                    <a:pt x="4893" y="852279"/>
                  </a:lnTo>
                  <a:lnTo>
                    <a:pt x="0" y="81914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6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514599" y="0"/>
                  </a:lnTo>
                  <a:lnTo>
                    <a:pt x="2558339" y="8700"/>
                  </a:lnTo>
                  <a:lnTo>
                    <a:pt x="25600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26029"/>
                  </a:lnTo>
                  <a:lnTo>
                    <a:pt x="20133" y="865601"/>
                  </a:lnTo>
                  <a:lnTo>
                    <a:pt x="45077" y="898101"/>
                  </a:lnTo>
                  <a:lnTo>
                    <a:pt x="80560" y="918582"/>
                  </a:lnTo>
                  <a:lnTo>
                    <a:pt x="107420" y="923924"/>
                  </a:lnTo>
                  <a:lnTo>
                    <a:pt x="2560086" y="923924"/>
                  </a:lnTo>
                  <a:lnTo>
                    <a:pt x="2558339" y="924749"/>
                  </a:lnTo>
                  <a:lnTo>
                    <a:pt x="2547728" y="928555"/>
                  </a:lnTo>
                  <a:lnTo>
                    <a:pt x="2536901" y="931274"/>
                  </a:lnTo>
                  <a:lnTo>
                    <a:pt x="2525858" y="932906"/>
                  </a:lnTo>
                  <a:lnTo>
                    <a:pt x="2514599" y="933449"/>
                  </a:lnTo>
                  <a:close/>
                </a:path>
                <a:path w="2628900" h="933450">
                  <a:moveTo>
                    <a:pt x="2560086" y="923924"/>
                  </a:moveTo>
                  <a:lnTo>
                    <a:pt x="2521479" y="923924"/>
                  </a:lnTo>
                  <a:lnTo>
                    <a:pt x="2528292" y="923253"/>
                  </a:lnTo>
                  <a:lnTo>
                    <a:pt x="2541787" y="920569"/>
                  </a:lnTo>
                  <a:lnTo>
                    <a:pt x="2578529" y="902444"/>
                  </a:lnTo>
                  <a:lnTo>
                    <a:pt x="2605538" y="871639"/>
                  </a:lnTo>
                  <a:lnTo>
                    <a:pt x="2618703" y="832843"/>
                  </a:lnTo>
                  <a:lnTo>
                    <a:pt x="2619374" y="826029"/>
                  </a:lnTo>
                  <a:lnTo>
                    <a:pt x="2619374" y="107420"/>
                  </a:lnTo>
                  <a:lnTo>
                    <a:pt x="2608766" y="67848"/>
                  </a:lnTo>
                  <a:lnTo>
                    <a:pt x="2583822" y="35348"/>
                  </a:lnTo>
                  <a:lnTo>
                    <a:pt x="2548339" y="14867"/>
                  </a:lnTo>
                  <a:lnTo>
                    <a:pt x="2521479" y="9524"/>
                  </a:lnTo>
                  <a:lnTo>
                    <a:pt x="2560086" y="9524"/>
                  </a:lnTo>
                  <a:lnTo>
                    <a:pt x="2595421" y="33477"/>
                  </a:lnTo>
                  <a:lnTo>
                    <a:pt x="2620198" y="70559"/>
                  </a:lnTo>
                  <a:lnTo>
                    <a:pt x="2628899" y="114299"/>
                  </a:lnTo>
                  <a:lnTo>
                    <a:pt x="2628899" y="819149"/>
                  </a:lnTo>
                  <a:lnTo>
                    <a:pt x="2628355" y="830409"/>
                  </a:lnTo>
                  <a:lnTo>
                    <a:pt x="2615387" y="873084"/>
                  </a:lnTo>
                  <a:lnTo>
                    <a:pt x="2587075" y="907549"/>
                  </a:lnTo>
                  <a:lnTo>
                    <a:pt x="2568534" y="919937"/>
                  </a:lnTo>
                  <a:lnTo>
                    <a:pt x="2560086" y="92392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178924" y="2048788"/>
            <a:ext cx="1225550" cy="69088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3150" spc="-50" b="1">
                <a:solidFill>
                  <a:srgbClr val="C87D09"/>
                </a:solidFill>
                <a:latin typeface="Verdana"/>
                <a:cs typeface="Verdana"/>
              </a:rPr>
              <a:t>6</a:t>
            </a:r>
            <a:endParaRPr sz="3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55">
                <a:solidFill>
                  <a:srgbClr val="8490A3"/>
                </a:solidFill>
                <a:latin typeface="Microsoft Sans Serif"/>
                <a:cs typeface="Microsoft Sans Serif"/>
              </a:rPr>
              <a:t>N</a:t>
            </a:r>
            <a:r>
              <a:rPr dirty="0" sz="850" spc="-8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">
                <a:solidFill>
                  <a:srgbClr val="8490A3"/>
                </a:solidFill>
                <a:latin typeface="Microsoft Sans Serif"/>
                <a:cs typeface="Microsoft Sans Serif"/>
              </a:rPr>
              <a:t>OR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TH</a:t>
            </a:r>
            <a:r>
              <a:rPr dirty="0" sz="850" spc="-8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8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AST</a:t>
            </a:r>
            <a:r>
              <a:rPr dirty="0" sz="850" spc="25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STATE</a:t>
            </a:r>
            <a:r>
              <a:rPr dirty="0" sz="850" spc="-9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9599" y="3162299"/>
            <a:ext cx="5391150" cy="3200400"/>
            <a:chOff x="609599" y="3162299"/>
            <a:chExt cx="5391150" cy="3200400"/>
          </a:xfrm>
        </p:grpSpPr>
        <p:sp>
          <p:nvSpPr>
            <p:cNvPr id="24" name="object 24"/>
            <p:cNvSpPr/>
            <p:nvPr/>
          </p:nvSpPr>
          <p:spPr>
            <a:xfrm>
              <a:off x="609599" y="3162299"/>
              <a:ext cx="5391150" cy="3200400"/>
            </a:xfrm>
            <a:custGeom>
              <a:avLst/>
              <a:gdLst/>
              <a:ahLst/>
              <a:cxnLst/>
              <a:rect l="l" t="t" r="r" b="b"/>
              <a:pathLst>
                <a:path w="5391150" h="3200400">
                  <a:moveTo>
                    <a:pt x="5257799" y="3200399"/>
                  </a:moveTo>
                  <a:lnTo>
                    <a:pt x="133349" y="3200399"/>
                  </a:lnTo>
                  <a:lnTo>
                    <a:pt x="120213" y="3199764"/>
                  </a:lnTo>
                  <a:lnTo>
                    <a:pt x="82319" y="3190248"/>
                  </a:lnTo>
                  <a:lnTo>
                    <a:pt x="48794" y="3170182"/>
                  </a:lnTo>
                  <a:lnTo>
                    <a:pt x="22452" y="3141148"/>
                  </a:lnTo>
                  <a:lnTo>
                    <a:pt x="5709" y="3105701"/>
                  </a:lnTo>
                  <a:lnTo>
                    <a:pt x="0" y="3067049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50" y="5709"/>
                  </a:lnTo>
                  <a:lnTo>
                    <a:pt x="5331898" y="22452"/>
                  </a:lnTo>
                  <a:lnTo>
                    <a:pt x="5360931" y="48794"/>
                  </a:lnTo>
                  <a:lnTo>
                    <a:pt x="5380998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3067049"/>
                  </a:lnTo>
                  <a:lnTo>
                    <a:pt x="5385438" y="3105701"/>
                  </a:lnTo>
                  <a:lnTo>
                    <a:pt x="5368696" y="3141148"/>
                  </a:lnTo>
                  <a:lnTo>
                    <a:pt x="5342354" y="3170182"/>
                  </a:lnTo>
                  <a:lnTo>
                    <a:pt x="5308829" y="3190248"/>
                  </a:lnTo>
                  <a:lnTo>
                    <a:pt x="5270935" y="3199764"/>
                  </a:lnTo>
                  <a:lnTo>
                    <a:pt x="5257799" y="3200399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09599" y="3162299"/>
              <a:ext cx="5391150" cy="3200400"/>
            </a:xfrm>
            <a:custGeom>
              <a:avLst/>
              <a:gdLst/>
              <a:ahLst/>
              <a:cxnLst/>
              <a:rect l="l" t="t" r="r" b="b"/>
              <a:pathLst>
                <a:path w="5391150" h="3200400">
                  <a:moveTo>
                    <a:pt x="5257799" y="3200399"/>
                  </a:moveTo>
                  <a:lnTo>
                    <a:pt x="133349" y="3200399"/>
                  </a:lnTo>
                  <a:lnTo>
                    <a:pt x="120213" y="3199765"/>
                  </a:lnTo>
                  <a:lnTo>
                    <a:pt x="82319" y="3190248"/>
                  </a:lnTo>
                  <a:lnTo>
                    <a:pt x="48794" y="3170182"/>
                  </a:lnTo>
                  <a:lnTo>
                    <a:pt x="22452" y="3141148"/>
                  </a:lnTo>
                  <a:lnTo>
                    <a:pt x="5709" y="3105701"/>
                  </a:lnTo>
                  <a:lnTo>
                    <a:pt x="0" y="3067049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9" y="2537"/>
                  </a:lnTo>
                  <a:lnTo>
                    <a:pt x="5296450" y="5709"/>
                  </a:lnTo>
                  <a:lnTo>
                    <a:pt x="5307086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3075180"/>
                  </a:lnTo>
                  <a:lnTo>
                    <a:pt x="22061" y="3121946"/>
                  </a:lnTo>
                  <a:lnTo>
                    <a:pt x="51541" y="3160356"/>
                  </a:lnTo>
                  <a:lnTo>
                    <a:pt x="93475" y="3184560"/>
                  </a:lnTo>
                  <a:lnTo>
                    <a:pt x="125219" y="3190874"/>
                  </a:lnTo>
                  <a:lnTo>
                    <a:pt x="5307083" y="3190874"/>
                  </a:lnTo>
                  <a:lnTo>
                    <a:pt x="5296450" y="3194689"/>
                  </a:lnTo>
                  <a:lnTo>
                    <a:pt x="5283819" y="3197861"/>
                  </a:lnTo>
                  <a:lnTo>
                    <a:pt x="5270935" y="3199765"/>
                  </a:lnTo>
                  <a:lnTo>
                    <a:pt x="5257799" y="3200399"/>
                  </a:lnTo>
                  <a:close/>
                </a:path>
                <a:path w="5391150" h="3200400">
                  <a:moveTo>
                    <a:pt x="5307083" y="3190874"/>
                  </a:moveTo>
                  <a:lnTo>
                    <a:pt x="5265930" y="3190874"/>
                  </a:lnTo>
                  <a:lnTo>
                    <a:pt x="5273982" y="3190081"/>
                  </a:lnTo>
                  <a:lnTo>
                    <a:pt x="5289930" y="3186908"/>
                  </a:lnTo>
                  <a:lnTo>
                    <a:pt x="5333352" y="3165489"/>
                  </a:lnTo>
                  <a:lnTo>
                    <a:pt x="5365273" y="3129082"/>
                  </a:lnTo>
                  <a:lnTo>
                    <a:pt x="5380831" y="3083232"/>
                  </a:lnTo>
                  <a:lnTo>
                    <a:pt x="5381624" y="3075180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3" y="15763"/>
                  </a:lnTo>
                  <a:lnTo>
                    <a:pt x="5265930" y="9524"/>
                  </a:lnTo>
                  <a:lnTo>
                    <a:pt x="5307086" y="9524"/>
                  </a:lnTo>
                  <a:lnTo>
                    <a:pt x="5342354" y="30216"/>
                  </a:lnTo>
                  <a:lnTo>
                    <a:pt x="5368696" y="59250"/>
                  </a:lnTo>
                  <a:lnTo>
                    <a:pt x="5385439" y="94697"/>
                  </a:lnTo>
                  <a:lnTo>
                    <a:pt x="5391149" y="133349"/>
                  </a:lnTo>
                  <a:lnTo>
                    <a:pt x="5391149" y="3067049"/>
                  </a:lnTo>
                  <a:lnTo>
                    <a:pt x="5390515" y="3080186"/>
                  </a:lnTo>
                  <a:lnTo>
                    <a:pt x="5380998" y="3118080"/>
                  </a:lnTo>
                  <a:lnTo>
                    <a:pt x="5360932" y="3151604"/>
                  </a:lnTo>
                  <a:lnTo>
                    <a:pt x="5331898" y="3177946"/>
                  </a:lnTo>
                  <a:lnTo>
                    <a:pt x="5308829" y="3190248"/>
                  </a:lnTo>
                  <a:lnTo>
                    <a:pt x="5307083" y="31908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35024" y="3356868"/>
            <a:ext cx="146685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80" b="1">
                <a:solidFill>
                  <a:srgbClr val="C87D09"/>
                </a:solidFill>
                <a:latin typeface="Verdana"/>
                <a:cs typeface="Verdana"/>
              </a:rPr>
              <a:t>THE</a:t>
            </a:r>
            <a:r>
              <a:rPr dirty="0" sz="1050" spc="-1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C87D09"/>
                </a:solidFill>
                <a:latin typeface="Verdana"/>
                <a:cs typeface="Verdana"/>
              </a:rPr>
              <a:t>CORE</a:t>
            </a:r>
            <a:r>
              <a:rPr dirty="0" sz="1050" spc="-6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1050" spc="-35" b="1">
                <a:solidFill>
                  <a:srgbClr val="C87D09"/>
                </a:solidFill>
                <a:latin typeface="Verdana"/>
                <a:cs typeface="Verdana"/>
              </a:rPr>
              <a:t>PROBLEM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5024" y="3658068"/>
            <a:ext cx="492061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50">
                <a:solidFill>
                  <a:srgbClr val="6E7D93"/>
                </a:solidFill>
                <a:latin typeface="Microsoft Sans Serif"/>
                <a:cs typeface="Microsoft Sans Serif"/>
              </a:rPr>
              <a:t>NHG's</a:t>
            </a:r>
            <a:r>
              <a:rPr dirty="0" sz="1000" spc="9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rapid</a:t>
            </a:r>
            <a:r>
              <a:rPr dirty="0" sz="1000" spc="10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store</a:t>
            </a:r>
            <a:r>
              <a:rPr dirty="0" sz="1000" spc="7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expansion</a:t>
            </a:r>
            <a:r>
              <a:rPr dirty="0" sz="1000" spc="1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has</a:t>
            </a:r>
            <a:r>
              <a:rPr dirty="0" sz="1000" spc="9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driven</a:t>
            </a:r>
            <a:r>
              <a:rPr dirty="0" sz="1000" spc="1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distribution</a:t>
            </a:r>
            <a:r>
              <a:rPr dirty="0" sz="1000" spc="1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costs</a:t>
            </a:r>
            <a:r>
              <a:rPr dirty="0" sz="1000" spc="9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up</a:t>
            </a:r>
            <a:r>
              <a:rPr dirty="0" sz="1000" spc="8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week-over-</a:t>
            </a:r>
            <a:r>
              <a:rPr dirty="0" sz="1000" spc="-10">
                <a:solidFill>
                  <a:srgbClr val="6E7D93"/>
                </a:solidFill>
                <a:latin typeface="Microsoft Sans Serif"/>
                <a:cs typeface="Microsoft Sans Serif"/>
              </a:rPr>
              <a:t>week.</a:t>
            </a:r>
            <a:r>
              <a:rPr dirty="0" sz="1000" spc="1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With</a:t>
            </a:r>
            <a:r>
              <a:rPr dirty="0" sz="1000" spc="10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6E7D93"/>
                </a:solidFill>
                <a:latin typeface="Microsoft Sans Serif"/>
                <a:cs typeface="Microsoft Sans Serif"/>
              </a:rPr>
              <a:t>a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5024" y="3877143"/>
            <a:ext cx="4936490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single</a:t>
            </a:r>
            <a:r>
              <a:rPr dirty="0" sz="1000" spc="1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depot</a:t>
            </a:r>
            <a:r>
              <a:rPr dirty="0" sz="1000" spc="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in</a:t>
            </a:r>
            <a:r>
              <a:rPr dirty="0" sz="1000" spc="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85">
                <a:solidFill>
                  <a:srgbClr val="6E7D93"/>
                </a:solidFill>
                <a:latin typeface="Microsoft Sans Serif"/>
                <a:cs typeface="Microsoft Sans Serif"/>
              </a:rPr>
              <a:t>ZIP</a:t>
            </a:r>
            <a:r>
              <a:rPr dirty="0" sz="1000" spc="1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6E7D93"/>
                </a:solidFill>
                <a:latin typeface="Microsoft Sans Serif"/>
                <a:cs typeface="Microsoft Sans Serif"/>
              </a:rPr>
              <a:t>01887</a:t>
            </a:r>
            <a:r>
              <a:rPr dirty="0" sz="1000" spc="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(Woburn,</a:t>
            </a:r>
            <a:r>
              <a:rPr dirty="0" sz="1000" spc="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MA)</a:t>
            </a:r>
            <a:r>
              <a:rPr dirty="0" sz="1000" spc="5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serving </a:t>
            </a:r>
            <a:r>
              <a:rPr dirty="0" sz="1000" spc="-85">
                <a:solidFill>
                  <a:srgbClr val="6E7D93"/>
                </a:solidFill>
                <a:latin typeface="Microsoft Sans Serif"/>
                <a:cs typeface="Microsoft Sans Serif"/>
              </a:rPr>
              <a:t>123</a:t>
            </a:r>
            <a:r>
              <a:rPr dirty="0" sz="1000" spc="4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locations</a:t>
            </a:r>
            <a:r>
              <a:rPr dirty="0" sz="1000" spc="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scattered</a:t>
            </a:r>
            <a:r>
              <a:rPr dirty="0" sz="1000" spc="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across</a:t>
            </a:r>
            <a:r>
              <a:rPr dirty="0" sz="1000" spc="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6E7D93"/>
                </a:solidFill>
                <a:latin typeface="Microsoft Sans Serif"/>
                <a:cs typeface="Microsoft Sans Serif"/>
              </a:rPr>
              <a:t>MA,</a:t>
            </a:r>
            <a:r>
              <a:rPr dirty="0" sz="1000" spc="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6E7D93"/>
                </a:solidFill>
                <a:latin typeface="Microsoft Sans Serif"/>
                <a:cs typeface="Microsoft Sans Serif"/>
              </a:rPr>
              <a:t>NH,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5024" y="4096218"/>
            <a:ext cx="265112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10">
                <a:solidFill>
                  <a:srgbClr val="6E7D93"/>
                </a:solidFill>
                <a:latin typeface="Microsoft Sans Serif"/>
                <a:cs typeface="Microsoft Sans Serif"/>
              </a:rPr>
              <a:t>CT,</a:t>
            </a:r>
            <a:r>
              <a:rPr dirty="0" sz="1000" spc="6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14">
                <a:solidFill>
                  <a:srgbClr val="6E7D93"/>
                </a:solidFill>
                <a:latin typeface="Microsoft Sans Serif"/>
                <a:cs typeface="Microsoft Sans Serif"/>
              </a:rPr>
              <a:t>RI,</a:t>
            </a:r>
            <a:r>
              <a:rPr dirty="0" sz="1000" spc="6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0">
                <a:solidFill>
                  <a:srgbClr val="6E7D93"/>
                </a:solidFill>
                <a:latin typeface="Microsoft Sans Serif"/>
                <a:cs typeface="Microsoft Sans Serif"/>
              </a:rPr>
              <a:t>VT,</a:t>
            </a:r>
            <a:r>
              <a:rPr dirty="0" sz="1000" spc="6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and</a:t>
            </a:r>
            <a:r>
              <a:rPr dirty="0" sz="1000" spc="6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75">
                <a:solidFill>
                  <a:srgbClr val="6E7D93"/>
                </a:solidFill>
                <a:latin typeface="Microsoft Sans Serif"/>
                <a:cs typeface="Microsoft Sans Serif"/>
              </a:rPr>
              <a:t>ME</a:t>
            </a:r>
            <a:r>
              <a:rPr dirty="0" sz="1000" spc="6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250">
                <a:solidFill>
                  <a:srgbClr val="6E7D93"/>
                </a:solidFill>
                <a:latin typeface="Microsoft Sans Serif"/>
                <a:cs typeface="Microsoft Sans Serif"/>
              </a:rPr>
              <a:t>—</a:t>
            </a:r>
            <a:r>
              <a:rPr dirty="0" sz="1000" spc="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route</a:t>
            </a:r>
            <a:r>
              <a:rPr dirty="0" sz="1000" spc="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efficiency</a:t>
            </a:r>
            <a:r>
              <a:rPr dirty="0" sz="1000" spc="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is</a:t>
            </a:r>
            <a:r>
              <a:rPr dirty="0" sz="1000" spc="5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6E7D93"/>
                </a:solidFill>
                <a:latin typeface="Microsoft Sans Serif"/>
                <a:cs typeface="Microsoft Sans Serif"/>
              </a:rPr>
              <a:t>critical.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5024" y="4375691"/>
            <a:ext cx="480631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dirty="0" sz="1000" spc="-25">
                <a:solidFill>
                  <a:srgbClr val="6E7D93"/>
                </a:solidFill>
                <a:latin typeface="Microsoft Sans Serif"/>
                <a:cs typeface="Microsoft Sans Serif"/>
              </a:rPr>
              <a:t>MAD</a:t>
            </a:r>
            <a:r>
              <a:rPr dirty="0" sz="1000" spc="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(Massachusetts</a:t>
            </a:r>
            <a:r>
              <a:rPr dirty="0" sz="1000" spc="5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Area</a:t>
            </a:r>
            <a:r>
              <a:rPr dirty="0" sz="1000" spc="6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Distribution)</a:t>
            </a:r>
            <a:r>
              <a:rPr dirty="0" sz="1000" spc="6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has</a:t>
            </a:r>
            <a:r>
              <a:rPr dirty="0" sz="1000" spc="5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submitted</a:t>
            </a:r>
            <a:r>
              <a:rPr dirty="0" sz="1000" spc="6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a</a:t>
            </a:r>
            <a:r>
              <a:rPr dirty="0" sz="1000" spc="7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proposal</a:t>
            </a:r>
            <a:r>
              <a:rPr dirty="0" sz="1000" spc="114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50">
                <a:solidFill>
                  <a:srgbClr val="6E7D93"/>
                </a:solidFill>
                <a:latin typeface="Microsoft Sans Serif"/>
                <a:cs typeface="Microsoft Sans Serif"/>
              </a:rPr>
              <a:t>to</a:t>
            </a:r>
            <a:r>
              <a:rPr dirty="0" sz="1000" spc="4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take</a:t>
            </a:r>
            <a:r>
              <a:rPr dirty="0" sz="1000" spc="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6E7D93"/>
                </a:solidFill>
                <a:latin typeface="Microsoft Sans Serif"/>
                <a:cs typeface="Microsoft Sans Serif"/>
              </a:rPr>
              <a:t>over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deliveries.</a:t>
            </a:r>
            <a:r>
              <a:rPr dirty="0" sz="1000" spc="6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6E7D93"/>
                </a:solidFill>
                <a:latin typeface="Microsoft Sans Serif"/>
                <a:cs typeface="Microsoft Sans Serif"/>
              </a:rPr>
              <a:t>This</a:t>
            </a:r>
            <a:r>
              <a:rPr dirty="0" sz="1000" spc="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study benchmarks</a:t>
            </a:r>
            <a:r>
              <a:rPr dirty="0" sz="1000" spc="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three</a:t>
            </a:r>
            <a:r>
              <a:rPr dirty="0" sz="1000" spc="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65">
                <a:solidFill>
                  <a:srgbClr val="6E7D93"/>
                </a:solidFill>
                <a:latin typeface="Microsoft Sans Serif"/>
                <a:cs typeface="Microsoft Sans Serif"/>
              </a:rPr>
              <a:t>in-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house</a:t>
            </a:r>
            <a:r>
              <a:rPr dirty="0" sz="1000" spc="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scenarios</a:t>
            </a:r>
            <a:r>
              <a:rPr dirty="0" sz="1000" spc="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50">
                <a:solidFill>
                  <a:srgbClr val="6E7D93"/>
                </a:solidFill>
                <a:latin typeface="Microsoft Sans Serif"/>
                <a:cs typeface="Microsoft Sans Serif"/>
              </a:rPr>
              <a:t>to</a:t>
            </a:r>
            <a:r>
              <a:rPr dirty="0" sz="1000" spc="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establish</a:t>
            </a:r>
            <a:r>
              <a:rPr dirty="0" sz="1000" spc="5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6E7D93"/>
                </a:solidFill>
                <a:latin typeface="Microsoft Sans Serif"/>
                <a:cs typeface="Microsoft Sans Serif"/>
              </a:rPr>
              <a:t>negotiating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5024" y="4858218"/>
            <a:ext cx="280098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6E7D93"/>
                </a:solidFill>
                <a:latin typeface="Microsoft Sans Serif"/>
                <a:cs typeface="Microsoft Sans Serif"/>
              </a:rPr>
              <a:t>leverage</a:t>
            </a:r>
            <a:r>
              <a:rPr dirty="0" sz="1000" spc="1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and</a:t>
            </a:r>
            <a:r>
              <a:rPr dirty="0" sz="1000" spc="15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identify</a:t>
            </a:r>
            <a:r>
              <a:rPr dirty="0" sz="1000" spc="7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E7D93"/>
                </a:solidFill>
                <a:latin typeface="Microsoft Sans Serif"/>
                <a:cs typeface="Microsoft Sans Serif"/>
              </a:rPr>
              <a:t>optimization</a:t>
            </a:r>
            <a:r>
              <a:rPr dirty="0" sz="1000" spc="15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6E7D93"/>
                </a:solidFill>
                <a:latin typeface="Microsoft Sans Serif"/>
                <a:cs typeface="Microsoft Sans Serif"/>
              </a:rPr>
              <a:t>opportunities.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91249" y="3162299"/>
            <a:ext cx="5391150" cy="3200400"/>
            <a:chOff x="6191249" y="3162299"/>
            <a:chExt cx="5391150" cy="3200400"/>
          </a:xfrm>
        </p:grpSpPr>
        <p:sp>
          <p:nvSpPr>
            <p:cNvPr id="33" name="object 33"/>
            <p:cNvSpPr/>
            <p:nvPr/>
          </p:nvSpPr>
          <p:spPr>
            <a:xfrm>
              <a:off x="6191249" y="3162299"/>
              <a:ext cx="5391150" cy="3200400"/>
            </a:xfrm>
            <a:custGeom>
              <a:avLst/>
              <a:gdLst/>
              <a:ahLst/>
              <a:cxnLst/>
              <a:rect l="l" t="t" r="r" b="b"/>
              <a:pathLst>
                <a:path w="5391150" h="3200400">
                  <a:moveTo>
                    <a:pt x="5257799" y="3200399"/>
                  </a:moveTo>
                  <a:lnTo>
                    <a:pt x="133349" y="3200399"/>
                  </a:lnTo>
                  <a:lnTo>
                    <a:pt x="120213" y="3199764"/>
                  </a:lnTo>
                  <a:lnTo>
                    <a:pt x="82318" y="3190248"/>
                  </a:lnTo>
                  <a:lnTo>
                    <a:pt x="48793" y="3170182"/>
                  </a:lnTo>
                  <a:lnTo>
                    <a:pt x="22451" y="3141148"/>
                  </a:lnTo>
                  <a:lnTo>
                    <a:pt x="5709" y="3105701"/>
                  </a:lnTo>
                  <a:lnTo>
                    <a:pt x="0" y="3067049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1" y="59250"/>
                  </a:lnTo>
                  <a:lnTo>
                    <a:pt x="48793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49" y="5709"/>
                  </a:lnTo>
                  <a:lnTo>
                    <a:pt x="5331897" y="22452"/>
                  </a:lnTo>
                  <a:lnTo>
                    <a:pt x="5360931" y="48794"/>
                  </a:lnTo>
                  <a:lnTo>
                    <a:pt x="5380997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3067049"/>
                  </a:lnTo>
                  <a:lnTo>
                    <a:pt x="5385438" y="3105701"/>
                  </a:lnTo>
                  <a:lnTo>
                    <a:pt x="5368695" y="3141148"/>
                  </a:lnTo>
                  <a:lnTo>
                    <a:pt x="5342354" y="3170182"/>
                  </a:lnTo>
                  <a:lnTo>
                    <a:pt x="5308828" y="3190248"/>
                  </a:lnTo>
                  <a:lnTo>
                    <a:pt x="5270935" y="3199764"/>
                  </a:lnTo>
                  <a:lnTo>
                    <a:pt x="5257799" y="3200399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191249" y="3162299"/>
              <a:ext cx="5391150" cy="3200400"/>
            </a:xfrm>
            <a:custGeom>
              <a:avLst/>
              <a:gdLst/>
              <a:ahLst/>
              <a:cxnLst/>
              <a:rect l="l" t="t" r="r" b="b"/>
              <a:pathLst>
                <a:path w="5391150" h="3200400">
                  <a:moveTo>
                    <a:pt x="5257799" y="3200399"/>
                  </a:moveTo>
                  <a:lnTo>
                    <a:pt x="133349" y="3200399"/>
                  </a:lnTo>
                  <a:lnTo>
                    <a:pt x="120213" y="3199765"/>
                  </a:lnTo>
                  <a:lnTo>
                    <a:pt x="82318" y="3190248"/>
                  </a:lnTo>
                  <a:lnTo>
                    <a:pt x="48793" y="3170182"/>
                  </a:lnTo>
                  <a:lnTo>
                    <a:pt x="22451" y="3141148"/>
                  </a:lnTo>
                  <a:lnTo>
                    <a:pt x="5709" y="3105701"/>
                  </a:lnTo>
                  <a:lnTo>
                    <a:pt x="0" y="3067049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1" y="59250"/>
                  </a:lnTo>
                  <a:lnTo>
                    <a:pt x="48793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8" y="2537"/>
                  </a:lnTo>
                  <a:lnTo>
                    <a:pt x="5296449" y="5709"/>
                  </a:lnTo>
                  <a:lnTo>
                    <a:pt x="5307084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3075180"/>
                  </a:lnTo>
                  <a:lnTo>
                    <a:pt x="22061" y="3121946"/>
                  </a:lnTo>
                  <a:lnTo>
                    <a:pt x="51541" y="3160356"/>
                  </a:lnTo>
                  <a:lnTo>
                    <a:pt x="93475" y="3184560"/>
                  </a:lnTo>
                  <a:lnTo>
                    <a:pt x="125219" y="3190874"/>
                  </a:lnTo>
                  <a:lnTo>
                    <a:pt x="5307082" y="3190874"/>
                  </a:lnTo>
                  <a:lnTo>
                    <a:pt x="5296449" y="3194689"/>
                  </a:lnTo>
                  <a:lnTo>
                    <a:pt x="5283818" y="3197861"/>
                  </a:lnTo>
                  <a:lnTo>
                    <a:pt x="5270935" y="3199765"/>
                  </a:lnTo>
                  <a:lnTo>
                    <a:pt x="5257799" y="3200399"/>
                  </a:lnTo>
                  <a:close/>
                </a:path>
                <a:path w="5391150" h="3200400">
                  <a:moveTo>
                    <a:pt x="5307082" y="3190874"/>
                  </a:moveTo>
                  <a:lnTo>
                    <a:pt x="5265930" y="3190874"/>
                  </a:lnTo>
                  <a:lnTo>
                    <a:pt x="5273982" y="3190081"/>
                  </a:lnTo>
                  <a:lnTo>
                    <a:pt x="5289930" y="3186908"/>
                  </a:lnTo>
                  <a:lnTo>
                    <a:pt x="5333352" y="3165489"/>
                  </a:lnTo>
                  <a:lnTo>
                    <a:pt x="5365273" y="3129082"/>
                  </a:lnTo>
                  <a:lnTo>
                    <a:pt x="5380831" y="3083232"/>
                  </a:lnTo>
                  <a:lnTo>
                    <a:pt x="5381624" y="3075180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3" y="15763"/>
                  </a:lnTo>
                  <a:lnTo>
                    <a:pt x="5265930" y="9524"/>
                  </a:lnTo>
                  <a:lnTo>
                    <a:pt x="5307084" y="9524"/>
                  </a:lnTo>
                  <a:lnTo>
                    <a:pt x="5342354" y="30216"/>
                  </a:lnTo>
                  <a:lnTo>
                    <a:pt x="5368695" y="59250"/>
                  </a:lnTo>
                  <a:lnTo>
                    <a:pt x="5385438" y="94697"/>
                  </a:lnTo>
                  <a:lnTo>
                    <a:pt x="5391149" y="133349"/>
                  </a:lnTo>
                  <a:lnTo>
                    <a:pt x="5391149" y="3067049"/>
                  </a:lnTo>
                  <a:lnTo>
                    <a:pt x="5390515" y="3080186"/>
                  </a:lnTo>
                  <a:lnTo>
                    <a:pt x="5380997" y="3118080"/>
                  </a:lnTo>
                  <a:lnTo>
                    <a:pt x="5360931" y="3151604"/>
                  </a:lnTo>
                  <a:lnTo>
                    <a:pt x="5331898" y="3177946"/>
                  </a:lnTo>
                  <a:lnTo>
                    <a:pt x="5308829" y="3190248"/>
                  </a:lnTo>
                  <a:lnTo>
                    <a:pt x="5307082" y="31908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416675" y="3356868"/>
            <a:ext cx="14331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60" b="1">
                <a:solidFill>
                  <a:srgbClr val="C87D09"/>
                </a:solidFill>
                <a:latin typeface="Verdana"/>
                <a:cs typeface="Verdana"/>
              </a:rPr>
              <a:t>STUDY</a:t>
            </a:r>
            <a:r>
              <a:rPr dirty="0" sz="1050" spc="-1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1050" spc="-50" b="1">
                <a:solidFill>
                  <a:srgbClr val="C87D09"/>
                </a:solidFill>
                <a:latin typeface="Verdana"/>
                <a:cs typeface="Verdana"/>
              </a:rPr>
              <a:t>OBJECTI</a:t>
            </a:r>
            <a:r>
              <a:rPr dirty="0" sz="1050" spc="-19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1050" spc="-25" b="1">
                <a:solidFill>
                  <a:srgbClr val="C87D09"/>
                </a:solidFill>
                <a:latin typeface="Verdana"/>
                <a:cs typeface="Verdana"/>
              </a:rPr>
              <a:t>VES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227841" y="6501570"/>
            <a:ext cx="369570" cy="128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850" spc="-50" b="1">
                <a:solidFill>
                  <a:srgbClr val="B3BAC6"/>
                </a:solidFill>
                <a:latin typeface="Verdana"/>
                <a:cs typeface="Verdana"/>
              </a:rPr>
              <a:t>03</a:t>
            </a:r>
            <a:r>
              <a:rPr dirty="0" sz="850" spc="-110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B3BAC6"/>
                </a:solidFill>
                <a:latin typeface="Verdana"/>
                <a:cs typeface="Verdana"/>
              </a:rPr>
              <a:t>/</a:t>
            </a:r>
            <a:r>
              <a:rPr dirty="0" sz="850" spc="-120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114" b="1">
                <a:solidFill>
                  <a:srgbClr val="B3BAC6"/>
                </a:solidFill>
                <a:latin typeface="Verdana"/>
                <a:cs typeface="Verdana"/>
              </a:rPr>
              <a:t>15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6416674" y="3673475"/>
            <a:ext cx="14922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solidFill>
                  <a:srgbClr val="0086A7"/>
                </a:solidFill>
                <a:latin typeface="Arial MT"/>
                <a:cs typeface="Arial MT"/>
              </a:rPr>
              <a:t>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35749" y="3629493"/>
            <a:ext cx="406971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607189"/>
                </a:solidFill>
                <a:latin typeface="Microsoft Sans Serif"/>
                <a:cs typeface="Microsoft Sans Serif"/>
              </a:rPr>
              <a:t>Establish</a:t>
            </a:r>
            <a:r>
              <a:rPr dirty="0" sz="1000" spc="5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a</a:t>
            </a:r>
            <a:r>
              <a:rPr dirty="0" sz="1000" spc="6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credible</a:t>
            </a:r>
            <a:r>
              <a:rPr dirty="0" sz="1000" spc="3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weekly-mileage</a:t>
            </a:r>
            <a:r>
              <a:rPr dirty="0" sz="1000" spc="4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baseline</a:t>
            </a:r>
            <a:r>
              <a:rPr dirty="0" sz="1000" spc="3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80">
                <a:solidFill>
                  <a:srgbClr val="607189"/>
                </a:solidFill>
                <a:latin typeface="Microsoft Sans Serif"/>
                <a:cs typeface="Microsoft Sans Serif"/>
              </a:rPr>
              <a:t>(Q1)</a:t>
            </a:r>
            <a:r>
              <a:rPr dirty="0" sz="1000" spc="6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for</a:t>
            </a:r>
            <a:r>
              <a:rPr dirty="0" sz="1000" spc="4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607189"/>
                </a:solidFill>
                <a:latin typeface="Microsoft Sans Serif"/>
                <a:cs typeface="Microsoft Sans Serif"/>
              </a:rPr>
              <a:t>MAD</a:t>
            </a:r>
            <a:r>
              <a:rPr dirty="0" sz="1000" spc="3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607189"/>
                </a:solidFill>
                <a:latin typeface="Microsoft Sans Serif"/>
                <a:cs typeface="Microsoft Sans Serif"/>
              </a:rPr>
              <a:t>negotiations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16674" y="3949700"/>
            <a:ext cx="14922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solidFill>
                  <a:srgbClr val="0086A7"/>
                </a:solidFill>
                <a:latin typeface="Arial MT"/>
                <a:cs typeface="Arial MT"/>
              </a:rPr>
              <a:t>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35749" y="3915243"/>
            <a:ext cx="3500120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Quantify</a:t>
            </a:r>
            <a:r>
              <a:rPr dirty="0" sz="1000" spc="6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the</a:t>
            </a:r>
            <a:r>
              <a:rPr dirty="0" sz="1000" spc="11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cost</a:t>
            </a:r>
            <a:r>
              <a:rPr dirty="0" sz="1000" spc="13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penalty</a:t>
            </a:r>
            <a:r>
              <a:rPr dirty="0" sz="1000" spc="7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of</a:t>
            </a:r>
            <a:r>
              <a:rPr dirty="0" sz="1000" spc="12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introducing</a:t>
            </a:r>
            <a:r>
              <a:rPr dirty="0" sz="1000" spc="8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Straight</a:t>
            </a:r>
            <a:r>
              <a:rPr dirty="0" sz="1000" spc="13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607189"/>
                </a:solidFill>
                <a:latin typeface="Microsoft Sans Serif"/>
                <a:cs typeface="Microsoft Sans Serif"/>
              </a:rPr>
              <a:t>Trucks</a:t>
            </a:r>
            <a:r>
              <a:rPr dirty="0" sz="1000" spc="13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607189"/>
                </a:solidFill>
                <a:latin typeface="Microsoft Sans Serif"/>
                <a:cs typeface="Microsoft Sans Serif"/>
              </a:rPr>
              <a:t>(Q2)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16674" y="4235450"/>
            <a:ext cx="14922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solidFill>
                  <a:srgbClr val="0086A7"/>
                </a:solidFill>
                <a:latin typeface="Arial MT"/>
                <a:cs typeface="Arial MT"/>
              </a:rPr>
              <a:t>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635749" y="4191468"/>
            <a:ext cx="313372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Measure</a:t>
            </a:r>
            <a:r>
              <a:rPr dirty="0" sz="1000" spc="4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607189"/>
                </a:solidFill>
                <a:latin typeface="Microsoft Sans Serif"/>
                <a:cs typeface="Microsoft Sans Serif"/>
              </a:rPr>
              <a:t>savings</a:t>
            </a:r>
            <a:r>
              <a:rPr dirty="0" sz="1000" spc="6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from</a:t>
            </a:r>
            <a:r>
              <a:rPr dirty="0" sz="1000" spc="3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flexible</a:t>
            </a:r>
            <a:r>
              <a:rPr dirty="0" sz="1000" spc="4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delivery</a:t>
            </a:r>
            <a:r>
              <a:rPr dirty="0" sz="1000" spc="1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scheduling</a:t>
            </a:r>
            <a:r>
              <a:rPr dirty="0" sz="1000" spc="2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607189"/>
                </a:solidFill>
                <a:latin typeface="Microsoft Sans Serif"/>
                <a:cs typeface="Microsoft Sans Serif"/>
              </a:rPr>
              <a:t>(Q3)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16674" y="4511675"/>
            <a:ext cx="14922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solidFill>
                  <a:srgbClr val="0086A7"/>
                </a:solidFill>
                <a:latin typeface="Arial MT"/>
                <a:cs typeface="Arial MT"/>
              </a:rPr>
              <a:t>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35749" y="4477218"/>
            <a:ext cx="371157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Identify</a:t>
            </a:r>
            <a:r>
              <a:rPr dirty="0" sz="1000" spc="2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maximum</a:t>
            </a:r>
            <a:r>
              <a:rPr dirty="0" sz="1000" spc="4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negotiating</a:t>
            </a:r>
            <a:r>
              <a:rPr dirty="0" sz="1000" spc="3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upside</a:t>
            </a:r>
            <a:r>
              <a:rPr dirty="0" sz="1000" spc="6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for</a:t>
            </a:r>
            <a:r>
              <a:rPr dirty="0" sz="1000" spc="6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5">
                <a:solidFill>
                  <a:srgbClr val="607189"/>
                </a:solidFill>
                <a:latin typeface="Microsoft Sans Serif"/>
                <a:cs typeface="Microsoft Sans Serif"/>
              </a:rPr>
              <a:t>NHG</a:t>
            </a:r>
            <a:r>
              <a:rPr dirty="0" sz="1000" spc="5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607189"/>
                </a:solidFill>
                <a:latin typeface="Microsoft Sans Serif"/>
                <a:cs typeface="Microsoft Sans Serif"/>
              </a:rPr>
              <a:t>vs</a:t>
            </a:r>
            <a:r>
              <a:rPr dirty="0" sz="1000" spc="8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0">
                <a:solidFill>
                  <a:srgbClr val="607189"/>
                </a:solidFill>
                <a:latin typeface="Microsoft Sans Serif"/>
                <a:cs typeface="Microsoft Sans Serif"/>
              </a:rPr>
              <a:t>MAD's</a:t>
            </a:r>
            <a:r>
              <a:rPr dirty="0" sz="1000" spc="7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607189"/>
                </a:solidFill>
                <a:latin typeface="Microsoft Sans Serif"/>
                <a:cs typeface="Microsoft Sans Serif"/>
              </a:rPr>
              <a:t>proposal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49705"/>
              <a:ext cx="6100318" cy="590829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283455"/>
              <a:ext cx="6100318" cy="257454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96899" y="475299"/>
            <a:ext cx="151003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M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5" b="1">
                <a:solidFill>
                  <a:srgbClr val="C87D09"/>
                </a:solidFill>
                <a:latin typeface="Verdana"/>
                <a:cs typeface="Verdana"/>
              </a:rPr>
              <a:t>D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L</a:t>
            </a:r>
            <a:r>
              <a:rPr dirty="0" sz="800" spc="29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P</a:t>
            </a:r>
            <a:r>
              <a:rPr dirty="0" sz="800" spc="-114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M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sz="800" spc="-9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96899" y="461029"/>
            <a:ext cx="5062855" cy="912494"/>
          </a:xfrm>
          <a:prstGeom prst="rect"/>
        </p:spPr>
        <p:txBody>
          <a:bodyPr wrap="square" lIns="0" tIns="196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3150" spc="-285"/>
              <a:t>Operational</a:t>
            </a:r>
            <a:r>
              <a:rPr dirty="0" sz="3150" spc="-355"/>
              <a:t> </a:t>
            </a:r>
            <a:r>
              <a:rPr dirty="0" sz="3150" spc="-265"/>
              <a:t>Constraints</a:t>
            </a:r>
            <a:endParaRPr sz="3150"/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05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All</a:t>
            </a:r>
            <a:r>
              <a:rPr dirty="0" sz="1050" spc="8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routes</a:t>
            </a:r>
            <a:r>
              <a:rPr dirty="0" sz="105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must</a:t>
            </a:r>
            <a:r>
              <a:rPr dirty="0" sz="105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satisfy</a:t>
            </a:r>
            <a:r>
              <a:rPr dirty="0" sz="105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these</a:t>
            </a:r>
            <a:r>
              <a:rPr dirty="0" sz="1050" spc="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constraints</a:t>
            </a:r>
            <a:r>
              <a:rPr dirty="0" sz="105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every</a:t>
            </a:r>
            <a:r>
              <a:rPr dirty="0" sz="105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construction</a:t>
            </a:r>
            <a:r>
              <a:rPr dirty="0" sz="105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4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6E7D93"/>
                </a:solidFill>
                <a:latin typeface="Microsoft Sans Serif"/>
                <a:cs typeface="Microsoft Sans Serif"/>
              </a:rPr>
              <a:t>improvement</a:t>
            </a:r>
            <a:r>
              <a:rPr dirty="0" sz="105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step.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9599" y="1657349"/>
            <a:ext cx="3543300" cy="2266950"/>
            <a:chOff x="609599" y="1657349"/>
            <a:chExt cx="3543300" cy="2266950"/>
          </a:xfrm>
        </p:grpSpPr>
        <p:sp>
          <p:nvSpPr>
            <p:cNvPr id="9" name="object 9"/>
            <p:cNvSpPr/>
            <p:nvPr/>
          </p:nvSpPr>
          <p:spPr>
            <a:xfrm>
              <a:off x="609599" y="1657349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9" y="2256799"/>
                  </a:lnTo>
                  <a:lnTo>
                    <a:pt x="48794" y="2236732"/>
                  </a:lnTo>
                  <a:lnTo>
                    <a:pt x="22452" y="2207698"/>
                  </a:lnTo>
                  <a:lnTo>
                    <a:pt x="5709" y="2172250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48601" y="5709"/>
                  </a:lnTo>
                  <a:lnTo>
                    <a:pt x="3484048" y="22452"/>
                  </a:lnTo>
                  <a:lnTo>
                    <a:pt x="3513082" y="48794"/>
                  </a:lnTo>
                  <a:lnTo>
                    <a:pt x="3533148" y="82319"/>
                  </a:lnTo>
                  <a:lnTo>
                    <a:pt x="3542665" y="120213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37589" y="2172250"/>
                  </a:lnTo>
                  <a:lnTo>
                    <a:pt x="3520846" y="2207698"/>
                  </a:lnTo>
                  <a:lnTo>
                    <a:pt x="3494504" y="2236732"/>
                  </a:lnTo>
                  <a:lnTo>
                    <a:pt x="3460979" y="2256799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09599" y="1657350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9" y="2256799"/>
                  </a:lnTo>
                  <a:lnTo>
                    <a:pt x="48794" y="2236732"/>
                  </a:lnTo>
                  <a:lnTo>
                    <a:pt x="22452" y="2207698"/>
                  </a:lnTo>
                  <a:lnTo>
                    <a:pt x="5709" y="2172251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23086" y="634"/>
                  </a:lnTo>
                  <a:lnTo>
                    <a:pt x="3435970" y="2537"/>
                  </a:lnTo>
                  <a:lnTo>
                    <a:pt x="3448601" y="5709"/>
                  </a:lnTo>
                  <a:lnTo>
                    <a:pt x="3459236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141730"/>
                  </a:lnTo>
                  <a:lnTo>
                    <a:pt x="22061" y="2188496"/>
                  </a:lnTo>
                  <a:lnTo>
                    <a:pt x="51541" y="2226906"/>
                  </a:lnTo>
                  <a:lnTo>
                    <a:pt x="93475" y="2251110"/>
                  </a:lnTo>
                  <a:lnTo>
                    <a:pt x="125219" y="2257424"/>
                  </a:lnTo>
                  <a:lnTo>
                    <a:pt x="3459236" y="2257424"/>
                  </a:lnTo>
                  <a:lnTo>
                    <a:pt x="3448601" y="2261239"/>
                  </a:lnTo>
                  <a:lnTo>
                    <a:pt x="3435969" y="2264411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  <a:path w="3543300" h="2266950">
                  <a:moveTo>
                    <a:pt x="3459236" y="2257424"/>
                  </a:moveTo>
                  <a:lnTo>
                    <a:pt x="3418080" y="2257424"/>
                  </a:lnTo>
                  <a:lnTo>
                    <a:pt x="3426132" y="2256631"/>
                  </a:lnTo>
                  <a:lnTo>
                    <a:pt x="3442080" y="2253459"/>
                  </a:lnTo>
                  <a:lnTo>
                    <a:pt x="3485503" y="2232039"/>
                  </a:lnTo>
                  <a:lnTo>
                    <a:pt x="3517423" y="2195632"/>
                  </a:lnTo>
                  <a:lnTo>
                    <a:pt x="3532982" y="2149782"/>
                  </a:lnTo>
                  <a:lnTo>
                    <a:pt x="3533775" y="2141730"/>
                  </a:lnTo>
                  <a:lnTo>
                    <a:pt x="3533775" y="125219"/>
                  </a:lnTo>
                  <a:lnTo>
                    <a:pt x="3521237" y="78452"/>
                  </a:lnTo>
                  <a:lnTo>
                    <a:pt x="3491758" y="40043"/>
                  </a:lnTo>
                  <a:lnTo>
                    <a:pt x="3449574" y="15763"/>
                  </a:lnTo>
                  <a:lnTo>
                    <a:pt x="3418080" y="9524"/>
                  </a:lnTo>
                  <a:lnTo>
                    <a:pt x="3459236" y="9524"/>
                  </a:lnTo>
                  <a:lnTo>
                    <a:pt x="3494505" y="30217"/>
                  </a:lnTo>
                  <a:lnTo>
                    <a:pt x="3520846" y="59250"/>
                  </a:lnTo>
                  <a:lnTo>
                    <a:pt x="3537589" y="94698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42665" y="2146735"/>
                  </a:lnTo>
                  <a:lnTo>
                    <a:pt x="3533149" y="2184630"/>
                  </a:lnTo>
                  <a:lnTo>
                    <a:pt x="3513082" y="2218154"/>
                  </a:lnTo>
                  <a:lnTo>
                    <a:pt x="3484048" y="2244496"/>
                  </a:lnTo>
                  <a:lnTo>
                    <a:pt x="3460980" y="2256799"/>
                  </a:lnTo>
                  <a:lnTo>
                    <a:pt x="3459236" y="225742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47724" y="1895476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30104" y="419098"/>
                  </a:moveTo>
                  <a:lnTo>
                    <a:pt x="88995" y="419098"/>
                  </a:lnTo>
                  <a:lnTo>
                    <a:pt x="82801" y="418486"/>
                  </a:lnTo>
                  <a:lnTo>
                    <a:pt x="37131" y="399568"/>
                  </a:lnTo>
                  <a:lnTo>
                    <a:pt x="9643" y="366075"/>
                  </a:lnTo>
                  <a:lnTo>
                    <a:pt x="0" y="330101"/>
                  </a:lnTo>
                  <a:lnTo>
                    <a:pt x="0" y="323848"/>
                  </a:lnTo>
                  <a:lnTo>
                    <a:pt x="0" y="88993"/>
                  </a:lnTo>
                  <a:lnTo>
                    <a:pt x="12577" y="47529"/>
                  </a:lnTo>
                  <a:lnTo>
                    <a:pt x="47531" y="12572"/>
                  </a:lnTo>
                  <a:lnTo>
                    <a:pt x="88995" y="0"/>
                  </a:lnTo>
                  <a:lnTo>
                    <a:pt x="330104" y="0"/>
                  </a:lnTo>
                  <a:lnTo>
                    <a:pt x="371567" y="12572"/>
                  </a:lnTo>
                  <a:lnTo>
                    <a:pt x="406521" y="47529"/>
                  </a:lnTo>
                  <a:lnTo>
                    <a:pt x="419099" y="88993"/>
                  </a:lnTo>
                  <a:lnTo>
                    <a:pt x="419099" y="330101"/>
                  </a:lnTo>
                  <a:lnTo>
                    <a:pt x="406521" y="371563"/>
                  </a:lnTo>
                  <a:lnTo>
                    <a:pt x="371567" y="406517"/>
                  </a:lnTo>
                  <a:lnTo>
                    <a:pt x="336298" y="418486"/>
                  </a:lnTo>
                  <a:lnTo>
                    <a:pt x="330104" y="419098"/>
                  </a:lnTo>
                  <a:close/>
                </a:path>
              </a:pathLst>
            </a:custGeom>
            <a:solidFill>
              <a:srgbClr val="C77D09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39800" y="1978025"/>
            <a:ext cx="2349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0">
                <a:solidFill>
                  <a:srgbClr val="C87D09"/>
                </a:solidFill>
                <a:latin typeface="Arial MT"/>
                <a:cs typeface="Arial MT"/>
              </a:rPr>
              <a:t>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5024" y="2441560"/>
            <a:ext cx="119253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Vehicle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60" b="1">
                <a:solidFill>
                  <a:srgbClr val="1B3258"/>
                </a:solidFill>
                <a:latin typeface="Verdana"/>
                <a:cs typeface="Verdana"/>
              </a:rPr>
              <a:t>Capacit</a:t>
            </a:r>
            <a:r>
              <a:rPr dirty="0" sz="1100" spc="-60" b="1">
                <a:solidFill>
                  <a:srgbClr val="1B3258"/>
                </a:solidFill>
                <a:latin typeface="Verdana"/>
                <a:cs typeface="Verdana"/>
              </a:rPr>
              <a:t>y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5025" y="2730488"/>
            <a:ext cx="1767839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90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105">
                <a:solidFill>
                  <a:srgbClr val="6E7D93"/>
                </a:solidFill>
                <a:latin typeface="Microsoft Sans Serif"/>
                <a:cs typeface="Microsoft Sans Serif"/>
              </a:rPr>
              <a:t>Van:</a:t>
            </a:r>
            <a:r>
              <a:rPr dirty="0" sz="1050" spc="1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6E7D93"/>
                </a:solidFill>
                <a:latin typeface="Microsoft Sans Serif"/>
                <a:cs typeface="Microsoft Sans Serif"/>
              </a:rPr>
              <a:t>max</a:t>
            </a:r>
            <a:r>
              <a:rPr dirty="0" sz="1050" spc="-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3,200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ft³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per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route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025" y="3025763"/>
            <a:ext cx="230060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90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Straight</a:t>
            </a:r>
            <a:r>
              <a:rPr dirty="0" sz="1050" spc="-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5">
                <a:solidFill>
                  <a:srgbClr val="6E7D93"/>
                </a:solidFill>
                <a:latin typeface="Microsoft Sans Serif"/>
                <a:cs typeface="Microsoft Sans Serif"/>
              </a:rPr>
              <a:t>Truck:</a:t>
            </a:r>
            <a:r>
              <a:rPr dirty="0" sz="1050" spc="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6E7D93"/>
                </a:solidFill>
                <a:latin typeface="Microsoft Sans Serif"/>
                <a:cs typeface="Microsoft Sans Serif"/>
              </a:rPr>
              <a:t>max</a:t>
            </a:r>
            <a:r>
              <a:rPr dirty="0" sz="1050" spc="-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6E7D93"/>
                </a:solidFill>
                <a:latin typeface="Microsoft Sans Serif"/>
                <a:cs typeface="Microsoft Sans Serif"/>
              </a:rPr>
              <a:t>1,400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ft³</a:t>
            </a:r>
            <a:r>
              <a:rPr dirty="0" sz="1050" spc="-1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per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route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5025" y="3311512"/>
            <a:ext cx="282638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70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85">
                <a:solidFill>
                  <a:srgbClr val="6E7D93"/>
                </a:solidFill>
                <a:latin typeface="Microsoft Sans Serif"/>
                <a:cs typeface="Microsoft Sans Serif"/>
              </a:rPr>
              <a:t>No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partial</a:t>
            </a:r>
            <a:r>
              <a:rPr dirty="0" sz="1050" spc="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6E7D93"/>
                </a:solidFill>
                <a:latin typeface="Microsoft Sans Serif"/>
                <a:cs typeface="Microsoft Sans Serif"/>
              </a:rPr>
              <a:t>loads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6E7D93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total</a:t>
            </a:r>
            <a:r>
              <a:rPr dirty="0" sz="1050" spc="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cube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must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fit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on-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board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24349" y="1657349"/>
            <a:ext cx="3543300" cy="2266950"/>
            <a:chOff x="4324349" y="1657349"/>
            <a:chExt cx="3543300" cy="2266950"/>
          </a:xfrm>
        </p:grpSpPr>
        <p:sp>
          <p:nvSpPr>
            <p:cNvPr id="18" name="object 18"/>
            <p:cNvSpPr/>
            <p:nvPr/>
          </p:nvSpPr>
          <p:spPr>
            <a:xfrm>
              <a:off x="4324349" y="1657349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8" y="2256799"/>
                  </a:lnTo>
                  <a:lnTo>
                    <a:pt x="48794" y="2236732"/>
                  </a:lnTo>
                  <a:lnTo>
                    <a:pt x="22452" y="2207698"/>
                  </a:lnTo>
                  <a:lnTo>
                    <a:pt x="5709" y="2172250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48601" y="5709"/>
                  </a:lnTo>
                  <a:lnTo>
                    <a:pt x="3484048" y="22452"/>
                  </a:lnTo>
                  <a:lnTo>
                    <a:pt x="3513082" y="48794"/>
                  </a:lnTo>
                  <a:lnTo>
                    <a:pt x="3533148" y="82319"/>
                  </a:lnTo>
                  <a:lnTo>
                    <a:pt x="3542664" y="120213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37588" y="2172250"/>
                  </a:lnTo>
                  <a:lnTo>
                    <a:pt x="3520846" y="2207698"/>
                  </a:lnTo>
                  <a:lnTo>
                    <a:pt x="3494504" y="2236732"/>
                  </a:lnTo>
                  <a:lnTo>
                    <a:pt x="3460979" y="2256799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24349" y="1657350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8" y="2256799"/>
                  </a:lnTo>
                  <a:lnTo>
                    <a:pt x="48794" y="2236732"/>
                  </a:lnTo>
                  <a:lnTo>
                    <a:pt x="22452" y="2207698"/>
                  </a:lnTo>
                  <a:lnTo>
                    <a:pt x="5709" y="2172251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23086" y="634"/>
                  </a:lnTo>
                  <a:lnTo>
                    <a:pt x="3435970" y="2537"/>
                  </a:lnTo>
                  <a:lnTo>
                    <a:pt x="3448601" y="5709"/>
                  </a:lnTo>
                  <a:lnTo>
                    <a:pt x="3459236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141730"/>
                  </a:lnTo>
                  <a:lnTo>
                    <a:pt x="22061" y="2188496"/>
                  </a:lnTo>
                  <a:lnTo>
                    <a:pt x="51541" y="2226906"/>
                  </a:lnTo>
                  <a:lnTo>
                    <a:pt x="93475" y="2251110"/>
                  </a:lnTo>
                  <a:lnTo>
                    <a:pt x="125219" y="2257424"/>
                  </a:lnTo>
                  <a:lnTo>
                    <a:pt x="3459236" y="2257424"/>
                  </a:lnTo>
                  <a:lnTo>
                    <a:pt x="3448601" y="2261239"/>
                  </a:lnTo>
                  <a:lnTo>
                    <a:pt x="3435969" y="2264411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  <a:path w="3543300" h="2266950">
                  <a:moveTo>
                    <a:pt x="3459236" y="2257424"/>
                  </a:moveTo>
                  <a:lnTo>
                    <a:pt x="3418079" y="2257424"/>
                  </a:lnTo>
                  <a:lnTo>
                    <a:pt x="3426132" y="2256631"/>
                  </a:lnTo>
                  <a:lnTo>
                    <a:pt x="3442080" y="2253459"/>
                  </a:lnTo>
                  <a:lnTo>
                    <a:pt x="3485503" y="2232039"/>
                  </a:lnTo>
                  <a:lnTo>
                    <a:pt x="3517423" y="2195632"/>
                  </a:lnTo>
                  <a:lnTo>
                    <a:pt x="3532981" y="2149782"/>
                  </a:lnTo>
                  <a:lnTo>
                    <a:pt x="3533774" y="2141730"/>
                  </a:lnTo>
                  <a:lnTo>
                    <a:pt x="3533774" y="125219"/>
                  </a:lnTo>
                  <a:lnTo>
                    <a:pt x="3521237" y="78452"/>
                  </a:lnTo>
                  <a:lnTo>
                    <a:pt x="3491758" y="40043"/>
                  </a:lnTo>
                  <a:lnTo>
                    <a:pt x="3449575" y="15763"/>
                  </a:lnTo>
                  <a:lnTo>
                    <a:pt x="3418079" y="9524"/>
                  </a:lnTo>
                  <a:lnTo>
                    <a:pt x="3459236" y="9524"/>
                  </a:lnTo>
                  <a:lnTo>
                    <a:pt x="3494504" y="30217"/>
                  </a:lnTo>
                  <a:lnTo>
                    <a:pt x="3520846" y="59250"/>
                  </a:lnTo>
                  <a:lnTo>
                    <a:pt x="3537588" y="94698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42664" y="2146735"/>
                  </a:lnTo>
                  <a:lnTo>
                    <a:pt x="3533148" y="2184630"/>
                  </a:lnTo>
                  <a:lnTo>
                    <a:pt x="3513082" y="2218154"/>
                  </a:lnTo>
                  <a:lnTo>
                    <a:pt x="3484048" y="2244496"/>
                  </a:lnTo>
                  <a:lnTo>
                    <a:pt x="3460980" y="2256799"/>
                  </a:lnTo>
                  <a:lnTo>
                    <a:pt x="3459236" y="225742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562474" y="1895476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30104" y="419098"/>
                  </a:moveTo>
                  <a:lnTo>
                    <a:pt x="88995" y="419098"/>
                  </a:lnTo>
                  <a:lnTo>
                    <a:pt x="82801" y="418486"/>
                  </a:lnTo>
                  <a:lnTo>
                    <a:pt x="37130" y="399568"/>
                  </a:lnTo>
                  <a:lnTo>
                    <a:pt x="9643" y="366075"/>
                  </a:lnTo>
                  <a:lnTo>
                    <a:pt x="0" y="330101"/>
                  </a:lnTo>
                  <a:lnTo>
                    <a:pt x="0" y="323848"/>
                  </a:lnTo>
                  <a:lnTo>
                    <a:pt x="0" y="88993"/>
                  </a:lnTo>
                  <a:lnTo>
                    <a:pt x="12577" y="47529"/>
                  </a:lnTo>
                  <a:lnTo>
                    <a:pt x="47531" y="12572"/>
                  </a:lnTo>
                  <a:lnTo>
                    <a:pt x="88995" y="0"/>
                  </a:lnTo>
                  <a:lnTo>
                    <a:pt x="330104" y="0"/>
                  </a:lnTo>
                  <a:lnTo>
                    <a:pt x="371566" y="12572"/>
                  </a:lnTo>
                  <a:lnTo>
                    <a:pt x="406521" y="47529"/>
                  </a:lnTo>
                  <a:lnTo>
                    <a:pt x="419099" y="88993"/>
                  </a:lnTo>
                  <a:lnTo>
                    <a:pt x="419099" y="330101"/>
                  </a:lnTo>
                  <a:lnTo>
                    <a:pt x="406521" y="371563"/>
                  </a:lnTo>
                  <a:lnTo>
                    <a:pt x="371567" y="406517"/>
                  </a:lnTo>
                  <a:lnTo>
                    <a:pt x="336298" y="418486"/>
                  </a:lnTo>
                  <a:lnTo>
                    <a:pt x="330104" y="419098"/>
                  </a:lnTo>
                  <a:close/>
                </a:path>
              </a:pathLst>
            </a:custGeom>
            <a:solidFill>
              <a:srgbClr val="C77D09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654549" y="1978025"/>
            <a:ext cx="2349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0">
                <a:solidFill>
                  <a:srgbClr val="C87D09"/>
                </a:solidFill>
                <a:latin typeface="Arial MT"/>
                <a:cs typeface="Arial MT"/>
              </a:rPr>
              <a:t>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49774" y="2441560"/>
            <a:ext cx="14859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DOT</a:t>
            </a:r>
            <a:r>
              <a:rPr dirty="0" sz="1150" spc="-19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Ho</a:t>
            </a:r>
            <a:r>
              <a:rPr dirty="0" sz="1100" spc="-120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rs</a:t>
            </a:r>
            <a:r>
              <a:rPr dirty="0" sz="1150" spc="-17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75" b="1">
                <a:solidFill>
                  <a:srgbClr val="1B3258"/>
                </a:solidFill>
                <a:latin typeface="Verdana"/>
                <a:cs typeface="Verdana"/>
              </a:rPr>
              <a:t>of</a:t>
            </a:r>
            <a:r>
              <a:rPr dirty="0" sz="1150" spc="-17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70" b="1">
                <a:solidFill>
                  <a:srgbClr val="1B3258"/>
                </a:solidFill>
                <a:latin typeface="Verdana"/>
                <a:cs typeface="Verdana"/>
              </a:rPr>
              <a:t>Ser</a:t>
            </a:r>
            <a:r>
              <a:rPr dirty="0" sz="1100" spc="-70" b="1">
                <a:solidFill>
                  <a:srgbClr val="1B3258"/>
                </a:solidFill>
                <a:latin typeface="Verdana"/>
                <a:cs typeface="Verdana"/>
              </a:rPr>
              <a:t>v</a:t>
            </a:r>
            <a:r>
              <a:rPr dirty="0" sz="1150" spc="-70" b="1">
                <a:solidFill>
                  <a:srgbClr val="1B3258"/>
                </a:solidFill>
                <a:latin typeface="Verdana"/>
                <a:cs typeface="Verdana"/>
              </a:rPr>
              <a:t>ice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49775" y="2730488"/>
            <a:ext cx="182372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70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50">
                <a:solidFill>
                  <a:srgbClr val="6E7D93"/>
                </a:solidFill>
                <a:latin typeface="Microsoft Sans Serif"/>
                <a:cs typeface="Microsoft Sans Serif"/>
              </a:rPr>
              <a:t>Drive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time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175">
                <a:solidFill>
                  <a:srgbClr val="6E7D93"/>
                </a:solidFill>
                <a:latin typeface="Comic Sans MS"/>
                <a:cs typeface="Comic Sans MS"/>
              </a:rPr>
              <a:t>≤</a:t>
            </a:r>
            <a:r>
              <a:rPr dirty="0" sz="900" spc="-20">
                <a:solidFill>
                  <a:srgbClr val="6E7D93"/>
                </a:solidFill>
                <a:latin typeface="Comic Sans MS"/>
                <a:cs typeface="Comic Sans MS"/>
              </a:rPr>
              <a:t> </a:t>
            </a:r>
            <a:r>
              <a:rPr dirty="0" sz="1050" spc="-325">
                <a:solidFill>
                  <a:srgbClr val="6E7D93"/>
                </a:solidFill>
                <a:latin typeface="Microsoft Sans Serif"/>
                <a:cs typeface="Microsoft Sans Serif"/>
              </a:rPr>
              <a:t>11</a:t>
            </a:r>
            <a:r>
              <a:rPr dirty="0" sz="1050" spc="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6E7D93"/>
                </a:solidFill>
                <a:latin typeface="Microsoft Sans Serif"/>
                <a:cs typeface="Microsoft Sans Serif"/>
              </a:rPr>
              <a:t>hours</a:t>
            </a:r>
            <a:r>
              <a:rPr dirty="0" sz="1050" spc="-1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per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shift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49775" y="3025763"/>
            <a:ext cx="205740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90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On-duty</a:t>
            </a:r>
            <a:r>
              <a:rPr dirty="0" sz="1050" spc="-5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time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175">
                <a:solidFill>
                  <a:srgbClr val="6E7D93"/>
                </a:solidFill>
                <a:latin typeface="Comic Sans MS"/>
                <a:cs typeface="Comic Sans MS"/>
              </a:rPr>
              <a:t>≤</a:t>
            </a:r>
            <a:r>
              <a:rPr dirty="0" sz="900" spc="-10">
                <a:solidFill>
                  <a:srgbClr val="6E7D93"/>
                </a:solidFill>
                <a:latin typeface="Comic Sans MS"/>
                <a:cs typeface="Comic Sans MS"/>
              </a:rPr>
              <a:t> </a:t>
            </a:r>
            <a:r>
              <a:rPr dirty="0" sz="1050" spc="-155">
                <a:solidFill>
                  <a:srgbClr val="6E7D93"/>
                </a:solidFill>
                <a:latin typeface="Microsoft Sans Serif"/>
                <a:cs typeface="Microsoft Sans Serif"/>
              </a:rPr>
              <a:t>14</a:t>
            </a:r>
            <a:r>
              <a:rPr dirty="0" sz="1050" spc="-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6E7D93"/>
                </a:solidFill>
                <a:latin typeface="Microsoft Sans Serif"/>
                <a:cs typeface="Microsoft Sans Serif"/>
              </a:rPr>
              <a:t>hours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per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shift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49775" y="3311512"/>
            <a:ext cx="256286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425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40">
                <a:solidFill>
                  <a:srgbClr val="6E7D93"/>
                </a:solidFill>
                <a:latin typeface="Microsoft Sans Serif"/>
                <a:cs typeface="Microsoft Sans Serif"/>
              </a:rPr>
              <a:t>Mandatory 10-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hour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6E7D93"/>
                </a:solidFill>
                <a:latin typeface="Microsoft Sans Serif"/>
                <a:cs typeface="Microsoft Sans Serif"/>
              </a:rPr>
              <a:t>break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before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next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shift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039099" y="1657349"/>
            <a:ext cx="3543300" cy="2266950"/>
            <a:chOff x="8039099" y="1657349"/>
            <a:chExt cx="3543300" cy="2266950"/>
          </a:xfrm>
        </p:grpSpPr>
        <p:sp>
          <p:nvSpPr>
            <p:cNvPr id="27" name="object 27"/>
            <p:cNvSpPr/>
            <p:nvPr/>
          </p:nvSpPr>
          <p:spPr>
            <a:xfrm>
              <a:off x="8039099" y="1657349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8" y="2256799"/>
                  </a:lnTo>
                  <a:lnTo>
                    <a:pt x="48794" y="2236732"/>
                  </a:lnTo>
                  <a:lnTo>
                    <a:pt x="22451" y="2207698"/>
                  </a:lnTo>
                  <a:lnTo>
                    <a:pt x="5709" y="2172250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48600" y="5709"/>
                  </a:lnTo>
                  <a:lnTo>
                    <a:pt x="3484047" y="22452"/>
                  </a:lnTo>
                  <a:lnTo>
                    <a:pt x="3513081" y="48794"/>
                  </a:lnTo>
                  <a:lnTo>
                    <a:pt x="3533147" y="82319"/>
                  </a:lnTo>
                  <a:lnTo>
                    <a:pt x="3542664" y="120213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37588" y="2172250"/>
                  </a:lnTo>
                  <a:lnTo>
                    <a:pt x="3520845" y="2207698"/>
                  </a:lnTo>
                  <a:lnTo>
                    <a:pt x="3494504" y="2236732"/>
                  </a:lnTo>
                  <a:lnTo>
                    <a:pt x="3460979" y="2256799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039099" y="1657350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8" y="2256799"/>
                  </a:lnTo>
                  <a:lnTo>
                    <a:pt x="48794" y="2236732"/>
                  </a:lnTo>
                  <a:lnTo>
                    <a:pt x="22451" y="2207698"/>
                  </a:lnTo>
                  <a:lnTo>
                    <a:pt x="5709" y="2172251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23085" y="634"/>
                  </a:lnTo>
                  <a:lnTo>
                    <a:pt x="3435969" y="2537"/>
                  </a:lnTo>
                  <a:lnTo>
                    <a:pt x="3448600" y="5709"/>
                  </a:lnTo>
                  <a:lnTo>
                    <a:pt x="3459234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141730"/>
                  </a:lnTo>
                  <a:lnTo>
                    <a:pt x="22061" y="2188496"/>
                  </a:lnTo>
                  <a:lnTo>
                    <a:pt x="51541" y="2226906"/>
                  </a:lnTo>
                  <a:lnTo>
                    <a:pt x="93475" y="2251110"/>
                  </a:lnTo>
                  <a:lnTo>
                    <a:pt x="125219" y="2257424"/>
                  </a:lnTo>
                  <a:lnTo>
                    <a:pt x="3459235" y="2257424"/>
                  </a:lnTo>
                  <a:lnTo>
                    <a:pt x="3448600" y="2261239"/>
                  </a:lnTo>
                  <a:lnTo>
                    <a:pt x="3435968" y="2264411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  <a:path w="3543300" h="2266950">
                  <a:moveTo>
                    <a:pt x="3459235" y="2257424"/>
                  </a:moveTo>
                  <a:lnTo>
                    <a:pt x="3418080" y="2257424"/>
                  </a:lnTo>
                  <a:lnTo>
                    <a:pt x="3426132" y="2256631"/>
                  </a:lnTo>
                  <a:lnTo>
                    <a:pt x="3442080" y="2253459"/>
                  </a:lnTo>
                  <a:lnTo>
                    <a:pt x="3485503" y="2232039"/>
                  </a:lnTo>
                  <a:lnTo>
                    <a:pt x="3517423" y="2195632"/>
                  </a:lnTo>
                  <a:lnTo>
                    <a:pt x="3532981" y="2149782"/>
                  </a:lnTo>
                  <a:lnTo>
                    <a:pt x="3533774" y="2141730"/>
                  </a:lnTo>
                  <a:lnTo>
                    <a:pt x="3533774" y="125219"/>
                  </a:lnTo>
                  <a:lnTo>
                    <a:pt x="3521237" y="78452"/>
                  </a:lnTo>
                  <a:lnTo>
                    <a:pt x="3491757" y="40043"/>
                  </a:lnTo>
                  <a:lnTo>
                    <a:pt x="3449574" y="15763"/>
                  </a:lnTo>
                  <a:lnTo>
                    <a:pt x="3418080" y="9524"/>
                  </a:lnTo>
                  <a:lnTo>
                    <a:pt x="3459234" y="9524"/>
                  </a:lnTo>
                  <a:lnTo>
                    <a:pt x="3494504" y="30217"/>
                  </a:lnTo>
                  <a:lnTo>
                    <a:pt x="3520845" y="59250"/>
                  </a:lnTo>
                  <a:lnTo>
                    <a:pt x="3537588" y="94698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42665" y="2146735"/>
                  </a:lnTo>
                  <a:lnTo>
                    <a:pt x="3533147" y="2184630"/>
                  </a:lnTo>
                  <a:lnTo>
                    <a:pt x="3513081" y="2218154"/>
                  </a:lnTo>
                  <a:lnTo>
                    <a:pt x="3484048" y="2244496"/>
                  </a:lnTo>
                  <a:lnTo>
                    <a:pt x="3460979" y="2256799"/>
                  </a:lnTo>
                  <a:lnTo>
                    <a:pt x="3459235" y="225742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277223" y="1895476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30104" y="419098"/>
                  </a:moveTo>
                  <a:lnTo>
                    <a:pt x="88995" y="419098"/>
                  </a:lnTo>
                  <a:lnTo>
                    <a:pt x="82801" y="418486"/>
                  </a:lnTo>
                  <a:lnTo>
                    <a:pt x="37131" y="399568"/>
                  </a:lnTo>
                  <a:lnTo>
                    <a:pt x="9643" y="366075"/>
                  </a:lnTo>
                  <a:lnTo>
                    <a:pt x="0" y="330101"/>
                  </a:lnTo>
                  <a:lnTo>
                    <a:pt x="0" y="323848"/>
                  </a:lnTo>
                  <a:lnTo>
                    <a:pt x="0" y="88993"/>
                  </a:lnTo>
                  <a:lnTo>
                    <a:pt x="12577" y="47529"/>
                  </a:lnTo>
                  <a:lnTo>
                    <a:pt x="47531" y="12572"/>
                  </a:lnTo>
                  <a:lnTo>
                    <a:pt x="88995" y="0"/>
                  </a:lnTo>
                  <a:lnTo>
                    <a:pt x="330104" y="0"/>
                  </a:lnTo>
                  <a:lnTo>
                    <a:pt x="371567" y="12572"/>
                  </a:lnTo>
                  <a:lnTo>
                    <a:pt x="406522" y="47529"/>
                  </a:lnTo>
                  <a:lnTo>
                    <a:pt x="419099" y="88993"/>
                  </a:lnTo>
                  <a:lnTo>
                    <a:pt x="419099" y="330101"/>
                  </a:lnTo>
                  <a:lnTo>
                    <a:pt x="406521" y="371563"/>
                  </a:lnTo>
                  <a:lnTo>
                    <a:pt x="371567" y="406517"/>
                  </a:lnTo>
                  <a:lnTo>
                    <a:pt x="336298" y="418486"/>
                  </a:lnTo>
                  <a:lnTo>
                    <a:pt x="330104" y="419098"/>
                  </a:lnTo>
                  <a:close/>
                </a:path>
              </a:pathLst>
            </a:custGeom>
            <a:solidFill>
              <a:srgbClr val="C77D09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369300" y="1978025"/>
            <a:ext cx="2349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0">
                <a:solidFill>
                  <a:srgbClr val="C87D09"/>
                </a:solidFill>
                <a:latin typeface="Arial MT"/>
                <a:cs typeface="Arial MT"/>
              </a:rPr>
              <a:t>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64524" y="2441560"/>
            <a:ext cx="15741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Deli</a:t>
            </a:r>
            <a:r>
              <a:rPr dirty="0" sz="1100" spc="-110" b="1">
                <a:solidFill>
                  <a:srgbClr val="1B3258"/>
                </a:solidFill>
                <a:latin typeface="Verdana"/>
                <a:cs typeface="Verdana"/>
              </a:rPr>
              <a:t>v</a:t>
            </a: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er</a:t>
            </a:r>
            <a:r>
              <a:rPr dirty="0" sz="1100" spc="-110" b="1">
                <a:solidFill>
                  <a:srgbClr val="1B3258"/>
                </a:solidFill>
                <a:latin typeface="Verdana"/>
                <a:cs typeface="Verdana"/>
              </a:rPr>
              <a:t>y</a:t>
            </a:r>
            <a:r>
              <a:rPr dirty="0" sz="110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Time</a:t>
            </a:r>
            <a:r>
              <a:rPr dirty="0" sz="1150" spc="-15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70" b="1">
                <a:solidFill>
                  <a:srgbClr val="1B3258"/>
                </a:solidFill>
                <a:latin typeface="Verdana"/>
                <a:cs typeface="Verdana"/>
              </a:rPr>
              <a:t>Windo</a:t>
            </a:r>
            <a:r>
              <a:rPr dirty="0" sz="1100" spc="-70" b="1">
                <a:solidFill>
                  <a:srgbClr val="1B3258"/>
                </a:solidFill>
                <a:latin typeface="Verdana"/>
                <a:cs typeface="Verdana"/>
              </a:rPr>
              <a:t>w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64525" y="2730488"/>
            <a:ext cx="235013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405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60">
                <a:solidFill>
                  <a:srgbClr val="6E7D93"/>
                </a:solidFill>
                <a:latin typeface="Microsoft Sans Serif"/>
                <a:cs typeface="Microsoft Sans Serif"/>
              </a:rPr>
              <a:t>All</a:t>
            </a:r>
            <a:r>
              <a:rPr dirty="0" sz="1050" spc="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stop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6E7D93"/>
                </a:solidFill>
                <a:latin typeface="Microsoft Sans Serif"/>
                <a:cs typeface="Microsoft Sans Serif"/>
              </a:rPr>
              <a:t>arrivals:</a:t>
            </a:r>
            <a:r>
              <a:rPr dirty="0" sz="1050" spc="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08:00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0">
                <a:solidFill>
                  <a:srgbClr val="6E7D93"/>
                </a:solidFill>
                <a:latin typeface="Microsoft Sans Serif"/>
                <a:cs typeface="Microsoft Sans Serif"/>
              </a:rPr>
              <a:t>AM</a:t>
            </a:r>
            <a:r>
              <a:rPr dirty="0" sz="1050" spc="-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305">
                <a:solidFill>
                  <a:srgbClr val="6E7D93"/>
                </a:solidFill>
                <a:latin typeface="Microsoft Sans Serif"/>
                <a:cs typeface="Microsoft Sans Serif"/>
              </a:rPr>
              <a:t>–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 06:00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PM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64525" y="3025763"/>
            <a:ext cx="274193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65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85">
                <a:solidFill>
                  <a:srgbClr val="6E7D93"/>
                </a:solidFill>
                <a:latin typeface="Microsoft Sans Serif"/>
                <a:cs typeface="Microsoft Sans Serif"/>
              </a:rPr>
              <a:t>No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early</a:t>
            </a:r>
            <a:r>
              <a:rPr dirty="0" sz="1050" spc="-6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6E7D93"/>
                </a:solidFill>
                <a:latin typeface="Microsoft Sans Serif"/>
                <a:cs typeface="Microsoft Sans Serif"/>
              </a:rPr>
              <a:t>arrivals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before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depot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6E7D93"/>
                </a:solidFill>
                <a:latin typeface="Microsoft Sans Serif"/>
                <a:cs typeface="Microsoft Sans Serif"/>
              </a:rPr>
              <a:t>opens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08:00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64525" y="3311512"/>
            <a:ext cx="270002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75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45">
                <a:solidFill>
                  <a:srgbClr val="6E7D93"/>
                </a:solidFill>
                <a:latin typeface="Microsoft Sans Serif"/>
                <a:cs typeface="Microsoft Sans Serif"/>
              </a:rPr>
              <a:t>Late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6E7D93"/>
                </a:solidFill>
                <a:latin typeface="Microsoft Sans Serif"/>
                <a:cs typeface="Microsoft Sans Serif"/>
              </a:rPr>
              <a:t>arrivals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disqualify</a:t>
            </a:r>
            <a:r>
              <a:rPr dirty="0" sz="1050" spc="-5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route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80">
                <a:solidFill>
                  <a:srgbClr val="6E7D93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1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infeasible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9599" y="4095749"/>
            <a:ext cx="3543300" cy="2266950"/>
            <a:chOff x="609599" y="4095749"/>
            <a:chExt cx="3543300" cy="2266950"/>
          </a:xfrm>
        </p:grpSpPr>
        <p:sp>
          <p:nvSpPr>
            <p:cNvPr id="36" name="object 36"/>
            <p:cNvSpPr/>
            <p:nvPr/>
          </p:nvSpPr>
          <p:spPr>
            <a:xfrm>
              <a:off x="609599" y="4095749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9" y="2256798"/>
                  </a:lnTo>
                  <a:lnTo>
                    <a:pt x="48794" y="2236732"/>
                  </a:lnTo>
                  <a:lnTo>
                    <a:pt x="22452" y="2207698"/>
                  </a:lnTo>
                  <a:lnTo>
                    <a:pt x="5709" y="2172251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48600" y="5709"/>
                  </a:lnTo>
                  <a:lnTo>
                    <a:pt x="3484048" y="22452"/>
                  </a:lnTo>
                  <a:lnTo>
                    <a:pt x="3513082" y="48794"/>
                  </a:lnTo>
                  <a:lnTo>
                    <a:pt x="3533148" y="82319"/>
                  </a:lnTo>
                  <a:lnTo>
                    <a:pt x="3542665" y="120213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37589" y="2172251"/>
                  </a:lnTo>
                  <a:lnTo>
                    <a:pt x="3520846" y="2207698"/>
                  </a:lnTo>
                  <a:lnTo>
                    <a:pt x="3494504" y="2236732"/>
                  </a:lnTo>
                  <a:lnTo>
                    <a:pt x="3460979" y="2256798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09599" y="4095750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9" y="2256798"/>
                  </a:lnTo>
                  <a:lnTo>
                    <a:pt x="48794" y="2236732"/>
                  </a:lnTo>
                  <a:lnTo>
                    <a:pt x="22452" y="2207698"/>
                  </a:lnTo>
                  <a:lnTo>
                    <a:pt x="5709" y="2172251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23085" y="634"/>
                  </a:lnTo>
                  <a:lnTo>
                    <a:pt x="3435969" y="2537"/>
                  </a:lnTo>
                  <a:lnTo>
                    <a:pt x="3448601" y="5709"/>
                  </a:lnTo>
                  <a:lnTo>
                    <a:pt x="3459237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141730"/>
                  </a:lnTo>
                  <a:lnTo>
                    <a:pt x="22061" y="2188496"/>
                  </a:lnTo>
                  <a:lnTo>
                    <a:pt x="51541" y="2226906"/>
                  </a:lnTo>
                  <a:lnTo>
                    <a:pt x="93475" y="2251110"/>
                  </a:lnTo>
                  <a:lnTo>
                    <a:pt x="125219" y="2257424"/>
                  </a:lnTo>
                  <a:lnTo>
                    <a:pt x="3459234" y="2257424"/>
                  </a:lnTo>
                  <a:lnTo>
                    <a:pt x="3448601" y="2261239"/>
                  </a:lnTo>
                  <a:lnTo>
                    <a:pt x="3435969" y="2264411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  <a:path w="3543300" h="2266950">
                  <a:moveTo>
                    <a:pt x="3459234" y="2257424"/>
                  </a:moveTo>
                  <a:lnTo>
                    <a:pt x="3418080" y="2257424"/>
                  </a:lnTo>
                  <a:lnTo>
                    <a:pt x="3426132" y="2256631"/>
                  </a:lnTo>
                  <a:lnTo>
                    <a:pt x="3442080" y="2253459"/>
                  </a:lnTo>
                  <a:lnTo>
                    <a:pt x="3485503" y="2232039"/>
                  </a:lnTo>
                  <a:lnTo>
                    <a:pt x="3517423" y="2195632"/>
                  </a:lnTo>
                  <a:lnTo>
                    <a:pt x="3532982" y="2149782"/>
                  </a:lnTo>
                  <a:lnTo>
                    <a:pt x="3533775" y="2141730"/>
                  </a:lnTo>
                  <a:lnTo>
                    <a:pt x="3533775" y="125219"/>
                  </a:lnTo>
                  <a:lnTo>
                    <a:pt x="3521237" y="78452"/>
                  </a:lnTo>
                  <a:lnTo>
                    <a:pt x="3491758" y="40043"/>
                  </a:lnTo>
                  <a:lnTo>
                    <a:pt x="3449574" y="15763"/>
                  </a:lnTo>
                  <a:lnTo>
                    <a:pt x="3418080" y="9524"/>
                  </a:lnTo>
                  <a:lnTo>
                    <a:pt x="3459237" y="9524"/>
                  </a:lnTo>
                  <a:lnTo>
                    <a:pt x="3494505" y="30217"/>
                  </a:lnTo>
                  <a:lnTo>
                    <a:pt x="3520846" y="59250"/>
                  </a:lnTo>
                  <a:lnTo>
                    <a:pt x="3537589" y="94698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42665" y="2146736"/>
                  </a:lnTo>
                  <a:lnTo>
                    <a:pt x="3533149" y="2184630"/>
                  </a:lnTo>
                  <a:lnTo>
                    <a:pt x="3513082" y="2218154"/>
                  </a:lnTo>
                  <a:lnTo>
                    <a:pt x="3484048" y="2244496"/>
                  </a:lnTo>
                  <a:lnTo>
                    <a:pt x="3460980" y="2256798"/>
                  </a:lnTo>
                  <a:lnTo>
                    <a:pt x="3459234" y="225742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47724" y="4333875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30104" y="419098"/>
                  </a:moveTo>
                  <a:lnTo>
                    <a:pt x="88995" y="419098"/>
                  </a:lnTo>
                  <a:lnTo>
                    <a:pt x="82801" y="418488"/>
                  </a:lnTo>
                  <a:lnTo>
                    <a:pt x="37131" y="399567"/>
                  </a:lnTo>
                  <a:lnTo>
                    <a:pt x="9643" y="366073"/>
                  </a:lnTo>
                  <a:lnTo>
                    <a:pt x="0" y="330101"/>
                  </a:lnTo>
                  <a:lnTo>
                    <a:pt x="0" y="323848"/>
                  </a:lnTo>
                  <a:lnTo>
                    <a:pt x="0" y="88993"/>
                  </a:lnTo>
                  <a:lnTo>
                    <a:pt x="12577" y="47527"/>
                  </a:lnTo>
                  <a:lnTo>
                    <a:pt x="47531" y="12572"/>
                  </a:lnTo>
                  <a:lnTo>
                    <a:pt x="88995" y="0"/>
                  </a:lnTo>
                  <a:lnTo>
                    <a:pt x="330104" y="0"/>
                  </a:lnTo>
                  <a:lnTo>
                    <a:pt x="371567" y="12572"/>
                  </a:lnTo>
                  <a:lnTo>
                    <a:pt x="406521" y="47527"/>
                  </a:lnTo>
                  <a:lnTo>
                    <a:pt x="419099" y="88993"/>
                  </a:lnTo>
                  <a:lnTo>
                    <a:pt x="419099" y="330101"/>
                  </a:lnTo>
                  <a:lnTo>
                    <a:pt x="406521" y="371561"/>
                  </a:lnTo>
                  <a:lnTo>
                    <a:pt x="371567" y="406515"/>
                  </a:lnTo>
                  <a:lnTo>
                    <a:pt x="336298" y="418488"/>
                  </a:lnTo>
                  <a:lnTo>
                    <a:pt x="330104" y="419098"/>
                  </a:lnTo>
                  <a:close/>
                </a:path>
              </a:pathLst>
            </a:custGeom>
            <a:solidFill>
              <a:srgbClr val="C77D09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939800" y="4416425"/>
            <a:ext cx="2349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0">
                <a:solidFill>
                  <a:srgbClr val="C87D09"/>
                </a:solidFill>
                <a:latin typeface="Arial MT"/>
                <a:cs typeface="Arial MT"/>
              </a:rPr>
              <a:t>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35024" y="4879959"/>
            <a:ext cx="909319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45" b="1">
                <a:solidFill>
                  <a:srgbClr val="1B3258"/>
                </a:solidFill>
                <a:latin typeface="Verdana"/>
                <a:cs typeface="Verdana"/>
              </a:rPr>
              <a:t>Tra</a:t>
            </a:r>
            <a:r>
              <a:rPr dirty="0" sz="1100" spc="-145" b="1">
                <a:solidFill>
                  <a:srgbClr val="1B3258"/>
                </a:solidFill>
                <a:latin typeface="Verdana"/>
                <a:cs typeface="Verdana"/>
              </a:rPr>
              <a:t>v</a:t>
            </a:r>
            <a:r>
              <a:rPr dirty="0" sz="1150" spc="-145" b="1">
                <a:solidFill>
                  <a:srgbClr val="1B3258"/>
                </a:solidFill>
                <a:latin typeface="Verdana"/>
                <a:cs typeface="Verdana"/>
              </a:rPr>
              <a:t>el</a:t>
            </a:r>
            <a:r>
              <a:rPr dirty="0" sz="1150" spc="-80" b="1">
                <a:solidFill>
                  <a:srgbClr val="1B3258"/>
                </a:solidFill>
                <a:latin typeface="Verdana"/>
                <a:cs typeface="Verdana"/>
              </a:rPr>
              <a:t> Speed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35025" y="5168887"/>
            <a:ext cx="293751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405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70">
                <a:solidFill>
                  <a:srgbClr val="6E7D93"/>
                </a:solidFill>
                <a:latin typeface="Microsoft Sans Serif"/>
                <a:cs typeface="Microsoft Sans Serif"/>
              </a:rPr>
              <a:t>Average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6E7D93"/>
                </a:solidFill>
                <a:latin typeface="Microsoft Sans Serif"/>
                <a:cs typeface="Microsoft Sans Serif"/>
              </a:rPr>
              <a:t>road</a:t>
            </a:r>
            <a:r>
              <a:rPr dirty="0" sz="1050" spc="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6E7D93"/>
                </a:solidFill>
                <a:latin typeface="Microsoft Sans Serif"/>
                <a:cs typeface="Microsoft Sans Serif"/>
              </a:rPr>
              <a:t>speed:</a:t>
            </a:r>
            <a:r>
              <a:rPr dirty="0" sz="1050" spc="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40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mph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throughout</a:t>
            </a:r>
            <a:r>
              <a:rPr dirty="0" sz="1050" spc="-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network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35025" y="5464162"/>
            <a:ext cx="266573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85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Applied</a:t>
            </a:r>
            <a:r>
              <a:rPr dirty="0" sz="1050" spc="-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6E7D93"/>
                </a:solidFill>
                <a:latin typeface="Microsoft Sans Serif"/>
                <a:cs typeface="Microsoft Sans Serif"/>
              </a:rPr>
              <a:t>all</a:t>
            </a:r>
            <a:r>
              <a:rPr dirty="0" sz="1050" spc="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inter-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stop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6E7D93"/>
                </a:solidFill>
                <a:latin typeface="Microsoft Sans Serif"/>
                <a:cs typeface="Microsoft Sans Serif"/>
              </a:rPr>
              <a:t>segments</a:t>
            </a:r>
            <a:r>
              <a:rPr dirty="0" sz="1050" spc="-1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uniformly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5025" y="5749912"/>
            <a:ext cx="194945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85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50">
                <a:solidFill>
                  <a:srgbClr val="6E7D93"/>
                </a:solidFill>
                <a:latin typeface="Microsoft Sans Serif"/>
                <a:cs typeface="Microsoft Sans Serif"/>
              </a:rPr>
              <a:t>Drive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time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40">
                <a:solidFill>
                  <a:srgbClr val="6E7D93"/>
                </a:solidFill>
                <a:latin typeface="Microsoft Sans Serif"/>
                <a:cs typeface="Microsoft Sans Serif"/>
              </a:rPr>
              <a:t>=</a:t>
            </a:r>
            <a:r>
              <a:rPr dirty="0" sz="1050" spc="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distance </a:t>
            </a:r>
            <a:r>
              <a:rPr dirty="0" sz="1050" spc="-140">
                <a:solidFill>
                  <a:srgbClr val="6E7D93"/>
                </a:solidFill>
                <a:latin typeface="Microsoft Sans Serif"/>
                <a:cs typeface="Microsoft Sans Serif"/>
              </a:rPr>
              <a:t>÷</a:t>
            </a:r>
            <a:r>
              <a:rPr dirty="0" sz="1050" spc="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40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mph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324349" y="4095749"/>
            <a:ext cx="3543300" cy="2266950"/>
            <a:chOff x="4324349" y="4095749"/>
            <a:chExt cx="3543300" cy="2266950"/>
          </a:xfrm>
        </p:grpSpPr>
        <p:sp>
          <p:nvSpPr>
            <p:cNvPr id="45" name="object 45"/>
            <p:cNvSpPr/>
            <p:nvPr/>
          </p:nvSpPr>
          <p:spPr>
            <a:xfrm>
              <a:off x="4324349" y="4095749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8" y="2256798"/>
                  </a:lnTo>
                  <a:lnTo>
                    <a:pt x="48794" y="2236732"/>
                  </a:lnTo>
                  <a:lnTo>
                    <a:pt x="22452" y="2207698"/>
                  </a:lnTo>
                  <a:lnTo>
                    <a:pt x="5709" y="2172251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48601" y="5709"/>
                  </a:lnTo>
                  <a:lnTo>
                    <a:pt x="3484048" y="22452"/>
                  </a:lnTo>
                  <a:lnTo>
                    <a:pt x="3513082" y="48794"/>
                  </a:lnTo>
                  <a:lnTo>
                    <a:pt x="3533148" y="82319"/>
                  </a:lnTo>
                  <a:lnTo>
                    <a:pt x="3542664" y="120213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37588" y="2172251"/>
                  </a:lnTo>
                  <a:lnTo>
                    <a:pt x="3520846" y="2207698"/>
                  </a:lnTo>
                  <a:lnTo>
                    <a:pt x="3494504" y="2236732"/>
                  </a:lnTo>
                  <a:lnTo>
                    <a:pt x="3460979" y="2256798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324349" y="4095750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8" y="2256798"/>
                  </a:lnTo>
                  <a:lnTo>
                    <a:pt x="48794" y="2236732"/>
                  </a:lnTo>
                  <a:lnTo>
                    <a:pt x="22452" y="2207698"/>
                  </a:lnTo>
                  <a:lnTo>
                    <a:pt x="5709" y="2172251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23085" y="634"/>
                  </a:lnTo>
                  <a:lnTo>
                    <a:pt x="3435969" y="2537"/>
                  </a:lnTo>
                  <a:lnTo>
                    <a:pt x="3448601" y="5709"/>
                  </a:lnTo>
                  <a:lnTo>
                    <a:pt x="3459237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141730"/>
                  </a:lnTo>
                  <a:lnTo>
                    <a:pt x="22061" y="2188496"/>
                  </a:lnTo>
                  <a:lnTo>
                    <a:pt x="51541" y="2226906"/>
                  </a:lnTo>
                  <a:lnTo>
                    <a:pt x="93475" y="2251110"/>
                  </a:lnTo>
                  <a:lnTo>
                    <a:pt x="125219" y="2257424"/>
                  </a:lnTo>
                  <a:lnTo>
                    <a:pt x="3459234" y="2257424"/>
                  </a:lnTo>
                  <a:lnTo>
                    <a:pt x="3448601" y="2261239"/>
                  </a:lnTo>
                  <a:lnTo>
                    <a:pt x="3435969" y="2264411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  <a:path w="3543300" h="2266950">
                  <a:moveTo>
                    <a:pt x="3459234" y="2257424"/>
                  </a:moveTo>
                  <a:lnTo>
                    <a:pt x="3418079" y="2257424"/>
                  </a:lnTo>
                  <a:lnTo>
                    <a:pt x="3426132" y="2256631"/>
                  </a:lnTo>
                  <a:lnTo>
                    <a:pt x="3442080" y="2253459"/>
                  </a:lnTo>
                  <a:lnTo>
                    <a:pt x="3485503" y="2232039"/>
                  </a:lnTo>
                  <a:lnTo>
                    <a:pt x="3517423" y="2195632"/>
                  </a:lnTo>
                  <a:lnTo>
                    <a:pt x="3532981" y="2149782"/>
                  </a:lnTo>
                  <a:lnTo>
                    <a:pt x="3533774" y="2141730"/>
                  </a:lnTo>
                  <a:lnTo>
                    <a:pt x="3533774" y="125219"/>
                  </a:lnTo>
                  <a:lnTo>
                    <a:pt x="3521237" y="78452"/>
                  </a:lnTo>
                  <a:lnTo>
                    <a:pt x="3491758" y="40043"/>
                  </a:lnTo>
                  <a:lnTo>
                    <a:pt x="3449574" y="15763"/>
                  </a:lnTo>
                  <a:lnTo>
                    <a:pt x="3418079" y="9524"/>
                  </a:lnTo>
                  <a:lnTo>
                    <a:pt x="3459237" y="9524"/>
                  </a:lnTo>
                  <a:lnTo>
                    <a:pt x="3494504" y="30217"/>
                  </a:lnTo>
                  <a:lnTo>
                    <a:pt x="3520846" y="59250"/>
                  </a:lnTo>
                  <a:lnTo>
                    <a:pt x="3537588" y="94698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42664" y="2146736"/>
                  </a:lnTo>
                  <a:lnTo>
                    <a:pt x="3533148" y="2184630"/>
                  </a:lnTo>
                  <a:lnTo>
                    <a:pt x="3513082" y="2218154"/>
                  </a:lnTo>
                  <a:lnTo>
                    <a:pt x="3484048" y="2244496"/>
                  </a:lnTo>
                  <a:lnTo>
                    <a:pt x="3460980" y="2256798"/>
                  </a:lnTo>
                  <a:lnTo>
                    <a:pt x="3459234" y="225742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562474" y="4333875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30104" y="419098"/>
                  </a:moveTo>
                  <a:lnTo>
                    <a:pt x="88995" y="419098"/>
                  </a:lnTo>
                  <a:lnTo>
                    <a:pt x="82801" y="418488"/>
                  </a:lnTo>
                  <a:lnTo>
                    <a:pt x="37130" y="399567"/>
                  </a:lnTo>
                  <a:lnTo>
                    <a:pt x="9643" y="366073"/>
                  </a:lnTo>
                  <a:lnTo>
                    <a:pt x="0" y="330101"/>
                  </a:lnTo>
                  <a:lnTo>
                    <a:pt x="0" y="323848"/>
                  </a:lnTo>
                  <a:lnTo>
                    <a:pt x="0" y="88993"/>
                  </a:lnTo>
                  <a:lnTo>
                    <a:pt x="12577" y="47527"/>
                  </a:lnTo>
                  <a:lnTo>
                    <a:pt x="47531" y="12572"/>
                  </a:lnTo>
                  <a:lnTo>
                    <a:pt x="88995" y="0"/>
                  </a:lnTo>
                  <a:lnTo>
                    <a:pt x="330104" y="0"/>
                  </a:lnTo>
                  <a:lnTo>
                    <a:pt x="371566" y="12572"/>
                  </a:lnTo>
                  <a:lnTo>
                    <a:pt x="406521" y="47527"/>
                  </a:lnTo>
                  <a:lnTo>
                    <a:pt x="419099" y="88993"/>
                  </a:lnTo>
                  <a:lnTo>
                    <a:pt x="419099" y="330101"/>
                  </a:lnTo>
                  <a:lnTo>
                    <a:pt x="406521" y="371561"/>
                  </a:lnTo>
                  <a:lnTo>
                    <a:pt x="371567" y="406515"/>
                  </a:lnTo>
                  <a:lnTo>
                    <a:pt x="336298" y="418488"/>
                  </a:lnTo>
                  <a:lnTo>
                    <a:pt x="330104" y="419098"/>
                  </a:lnTo>
                  <a:close/>
                </a:path>
              </a:pathLst>
            </a:custGeom>
            <a:solidFill>
              <a:srgbClr val="C77D09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4654549" y="4416425"/>
            <a:ext cx="2349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0">
                <a:solidFill>
                  <a:srgbClr val="C87D09"/>
                </a:solidFill>
                <a:latin typeface="Arial MT"/>
                <a:cs typeface="Arial MT"/>
              </a:rPr>
              <a:t>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49774" y="4879959"/>
            <a:ext cx="111252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Unloading</a:t>
            </a:r>
            <a:r>
              <a:rPr dirty="0" sz="1150" spc="-8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90" b="1">
                <a:solidFill>
                  <a:srgbClr val="1B3258"/>
                </a:solidFill>
                <a:latin typeface="Verdana"/>
                <a:cs typeface="Verdana"/>
              </a:rPr>
              <a:t>Time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549775" y="5168887"/>
            <a:ext cx="194056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70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105">
                <a:solidFill>
                  <a:srgbClr val="6E7D93"/>
                </a:solidFill>
                <a:latin typeface="Microsoft Sans Serif"/>
                <a:cs typeface="Microsoft Sans Serif"/>
              </a:rPr>
              <a:t>Van:</a:t>
            </a:r>
            <a:r>
              <a:rPr dirty="0" sz="1050" spc="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0.030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min/ft³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6E7D93"/>
                </a:solidFill>
                <a:latin typeface="Microsoft Sans Serif"/>
                <a:cs typeface="Microsoft Sans Serif"/>
              </a:rPr>
              <a:t>each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stop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549775" y="5464162"/>
            <a:ext cx="249237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65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Straight</a:t>
            </a:r>
            <a:r>
              <a:rPr dirty="0" sz="1050" spc="-1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5">
                <a:solidFill>
                  <a:srgbClr val="6E7D93"/>
                </a:solidFill>
                <a:latin typeface="Microsoft Sans Serif"/>
                <a:cs typeface="Microsoft Sans Serif"/>
              </a:rPr>
              <a:t>Truck: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0.043</a:t>
            </a:r>
            <a:r>
              <a:rPr dirty="0" sz="1050" spc="-1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min/ft³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6E7D93"/>
                </a:solidFill>
                <a:latin typeface="Microsoft Sans Serif"/>
                <a:cs typeface="Microsoft Sans Serif"/>
              </a:rPr>
              <a:t>each</a:t>
            </a:r>
            <a:r>
              <a:rPr dirty="0" sz="1050" spc="-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stop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549775" y="5749912"/>
            <a:ext cx="234950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400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45">
                <a:solidFill>
                  <a:srgbClr val="6E7D93"/>
                </a:solidFill>
                <a:latin typeface="Microsoft Sans Serif"/>
                <a:cs typeface="Microsoft Sans Serif"/>
              </a:rPr>
              <a:t>Minimum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30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minutes</a:t>
            </a:r>
            <a:r>
              <a:rPr dirty="0" sz="1050" spc="-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per 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delivery</a:t>
            </a:r>
            <a:r>
              <a:rPr dirty="0" sz="1050" spc="-4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stop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039099" y="4095749"/>
            <a:ext cx="3543300" cy="2266950"/>
            <a:chOff x="8039099" y="4095749"/>
            <a:chExt cx="3543300" cy="2266950"/>
          </a:xfrm>
        </p:grpSpPr>
        <p:sp>
          <p:nvSpPr>
            <p:cNvPr id="54" name="object 54"/>
            <p:cNvSpPr/>
            <p:nvPr/>
          </p:nvSpPr>
          <p:spPr>
            <a:xfrm>
              <a:off x="8039099" y="4095749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8" y="2256798"/>
                  </a:lnTo>
                  <a:lnTo>
                    <a:pt x="48794" y="2236732"/>
                  </a:lnTo>
                  <a:lnTo>
                    <a:pt x="22451" y="2207698"/>
                  </a:lnTo>
                  <a:lnTo>
                    <a:pt x="5709" y="2172251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48599" y="5709"/>
                  </a:lnTo>
                  <a:lnTo>
                    <a:pt x="3484047" y="22452"/>
                  </a:lnTo>
                  <a:lnTo>
                    <a:pt x="3513081" y="48794"/>
                  </a:lnTo>
                  <a:lnTo>
                    <a:pt x="3533147" y="82319"/>
                  </a:lnTo>
                  <a:lnTo>
                    <a:pt x="3542664" y="120213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37588" y="2172251"/>
                  </a:lnTo>
                  <a:lnTo>
                    <a:pt x="3520845" y="2207698"/>
                  </a:lnTo>
                  <a:lnTo>
                    <a:pt x="3494504" y="2236732"/>
                  </a:lnTo>
                  <a:lnTo>
                    <a:pt x="3460979" y="2256798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</a:pathLst>
            </a:custGeom>
            <a:solidFill>
              <a:srgbClr val="F5A623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039099" y="4095750"/>
              <a:ext cx="3543300" cy="2266950"/>
            </a:xfrm>
            <a:custGeom>
              <a:avLst/>
              <a:gdLst/>
              <a:ahLst/>
              <a:cxnLst/>
              <a:rect l="l" t="t" r="r" b="b"/>
              <a:pathLst>
                <a:path w="3543300" h="2266950">
                  <a:moveTo>
                    <a:pt x="3409949" y="2266949"/>
                  </a:moveTo>
                  <a:lnTo>
                    <a:pt x="133349" y="2266949"/>
                  </a:lnTo>
                  <a:lnTo>
                    <a:pt x="120213" y="2266315"/>
                  </a:lnTo>
                  <a:lnTo>
                    <a:pt x="82318" y="2256798"/>
                  </a:lnTo>
                  <a:lnTo>
                    <a:pt x="48794" y="2236732"/>
                  </a:lnTo>
                  <a:lnTo>
                    <a:pt x="22451" y="2207698"/>
                  </a:lnTo>
                  <a:lnTo>
                    <a:pt x="5709" y="2172251"/>
                  </a:lnTo>
                  <a:lnTo>
                    <a:pt x="0" y="21335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23085" y="634"/>
                  </a:lnTo>
                  <a:lnTo>
                    <a:pt x="3435968" y="2537"/>
                  </a:lnTo>
                  <a:lnTo>
                    <a:pt x="3448599" y="5709"/>
                  </a:lnTo>
                  <a:lnTo>
                    <a:pt x="3459235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141730"/>
                  </a:lnTo>
                  <a:lnTo>
                    <a:pt x="22061" y="2188496"/>
                  </a:lnTo>
                  <a:lnTo>
                    <a:pt x="51541" y="2226906"/>
                  </a:lnTo>
                  <a:lnTo>
                    <a:pt x="93475" y="2251110"/>
                  </a:lnTo>
                  <a:lnTo>
                    <a:pt x="125219" y="2257424"/>
                  </a:lnTo>
                  <a:lnTo>
                    <a:pt x="3459233" y="2257424"/>
                  </a:lnTo>
                  <a:lnTo>
                    <a:pt x="3448600" y="2261239"/>
                  </a:lnTo>
                  <a:lnTo>
                    <a:pt x="3435968" y="2264411"/>
                  </a:lnTo>
                  <a:lnTo>
                    <a:pt x="3423085" y="2266315"/>
                  </a:lnTo>
                  <a:lnTo>
                    <a:pt x="3409949" y="2266949"/>
                  </a:lnTo>
                  <a:close/>
                </a:path>
                <a:path w="3543300" h="2266950">
                  <a:moveTo>
                    <a:pt x="3459233" y="2257424"/>
                  </a:moveTo>
                  <a:lnTo>
                    <a:pt x="3418080" y="2257424"/>
                  </a:lnTo>
                  <a:lnTo>
                    <a:pt x="3426132" y="2256631"/>
                  </a:lnTo>
                  <a:lnTo>
                    <a:pt x="3442080" y="2253459"/>
                  </a:lnTo>
                  <a:lnTo>
                    <a:pt x="3485503" y="2232039"/>
                  </a:lnTo>
                  <a:lnTo>
                    <a:pt x="3517423" y="2195632"/>
                  </a:lnTo>
                  <a:lnTo>
                    <a:pt x="3532981" y="2149782"/>
                  </a:lnTo>
                  <a:lnTo>
                    <a:pt x="3533774" y="2141730"/>
                  </a:lnTo>
                  <a:lnTo>
                    <a:pt x="3533774" y="125219"/>
                  </a:lnTo>
                  <a:lnTo>
                    <a:pt x="3521237" y="78452"/>
                  </a:lnTo>
                  <a:lnTo>
                    <a:pt x="3491757" y="40043"/>
                  </a:lnTo>
                  <a:lnTo>
                    <a:pt x="3449574" y="15763"/>
                  </a:lnTo>
                  <a:lnTo>
                    <a:pt x="3418080" y="9524"/>
                  </a:lnTo>
                  <a:lnTo>
                    <a:pt x="3459235" y="9524"/>
                  </a:lnTo>
                  <a:lnTo>
                    <a:pt x="3494504" y="30217"/>
                  </a:lnTo>
                  <a:lnTo>
                    <a:pt x="3520845" y="59250"/>
                  </a:lnTo>
                  <a:lnTo>
                    <a:pt x="3537588" y="94698"/>
                  </a:lnTo>
                  <a:lnTo>
                    <a:pt x="3543299" y="133349"/>
                  </a:lnTo>
                  <a:lnTo>
                    <a:pt x="3543299" y="2133599"/>
                  </a:lnTo>
                  <a:lnTo>
                    <a:pt x="3542665" y="2146736"/>
                  </a:lnTo>
                  <a:lnTo>
                    <a:pt x="3533147" y="2184630"/>
                  </a:lnTo>
                  <a:lnTo>
                    <a:pt x="3513081" y="2218154"/>
                  </a:lnTo>
                  <a:lnTo>
                    <a:pt x="3484048" y="2244496"/>
                  </a:lnTo>
                  <a:lnTo>
                    <a:pt x="3460979" y="2256798"/>
                  </a:lnTo>
                  <a:lnTo>
                    <a:pt x="3459233" y="2257424"/>
                  </a:lnTo>
                  <a:close/>
                </a:path>
              </a:pathLst>
            </a:custGeom>
            <a:solidFill>
              <a:srgbClr val="F5A623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277223" y="4333875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30104" y="419098"/>
                  </a:moveTo>
                  <a:lnTo>
                    <a:pt x="88995" y="419098"/>
                  </a:lnTo>
                  <a:lnTo>
                    <a:pt x="82801" y="418488"/>
                  </a:lnTo>
                  <a:lnTo>
                    <a:pt x="37131" y="399567"/>
                  </a:lnTo>
                  <a:lnTo>
                    <a:pt x="9643" y="366073"/>
                  </a:lnTo>
                  <a:lnTo>
                    <a:pt x="0" y="330101"/>
                  </a:lnTo>
                  <a:lnTo>
                    <a:pt x="0" y="323848"/>
                  </a:lnTo>
                  <a:lnTo>
                    <a:pt x="0" y="88993"/>
                  </a:lnTo>
                  <a:lnTo>
                    <a:pt x="12577" y="47527"/>
                  </a:lnTo>
                  <a:lnTo>
                    <a:pt x="47531" y="12572"/>
                  </a:lnTo>
                  <a:lnTo>
                    <a:pt x="88995" y="0"/>
                  </a:lnTo>
                  <a:lnTo>
                    <a:pt x="330104" y="0"/>
                  </a:lnTo>
                  <a:lnTo>
                    <a:pt x="371567" y="12572"/>
                  </a:lnTo>
                  <a:lnTo>
                    <a:pt x="406522" y="47527"/>
                  </a:lnTo>
                  <a:lnTo>
                    <a:pt x="419099" y="88993"/>
                  </a:lnTo>
                  <a:lnTo>
                    <a:pt x="419099" y="330101"/>
                  </a:lnTo>
                  <a:lnTo>
                    <a:pt x="406521" y="371561"/>
                  </a:lnTo>
                  <a:lnTo>
                    <a:pt x="371567" y="406515"/>
                  </a:lnTo>
                  <a:lnTo>
                    <a:pt x="336298" y="418488"/>
                  </a:lnTo>
                  <a:lnTo>
                    <a:pt x="330104" y="419098"/>
                  </a:lnTo>
                  <a:close/>
                </a:path>
              </a:pathLst>
            </a:custGeom>
            <a:solidFill>
              <a:srgbClr val="F5A623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8369300" y="4416425"/>
            <a:ext cx="2349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0">
                <a:solidFill>
                  <a:srgbClr val="C87D09"/>
                </a:solidFill>
                <a:latin typeface="Arial MT"/>
                <a:cs typeface="Arial MT"/>
              </a:rPr>
              <a:t>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224121" y="6501570"/>
            <a:ext cx="372745" cy="128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850" spc="-20" b="1">
                <a:solidFill>
                  <a:srgbClr val="B3BAC6"/>
                </a:solidFill>
                <a:latin typeface="Verdana"/>
                <a:cs typeface="Verdana"/>
              </a:rPr>
              <a:t>04</a:t>
            </a:r>
            <a:r>
              <a:rPr dirty="0" sz="850" spc="-140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B3BAC6"/>
                </a:solidFill>
                <a:latin typeface="Verdana"/>
                <a:cs typeface="Verdana"/>
              </a:rPr>
              <a:t>/</a:t>
            </a:r>
            <a:r>
              <a:rPr dirty="0" sz="850" spc="-120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110" b="1">
                <a:solidFill>
                  <a:srgbClr val="B3BAC6"/>
                </a:solidFill>
                <a:latin typeface="Verdana"/>
                <a:cs typeface="Verdana"/>
              </a:rPr>
              <a:t>15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8264524" y="4879959"/>
            <a:ext cx="8953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35" b="1">
                <a:solidFill>
                  <a:srgbClr val="C87D09"/>
                </a:solidFill>
                <a:latin typeface="Verdana"/>
                <a:cs typeface="Verdana"/>
              </a:rPr>
              <a:t>Hard </a:t>
            </a:r>
            <a:r>
              <a:rPr dirty="0" sz="1100" spc="-135" b="1">
                <a:solidFill>
                  <a:srgbClr val="C87D09"/>
                </a:solidFill>
                <a:latin typeface="Verdana"/>
                <a:cs typeface="Verdana"/>
              </a:rPr>
              <a:t>v</a:t>
            </a:r>
            <a:r>
              <a:rPr dirty="0" sz="1150" spc="-135" b="1">
                <a:solidFill>
                  <a:srgbClr val="C87D09"/>
                </a:solidFill>
                <a:latin typeface="Verdana"/>
                <a:cs typeface="Verdana"/>
              </a:rPr>
              <a:t>s.</a:t>
            </a:r>
            <a:r>
              <a:rPr dirty="0" sz="1150" spc="-114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1150" spc="-60" b="1">
                <a:solidFill>
                  <a:srgbClr val="C87D09"/>
                </a:solidFill>
                <a:latin typeface="Verdana"/>
                <a:cs typeface="Verdana"/>
              </a:rPr>
              <a:t>Soft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264525" y="5168887"/>
            <a:ext cx="249872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00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Capacity</a:t>
            </a:r>
            <a:r>
              <a:rPr dirty="0" sz="1050" spc="-6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&amp;</a:t>
            </a:r>
            <a:r>
              <a:rPr dirty="0" sz="1050" spc="-7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14">
                <a:solidFill>
                  <a:srgbClr val="6E7D93"/>
                </a:solidFill>
                <a:latin typeface="Microsoft Sans Serif"/>
                <a:cs typeface="Microsoft Sans Serif"/>
              </a:rPr>
              <a:t>DOT</a:t>
            </a:r>
            <a:r>
              <a:rPr dirty="0" sz="1050" spc="-5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hours:</a:t>
            </a:r>
            <a:r>
              <a:rPr dirty="0" sz="1050" spc="3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hard</a:t>
            </a:r>
            <a:r>
              <a:rPr dirty="0" sz="950" spc="-3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EFEFE"/>
                </a:solidFill>
                <a:latin typeface="Arial"/>
                <a:cs typeface="Arial"/>
              </a:rPr>
              <a:t>constraints</a:t>
            </a:r>
            <a:endParaRPr sz="9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64525" y="5464162"/>
            <a:ext cx="205232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280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55">
                <a:solidFill>
                  <a:srgbClr val="6E7D93"/>
                </a:solidFill>
                <a:latin typeface="Microsoft Sans Serif"/>
                <a:cs typeface="Microsoft Sans Serif"/>
              </a:rPr>
              <a:t>Time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6E7D93"/>
                </a:solidFill>
                <a:latin typeface="Microsoft Sans Serif"/>
                <a:cs typeface="Microsoft Sans Serif"/>
              </a:rPr>
              <a:t>windows:</a:t>
            </a:r>
            <a:r>
              <a:rPr dirty="0" sz="1050" spc="28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hard</a:t>
            </a:r>
            <a:r>
              <a:rPr dirty="0" sz="950" spc="-5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EFEFE"/>
                </a:solidFill>
                <a:latin typeface="Arial"/>
                <a:cs typeface="Arial"/>
              </a:rPr>
              <a:t>constraints</a:t>
            </a:r>
            <a:endParaRPr sz="9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264525" y="5749912"/>
            <a:ext cx="264541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55">
                <a:solidFill>
                  <a:srgbClr val="C87D0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385">
                <a:solidFill>
                  <a:srgbClr val="C87D0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60">
                <a:solidFill>
                  <a:srgbClr val="6E7D93"/>
                </a:solidFill>
                <a:latin typeface="Microsoft Sans Serif"/>
                <a:cs typeface="Microsoft Sans Serif"/>
              </a:rPr>
              <a:t>All</a:t>
            </a:r>
            <a:r>
              <a:rPr dirty="0" sz="1050" spc="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6E7D93"/>
                </a:solidFill>
                <a:latin typeface="Microsoft Sans Serif"/>
                <a:cs typeface="Microsoft Sans Serif"/>
              </a:rPr>
              <a:t>validated</a:t>
            </a:r>
            <a:r>
              <a:rPr dirty="0" sz="1050" spc="-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6E7D93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6E7D93"/>
                </a:solidFill>
                <a:latin typeface="Microsoft Sans Serif"/>
                <a:cs typeface="Microsoft Sans Serif"/>
              </a:rPr>
              <a:t>every</a:t>
            </a:r>
            <a:r>
              <a:rPr dirty="0" sz="1050" spc="-5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6E7D93"/>
                </a:solidFill>
                <a:latin typeface="Microsoft Sans Serif"/>
                <a:cs typeface="Microsoft Sans Serif"/>
              </a:rPr>
              <a:t>heuristic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iteration</a:t>
            </a:r>
            <a:r>
              <a:rPr dirty="0" sz="1050" spc="-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6E7D93"/>
                </a:solidFill>
                <a:latin typeface="Microsoft Sans Serif"/>
                <a:cs typeface="Microsoft Sans Serif"/>
              </a:rPr>
              <a:t>step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2638" y="659638"/>
              <a:ext cx="6579361" cy="619836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2638" y="4283456"/>
              <a:ext cx="6579361" cy="25745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28974" y="-1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9524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6857999"/>
                  </a:lnTo>
                  <a:close/>
                </a:path>
              </a:pathLst>
            </a:custGeom>
            <a:solidFill>
              <a:srgbClr val="162E52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96899" y="675324"/>
            <a:ext cx="141922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95" b="1">
                <a:solidFill>
                  <a:srgbClr val="C87D09"/>
                </a:solidFill>
                <a:latin typeface="Verdana"/>
                <a:cs typeface="Verdana"/>
              </a:rPr>
              <a:t>H</a:t>
            </a:r>
            <a:r>
              <a:rPr dirty="0" sz="800" spc="-3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sz="800" spc="-9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W</a:t>
            </a:r>
            <a:r>
              <a:rPr dirty="0" sz="800" spc="15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W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31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L</a:t>
            </a:r>
            <a:r>
              <a:rPr dirty="0" sz="8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30" b="1">
                <a:solidFill>
                  <a:srgbClr val="C87D09"/>
                </a:solidFill>
                <a:latin typeface="Verdana"/>
                <a:cs typeface="Verdana"/>
              </a:rPr>
              <a:t>V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D</a:t>
            </a:r>
            <a:r>
              <a:rPr dirty="0" sz="800" spc="2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96899" y="926602"/>
            <a:ext cx="2103120" cy="1106170"/>
          </a:xfrm>
          <a:prstGeom prst="rect"/>
        </p:spPr>
        <p:txBody>
          <a:bodyPr wrap="square" lIns="0" tIns="78740" rIns="0" bIns="0" rtlCol="0" vert="horz">
            <a:spAutoFit/>
          </a:bodyPr>
          <a:lstStyle/>
          <a:p>
            <a:pPr marL="12700" marR="5080">
              <a:lnSpc>
                <a:spcPct val="83700"/>
              </a:lnSpc>
              <a:spcBef>
                <a:spcPts val="620"/>
              </a:spcBef>
            </a:pPr>
            <a:r>
              <a:rPr dirty="0" sz="2650"/>
              <a:t>A</a:t>
            </a:r>
            <a:r>
              <a:rPr dirty="0" sz="2650" spc="-545"/>
              <a:t> </a:t>
            </a:r>
            <a:r>
              <a:rPr dirty="0" sz="2650" spc="-220"/>
              <a:t>fo</a:t>
            </a:r>
            <a:r>
              <a:rPr dirty="0" sz="2550" spc="-220"/>
              <a:t>u</a:t>
            </a:r>
            <a:r>
              <a:rPr dirty="0" sz="2650" spc="-220"/>
              <a:t>r-</a:t>
            </a:r>
            <a:r>
              <a:rPr dirty="0" sz="2650" spc="-270"/>
              <a:t>phase </a:t>
            </a:r>
            <a:r>
              <a:rPr dirty="0" sz="2650" spc="-95"/>
              <a:t>he</a:t>
            </a:r>
            <a:r>
              <a:rPr dirty="0" sz="2550" spc="-95"/>
              <a:t>u</a:t>
            </a:r>
            <a:r>
              <a:rPr dirty="0" sz="2650" spc="-95"/>
              <a:t>ristic </a:t>
            </a:r>
            <a:r>
              <a:rPr dirty="0" sz="2650" spc="-120"/>
              <a:t>approach</a:t>
            </a:r>
            <a:endParaRPr sz="2650"/>
          </a:p>
        </p:txBody>
      </p:sp>
      <p:sp>
        <p:nvSpPr>
          <p:cNvPr id="9" name="object 9"/>
          <p:cNvSpPr txBox="1"/>
          <p:nvPr/>
        </p:nvSpPr>
        <p:spPr>
          <a:xfrm>
            <a:off x="596899" y="2210268"/>
            <a:ext cx="2263140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768499"/>
                </a:solidFill>
                <a:latin typeface="Microsoft Sans Serif"/>
                <a:cs typeface="Microsoft Sans Serif"/>
              </a:rPr>
              <a:t>We</a:t>
            </a:r>
            <a:r>
              <a:rPr dirty="0" sz="1000" spc="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modeled</a:t>
            </a:r>
            <a:r>
              <a:rPr dirty="0" sz="1000" spc="6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this</a:t>
            </a:r>
            <a:r>
              <a:rPr dirty="0" sz="1000" spc="5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as</a:t>
            </a:r>
            <a:r>
              <a:rPr dirty="0" sz="1000" spc="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a</a:t>
            </a:r>
            <a:r>
              <a:rPr dirty="0" sz="1000" spc="6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Capacitated</a:t>
            </a:r>
            <a:r>
              <a:rPr dirty="0" sz="1000" spc="6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768499"/>
                </a:solidFill>
                <a:latin typeface="Microsoft Sans Serif"/>
                <a:cs typeface="Microsoft Sans Serif"/>
              </a:rPr>
              <a:t>VRP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899" y="2375441"/>
            <a:ext cx="2141855" cy="6635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40600"/>
              </a:lnSpc>
              <a:spcBef>
                <a:spcPts val="55"/>
              </a:spcBef>
            </a:pP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with</a:t>
            </a:r>
            <a:r>
              <a:rPr dirty="0" sz="1000" spc="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Time</a:t>
            </a:r>
            <a:r>
              <a:rPr dirty="0" sz="100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Windows</a:t>
            </a:r>
            <a:r>
              <a:rPr dirty="0" sz="1000" spc="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25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00" spc="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solved</a:t>
            </a:r>
            <a:r>
              <a:rPr dirty="0" sz="1000" spc="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768499"/>
                </a:solidFill>
                <a:latin typeface="Microsoft Sans Serif"/>
                <a:cs typeface="Microsoft Sans Serif"/>
              </a:rPr>
              <a:t>fresh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each</a:t>
            </a:r>
            <a:r>
              <a:rPr dirty="0" sz="1000" spc="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768499"/>
                </a:solidFill>
                <a:latin typeface="Microsoft Sans Serif"/>
                <a:cs typeface="Microsoft Sans Serif"/>
              </a:rPr>
              <a:t>day.</a:t>
            </a:r>
            <a:r>
              <a:rPr dirty="0" sz="1000" spc="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768499"/>
                </a:solidFill>
                <a:latin typeface="Microsoft Sans Serif"/>
                <a:cs typeface="Microsoft Sans Serif"/>
              </a:rPr>
              <a:t>Rather</a:t>
            </a:r>
            <a:r>
              <a:rPr dirty="0" sz="100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than</a:t>
            </a:r>
            <a:r>
              <a:rPr dirty="0" sz="1000" spc="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searching</a:t>
            </a:r>
            <a:r>
              <a:rPr dirty="0" sz="100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for</a:t>
            </a:r>
            <a:r>
              <a:rPr dirty="0" sz="1000" spc="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768499"/>
                </a:solidFill>
                <a:latin typeface="Microsoft Sans Serif"/>
                <a:cs typeface="Microsoft Sans Serif"/>
              </a:rPr>
              <a:t>a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theoretically</a:t>
            </a:r>
            <a:r>
              <a:rPr dirty="0" sz="1000" spc="7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perfect</a:t>
            </a:r>
            <a:r>
              <a:rPr dirty="0" sz="1000" spc="1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768499"/>
                </a:solidFill>
                <a:latin typeface="Microsoft Sans Serif"/>
                <a:cs typeface="Microsoft Sans Serif"/>
              </a:rPr>
              <a:t>answer,</a:t>
            </a:r>
            <a:r>
              <a:rPr dirty="0" sz="1000" spc="1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we</a:t>
            </a:r>
            <a:r>
              <a:rPr dirty="0" sz="1000" spc="114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768499"/>
                </a:solidFill>
                <a:latin typeface="Microsoft Sans Serif"/>
                <a:cs typeface="Microsoft Sans Serif"/>
              </a:rPr>
              <a:t>built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899" y="3077043"/>
            <a:ext cx="211010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good</a:t>
            </a:r>
            <a:r>
              <a:rPr dirty="0" sz="1000" spc="7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routes</a:t>
            </a:r>
            <a:r>
              <a:rPr dirty="0" sz="1000" spc="6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fast</a:t>
            </a:r>
            <a:r>
              <a:rPr dirty="0" sz="1000" spc="5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and</a:t>
            </a:r>
            <a:r>
              <a:rPr dirty="0" sz="1000" spc="7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then</a:t>
            </a:r>
            <a:r>
              <a:rPr dirty="0" sz="1000" spc="7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768499"/>
                </a:solidFill>
                <a:latin typeface="Microsoft Sans Serif"/>
                <a:cs typeface="Microsoft Sans Serif"/>
              </a:rPr>
              <a:t>iteratively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899" y="3296118"/>
            <a:ext cx="92138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improved</a:t>
            </a:r>
            <a:r>
              <a:rPr dirty="0" sz="1000" spc="1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768499"/>
                </a:solidFill>
                <a:latin typeface="Microsoft Sans Serif"/>
                <a:cs typeface="Microsoft Sans Serif"/>
              </a:rPr>
              <a:t>them.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899" y="3696168"/>
            <a:ext cx="1971039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solidFill>
                  <a:srgbClr val="768499"/>
                </a:solidFill>
                <a:latin typeface="Microsoft Sans Serif"/>
                <a:cs typeface="Microsoft Sans Serif"/>
              </a:rPr>
              <a:t>Every</a:t>
            </a:r>
            <a:r>
              <a:rPr dirty="0" sz="100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move</a:t>
            </a:r>
            <a:r>
              <a:rPr dirty="0" sz="100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25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0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at</a:t>
            </a:r>
            <a:r>
              <a:rPr dirty="0" sz="1000" spc="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every</a:t>
            </a:r>
            <a:r>
              <a:rPr dirty="0" sz="100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phase</a:t>
            </a:r>
            <a:r>
              <a:rPr dirty="0" sz="100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25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0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768499"/>
                </a:solidFill>
                <a:latin typeface="Microsoft Sans Serif"/>
                <a:cs typeface="Microsoft Sans Serif"/>
              </a:rPr>
              <a:t>is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6899" y="3915243"/>
            <a:ext cx="205422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checked</a:t>
            </a:r>
            <a:r>
              <a:rPr dirty="0" sz="1000" spc="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against</a:t>
            </a:r>
            <a:r>
              <a:rPr dirty="0" sz="1000" spc="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65">
                <a:solidFill>
                  <a:srgbClr val="768499"/>
                </a:solidFill>
                <a:latin typeface="Microsoft Sans Serif"/>
                <a:cs typeface="Microsoft Sans Serif"/>
              </a:rPr>
              <a:t>DOT</a:t>
            </a:r>
            <a:r>
              <a:rPr dirty="0" sz="100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768499"/>
                </a:solidFill>
                <a:latin typeface="Microsoft Sans Serif"/>
                <a:cs typeface="Microsoft Sans Serif"/>
              </a:rPr>
              <a:t>hours,</a:t>
            </a:r>
            <a:r>
              <a:rPr dirty="0" sz="1000" spc="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768499"/>
                </a:solidFill>
                <a:latin typeface="Microsoft Sans Serif"/>
                <a:cs typeface="Microsoft Sans Serif"/>
              </a:rPr>
              <a:t>vehicle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6899" y="4070891"/>
            <a:ext cx="2199640" cy="46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3800"/>
              </a:lnSpc>
              <a:spcBef>
                <a:spcPts val="95"/>
              </a:spcBef>
            </a:pP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capacity,</a:t>
            </a:r>
            <a:r>
              <a:rPr dirty="0" sz="1000" spc="6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and</a:t>
            </a:r>
            <a:r>
              <a:rPr dirty="0" sz="1000" spc="6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00" spc="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8</a:t>
            </a:r>
            <a:r>
              <a:rPr dirty="0" sz="1000" spc="5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100">
                <a:solidFill>
                  <a:srgbClr val="768499"/>
                </a:solidFill>
                <a:latin typeface="Microsoft Sans Serif"/>
                <a:cs typeface="Microsoft Sans Serif"/>
              </a:rPr>
              <a:t>AM–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6</a:t>
            </a:r>
            <a:r>
              <a:rPr dirty="0" sz="1000" spc="5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70">
                <a:solidFill>
                  <a:srgbClr val="768499"/>
                </a:solidFill>
                <a:latin typeface="Microsoft Sans Serif"/>
                <a:cs typeface="Microsoft Sans Serif"/>
              </a:rPr>
              <a:t>PM</a:t>
            </a:r>
            <a:r>
              <a:rPr dirty="0" sz="1000" spc="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768499"/>
                </a:solidFill>
                <a:latin typeface="Microsoft Sans Serif"/>
                <a:cs typeface="Microsoft Sans Serif"/>
              </a:rPr>
              <a:t>delivery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window</a:t>
            </a:r>
            <a:r>
              <a:rPr dirty="0" sz="1000" spc="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before</a:t>
            </a:r>
            <a:r>
              <a:rPr dirty="0" sz="1000" spc="8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768499"/>
                </a:solidFill>
                <a:latin typeface="Microsoft Sans Serif"/>
                <a:cs typeface="Microsoft Sans Serif"/>
              </a:rPr>
              <a:t>it's</a:t>
            </a:r>
            <a:r>
              <a:rPr dirty="0" sz="1000" spc="10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768499"/>
                </a:solidFill>
                <a:latin typeface="Microsoft Sans Serif"/>
                <a:cs typeface="Microsoft Sans Serif"/>
              </a:rPr>
              <a:t>accepted.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9599" y="4791073"/>
            <a:ext cx="2238375" cy="1371600"/>
            <a:chOff x="609599" y="4791073"/>
            <a:chExt cx="2238375" cy="1371600"/>
          </a:xfrm>
        </p:grpSpPr>
        <p:sp>
          <p:nvSpPr>
            <p:cNvPr id="17" name="object 17"/>
            <p:cNvSpPr/>
            <p:nvPr/>
          </p:nvSpPr>
          <p:spPr>
            <a:xfrm>
              <a:off x="623887" y="4791073"/>
              <a:ext cx="2224405" cy="1371600"/>
            </a:xfrm>
            <a:custGeom>
              <a:avLst/>
              <a:gdLst/>
              <a:ahLst/>
              <a:cxnLst/>
              <a:rect l="l" t="t" r="r" b="b"/>
              <a:pathLst>
                <a:path w="2224405" h="1371600">
                  <a:moveTo>
                    <a:pt x="2152890" y="1371597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2152890" y="1"/>
                  </a:lnTo>
                  <a:lnTo>
                    <a:pt x="2194381" y="15617"/>
                  </a:lnTo>
                  <a:lnTo>
                    <a:pt x="2220201" y="51659"/>
                  </a:lnTo>
                  <a:lnTo>
                    <a:pt x="2224087" y="71195"/>
                  </a:lnTo>
                  <a:lnTo>
                    <a:pt x="2224087" y="1300401"/>
                  </a:lnTo>
                  <a:lnTo>
                    <a:pt x="2208464" y="1341890"/>
                  </a:lnTo>
                  <a:lnTo>
                    <a:pt x="2172424" y="1367709"/>
                  </a:lnTo>
                  <a:lnTo>
                    <a:pt x="2152890" y="1371597"/>
                  </a:lnTo>
                  <a:close/>
                </a:path>
              </a:pathLst>
            </a:custGeom>
            <a:solidFill>
              <a:srgbClr val="0086A7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9599" y="4791073"/>
              <a:ext cx="28575" cy="1371600"/>
            </a:xfrm>
            <a:custGeom>
              <a:avLst/>
              <a:gdLst/>
              <a:ahLst/>
              <a:cxnLst/>
              <a:rect l="l" t="t" r="r" b="b"/>
              <a:pathLst>
                <a:path w="28575" h="1371600">
                  <a:moveTo>
                    <a:pt x="28574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1371599"/>
                  </a:lnTo>
                  <a:close/>
                </a:path>
              </a:pathLst>
            </a:custGeom>
            <a:solidFill>
              <a:srgbClr val="0086A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96925" y="4868995"/>
            <a:ext cx="1810385" cy="113030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ct val="126299"/>
              </a:lnSpc>
              <a:spcBef>
                <a:spcPts val="160"/>
              </a:spcBef>
            </a:pPr>
            <a:r>
              <a:rPr dirty="0" sz="950" spc="-60" b="1">
                <a:solidFill>
                  <a:srgbClr val="0086A7"/>
                </a:solidFill>
                <a:latin typeface="Tahoma"/>
                <a:cs typeface="Tahoma"/>
              </a:rPr>
              <a:t>Why</a:t>
            </a:r>
            <a:r>
              <a:rPr dirty="0" sz="950" spc="-90" b="1">
                <a:solidFill>
                  <a:srgbClr val="0086A7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0086A7"/>
                </a:solidFill>
                <a:latin typeface="Tahoma"/>
                <a:cs typeface="Tahoma"/>
              </a:rPr>
              <a:t>per-</a:t>
            </a:r>
            <a:r>
              <a:rPr dirty="0" sz="950" spc="-45" b="1">
                <a:solidFill>
                  <a:srgbClr val="0086A7"/>
                </a:solidFill>
                <a:latin typeface="Tahoma"/>
                <a:cs typeface="Tahoma"/>
              </a:rPr>
              <a:t>day?</a:t>
            </a:r>
            <a:r>
              <a:rPr dirty="0" sz="950" spc="-40" b="1">
                <a:solidFill>
                  <a:srgbClr val="0086A7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Order</a:t>
            </a:r>
            <a:r>
              <a:rPr dirty="0" sz="950" spc="-10">
                <a:solidFill>
                  <a:srgbClr val="607189"/>
                </a:solidFill>
                <a:latin typeface="Microsoft Sans Serif"/>
                <a:cs typeface="Microsoft Sans Serif"/>
              </a:rPr>
              <a:t> volume</a:t>
            </a:r>
            <a:r>
              <a:rPr dirty="0" sz="950" spc="-1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5">
                <a:solidFill>
                  <a:srgbClr val="607189"/>
                </a:solidFill>
                <a:latin typeface="Microsoft Sans Serif"/>
                <a:cs typeface="Microsoft Sans Serif"/>
              </a:rPr>
              <a:t>and </a:t>
            </a:r>
            <a:r>
              <a:rPr dirty="0" sz="950" spc="-10">
                <a:solidFill>
                  <a:srgbClr val="607189"/>
                </a:solidFill>
                <a:latin typeface="Microsoft Sans Serif"/>
                <a:cs typeface="Microsoft Sans Serif"/>
              </a:rPr>
              <a:t>geographic</a:t>
            </a:r>
            <a:r>
              <a:rPr dirty="0" sz="950" spc="-4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spread</a:t>
            </a:r>
            <a:r>
              <a:rPr dirty="0" sz="950" spc="-3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0">
                <a:solidFill>
                  <a:srgbClr val="607189"/>
                </a:solidFill>
                <a:latin typeface="Microsoft Sans Serif"/>
                <a:cs typeface="Microsoft Sans Serif"/>
              </a:rPr>
              <a:t>vary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significantly</a:t>
            </a:r>
            <a:r>
              <a:rPr dirty="0" sz="950" spc="5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day-</a:t>
            </a:r>
            <a:r>
              <a:rPr dirty="0" sz="950" spc="75">
                <a:solidFill>
                  <a:srgbClr val="607189"/>
                </a:solidFill>
                <a:latin typeface="Microsoft Sans Serif"/>
                <a:cs typeface="Microsoft Sans Serif"/>
              </a:rPr>
              <a:t>to-</a:t>
            </a:r>
            <a:r>
              <a:rPr dirty="0" sz="950" spc="-45">
                <a:solidFill>
                  <a:srgbClr val="607189"/>
                </a:solidFill>
                <a:latin typeface="Microsoft Sans Serif"/>
                <a:cs typeface="Microsoft Sans Serif"/>
              </a:rPr>
              <a:t>day.</a:t>
            </a:r>
            <a:r>
              <a:rPr dirty="0" sz="950" spc="14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07189"/>
                </a:solidFill>
                <a:latin typeface="Microsoft Sans Serif"/>
                <a:cs typeface="Microsoft Sans Serif"/>
              </a:rPr>
              <a:t>Solving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per-day</a:t>
            </a:r>
            <a:r>
              <a:rPr dirty="0" sz="950" spc="1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lets</a:t>
            </a:r>
            <a:r>
              <a:rPr dirty="0" sz="950" spc="6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the</a:t>
            </a:r>
            <a:r>
              <a:rPr dirty="0" sz="950" spc="4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950" spc="3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07189"/>
                </a:solidFill>
                <a:latin typeface="Microsoft Sans Serif"/>
                <a:cs typeface="Microsoft Sans Serif"/>
              </a:rPr>
              <a:t>cluster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stops</a:t>
            </a:r>
            <a:r>
              <a:rPr dirty="0" sz="950" spc="2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more</a:t>
            </a:r>
            <a:r>
              <a:rPr dirty="0" sz="950" spc="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tightly</a:t>
            </a:r>
            <a:r>
              <a:rPr dirty="0" sz="950" spc="-1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and</a:t>
            </a:r>
            <a:r>
              <a:rPr dirty="0" sz="950" spc="3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07189"/>
                </a:solidFill>
                <a:latin typeface="Microsoft Sans Serif"/>
                <a:cs typeface="Microsoft Sans Serif"/>
              </a:rPr>
              <a:t>respect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each</a:t>
            </a:r>
            <a:r>
              <a:rPr dirty="0" sz="950" spc="-45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07189"/>
                </a:solidFill>
                <a:latin typeface="Microsoft Sans Serif"/>
                <a:cs typeface="Microsoft Sans Serif"/>
              </a:rPr>
              <a:t>day's</a:t>
            </a:r>
            <a:r>
              <a:rPr dirty="0" sz="950" spc="-5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07189"/>
                </a:solidFill>
                <a:latin typeface="Microsoft Sans Serif"/>
                <a:cs typeface="Microsoft Sans Serif"/>
              </a:rPr>
              <a:t>load</a:t>
            </a:r>
            <a:r>
              <a:rPr dirty="0" sz="950" spc="-40">
                <a:solidFill>
                  <a:srgbClr val="607189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07189"/>
                </a:solidFill>
                <a:latin typeface="Microsoft Sans Serif"/>
                <a:cs typeface="Microsoft Sans Serif"/>
              </a:rPr>
              <a:t>profile.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57599" y="1933573"/>
            <a:ext cx="342900" cy="342900"/>
            <a:chOff x="3657599" y="1933573"/>
            <a:chExt cx="342900" cy="342900"/>
          </a:xfrm>
        </p:grpSpPr>
        <p:sp>
          <p:nvSpPr>
            <p:cNvPr id="21" name="object 21"/>
            <p:cNvSpPr/>
            <p:nvPr/>
          </p:nvSpPr>
          <p:spPr>
            <a:xfrm>
              <a:off x="3662362" y="1938336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687" y="333374"/>
                  </a:moveTo>
                  <a:lnTo>
                    <a:pt x="126175" y="328377"/>
                  </a:lnTo>
                  <a:lnTo>
                    <a:pt x="88110" y="313689"/>
                  </a:lnTo>
                  <a:lnTo>
                    <a:pt x="54753" y="290197"/>
                  </a:lnTo>
                  <a:lnTo>
                    <a:pt x="28091" y="259288"/>
                  </a:lnTo>
                  <a:lnTo>
                    <a:pt x="9738" y="222828"/>
                  </a:lnTo>
                  <a:lnTo>
                    <a:pt x="800" y="183024"/>
                  </a:lnTo>
                  <a:lnTo>
                    <a:pt x="0" y="166687"/>
                  </a:lnTo>
                  <a:lnTo>
                    <a:pt x="200" y="158497"/>
                  </a:lnTo>
                  <a:lnTo>
                    <a:pt x="7175" y="118298"/>
                  </a:lnTo>
                  <a:lnTo>
                    <a:pt x="23708" y="80996"/>
                  </a:lnTo>
                  <a:lnTo>
                    <a:pt x="48821" y="48820"/>
                  </a:lnTo>
                  <a:lnTo>
                    <a:pt x="81000" y="23705"/>
                  </a:lnTo>
                  <a:lnTo>
                    <a:pt x="118299" y="7174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174876" y="200"/>
                  </a:lnTo>
                  <a:lnTo>
                    <a:pt x="215074" y="7174"/>
                  </a:lnTo>
                  <a:lnTo>
                    <a:pt x="252373" y="23705"/>
                  </a:lnTo>
                  <a:lnTo>
                    <a:pt x="284552" y="48820"/>
                  </a:lnTo>
                  <a:lnTo>
                    <a:pt x="309665" y="80996"/>
                  </a:lnTo>
                  <a:lnTo>
                    <a:pt x="326198" y="118298"/>
                  </a:lnTo>
                  <a:lnTo>
                    <a:pt x="333174" y="158497"/>
                  </a:lnTo>
                  <a:lnTo>
                    <a:pt x="333374" y="166687"/>
                  </a:lnTo>
                  <a:lnTo>
                    <a:pt x="333174" y="174875"/>
                  </a:lnTo>
                  <a:lnTo>
                    <a:pt x="326198" y="215069"/>
                  </a:lnTo>
                  <a:lnTo>
                    <a:pt x="309665" y="252371"/>
                  </a:lnTo>
                  <a:lnTo>
                    <a:pt x="284552" y="284549"/>
                  </a:lnTo>
                  <a:lnTo>
                    <a:pt x="252373" y="309662"/>
                  </a:lnTo>
                  <a:lnTo>
                    <a:pt x="215074" y="326195"/>
                  </a:lnTo>
                  <a:lnTo>
                    <a:pt x="174876" y="333174"/>
                  </a:lnTo>
                  <a:lnTo>
                    <a:pt x="166687" y="333374"/>
                  </a:lnTo>
                  <a:close/>
                </a:path>
              </a:pathLst>
            </a:custGeom>
            <a:solidFill>
              <a:srgbClr val="00B4D8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62362" y="1938336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4" y="166687"/>
                  </a:moveTo>
                  <a:lnTo>
                    <a:pt x="328377" y="207194"/>
                  </a:lnTo>
                  <a:lnTo>
                    <a:pt x="313694" y="245261"/>
                  </a:lnTo>
                  <a:lnTo>
                    <a:pt x="290201" y="278619"/>
                  </a:lnTo>
                  <a:lnTo>
                    <a:pt x="259293" y="305279"/>
                  </a:lnTo>
                  <a:lnTo>
                    <a:pt x="222833" y="323631"/>
                  </a:lnTo>
                  <a:lnTo>
                    <a:pt x="183025" y="332574"/>
                  </a:lnTo>
                  <a:lnTo>
                    <a:pt x="166687" y="333374"/>
                  </a:lnTo>
                  <a:lnTo>
                    <a:pt x="158498" y="333174"/>
                  </a:lnTo>
                  <a:lnTo>
                    <a:pt x="118299" y="326197"/>
                  </a:lnTo>
                  <a:lnTo>
                    <a:pt x="81000" y="309660"/>
                  </a:lnTo>
                  <a:lnTo>
                    <a:pt x="48821" y="284549"/>
                  </a:lnTo>
                  <a:lnTo>
                    <a:pt x="23708" y="252369"/>
                  </a:lnTo>
                  <a:lnTo>
                    <a:pt x="7175" y="215069"/>
                  </a:lnTo>
                  <a:lnTo>
                    <a:pt x="200" y="174875"/>
                  </a:lnTo>
                  <a:lnTo>
                    <a:pt x="0" y="166687"/>
                  </a:lnTo>
                  <a:lnTo>
                    <a:pt x="200" y="158497"/>
                  </a:lnTo>
                  <a:lnTo>
                    <a:pt x="7175" y="118298"/>
                  </a:lnTo>
                  <a:lnTo>
                    <a:pt x="23708" y="80996"/>
                  </a:lnTo>
                  <a:lnTo>
                    <a:pt x="48821" y="48820"/>
                  </a:lnTo>
                  <a:lnTo>
                    <a:pt x="81000" y="23705"/>
                  </a:lnTo>
                  <a:lnTo>
                    <a:pt x="118299" y="7174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174876" y="200"/>
                  </a:lnTo>
                  <a:lnTo>
                    <a:pt x="215074" y="7174"/>
                  </a:lnTo>
                  <a:lnTo>
                    <a:pt x="252373" y="23705"/>
                  </a:lnTo>
                  <a:lnTo>
                    <a:pt x="284552" y="48820"/>
                  </a:lnTo>
                  <a:lnTo>
                    <a:pt x="309665" y="80996"/>
                  </a:lnTo>
                  <a:lnTo>
                    <a:pt x="326198" y="118298"/>
                  </a:lnTo>
                  <a:lnTo>
                    <a:pt x="333174" y="158497"/>
                  </a:lnTo>
                  <a:lnTo>
                    <a:pt x="333374" y="166687"/>
                  </a:lnTo>
                  <a:close/>
                </a:path>
              </a:pathLst>
            </a:custGeom>
            <a:ln w="9524">
              <a:solidFill>
                <a:srgbClr val="0086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789858" y="2004318"/>
            <a:ext cx="7175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440" b="1">
                <a:solidFill>
                  <a:srgbClr val="0086A7"/>
                </a:solidFill>
                <a:latin typeface="Verdana"/>
                <a:cs typeface="Verdana"/>
              </a:rPr>
              <a:t>1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57599" y="2276473"/>
            <a:ext cx="342900" cy="800100"/>
            <a:chOff x="3657599" y="2276473"/>
            <a:chExt cx="342900" cy="800100"/>
          </a:xfrm>
        </p:grpSpPr>
        <p:sp>
          <p:nvSpPr>
            <p:cNvPr id="25" name="object 25"/>
            <p:cNvSpPr/>
            <p:nvPr/>
          </p:nvSpPr>
          <p:spPr>
            <a:xfrm>
              <a:off x="3819524" y="2276473"/>
              <a:ext cx="19050" cy="266700"/>
            </a:xfrm>
            <a:custGeom>
              <a:avLst/>
              <a:gdLst/>
              <a:ahLst/>
              <a:cxnLst/>
              <a:rect l="l" t="t" r="r" b="b"/>
              <a:pathLst>
                <a:path w="19050" h="266700">
                  <a:moveTo>
                    <a:pt x="19049" y="266699"/>
                  </a:moveTo>
                  <a:lnTo>
                    <a:pt x="0" y="26669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266699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662362" y="2738436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687" y="333374"/>
                  </a:moveTo>
                  <a:lnTo>
                    <a:pt x="126175" y="328377"/>
                  </a:lnTo>
                  <a:lnTo>
                    <a:pt x="88110" y="313692"/>
                  </a:lnTo>
                  <a:lnTo>
                    <a:pt x="54753" y="290200"/>
                  </a:lnTo>
                  <a:lnTo>
                    <a:pt x="28091" y="259296"/>
                  </a:lnTo>
                  <a:lnTo>
                    <a:pt x="9738" y="222832"/>
                  </a:lnTo>
                  <a:lnTo>
                    <a:pt x="800" y="183024"/>
                  </a:lnTo>
                  <a:lnTo>
                    <a:pt x="0" y="166687"/>
                  </a:lnTo>
                  <a:lnTo>
                    <a:pt x="200" y="158497"/>
                  </a:lnTo>
                  <a:lnTo>
                    <a:pt x="7175" y="118296"/>
                  </a:lnTo>
                  <a:lnTo>
                    <a:pt x="23708" y="80995"/>
                  </a:lnTo>
                  <a:lnTo>
                    <a:pt x="48821" y="48820"/>
                  </a:lnTo>
                  <a:lnTo>
                    <a:pt x="81000" y="23704"/>
                  </a:lnTo>
                  <a:lnTo>
                    <a:pt x="118299" y="7173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174876" y="200"/>
                  </a:lnTo>
                  <a:lnTo>
                    <a:pt x="215074" y="7173"/>
                  </a:lnTo>
                  <a:lnTo>
                    <a:pt x="252373" y="23704"/>
                  </a:lnTo>
                  <a:lnTo>
                    <a:pt x="284552" y="48820"/>
                  </a:lnTo>
                  <a:lnTo>
                    <a:pt x="309665" y="80995"/>
                  </a:lnTo>
                  <a:lnTo>
                    <a:pt x="326198" y="118296"/>
                  </a:lnTo>
                  <a:lnTo>
                    <a:pt x="333174" y="158497"/>
                  </a:lnTo>
                  <a:lnTo>
                    <a:pt x="333374" y="166687"/>
                  </a:lnTo>
                  <a:lnTo>
                    <a:pt x="333174" y="174875"/>
                  </a:lnTo>
                  <a:lnTo>
                    <a:pt x="326198" y="215073"/>
                  </a:lnTo>
                  <a:lnTo>
                    <a:pt x="309665" y="252373"/>
                  </a:lnTo>
                  <a:lnTo>
                    <a:pt x="284552" y="284552"/>
                  </a:lnTo>
                  <a:lnTo>
                    <a:pt x="252373" y="309664"/>
                  </a:lnTo>
                  <a:lnTo>
                    <a:pt x="215074" y="326197"/>
                  </a:lnTo>
                  <a:lnTo>
                    <a:pt x="174876" y="333174"/>
                  </a:lnTo>
                  <a:lnTo>
                    <a:pt x="166687" y="333374"/>
                  </a:lnTo>
                  <a:close/>
                </a:path>
              </a:pathLst>
            </a:custGeom>
            <a:solidFill>
              <a:srgbClr val="C77D09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662362" y="2738436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4" y="166687"/>
                  </a:moveTo>
                  <a:lnTo>
                    <a:pt x="328377" y="207197"/>
                  </a:lnTo>
                  <a:lnTo>
                    <a:pt x="313694" y="245263"/>
                  </a:lnTo>
                  <a:lnTo>
                    <a:pt x="290201" y="278620"/>
                  </a:lnTo>
                  <a:lnTo>
                    <a:pt x="259293" y="305280"/>
                  </a:lnTo>
                  <a:lnTo>
                    <a:pt x="222833" y="323633"/>
                  </a:lnTo>
                  <a:lnTo>
                    <a:pt x="183025" y="332574"/>
                  </a:lnTo>
                  <a:lnTo>
                    <a:pt x="166687" y="333374"/>
                  </a:lnTo>
                  <a:lnTo>
                    <a:pt x="158498" y="333174"/>
                  </a:lnTo>
                  <a:lnTo>
                    <a:pt x="118299" y="326197"/>
                  </a:lnTo>
                  <a:lnTo>
                    <a:pt x="81000" y="309664"/>
                  </a:lnTo>
                  <a:lnTo>
                    <a:pt x="48821" y="284552"/>
                  </a:lnTo>
                  <a:lnTo>
                    <a:pt x="23708" y="252374"/>
                  </a:lnTo>
                  <a:lnTo>
                    <a:pt x="7175" y="215073"/>
                  </a:lnTo>
                  <a:lnTo>
                    <a:pt x="200" y="174875"/>
                  </a:lnTo>
                  <a:lnTo>
                    <a:pt x="0" y="166687"/>
                  </a:lnTo>
                  <a:lnTo>
                    <a:pt x="200" y="158497"/>
                  </a:lnTo>
                  <a:lnTo>
                    <a:pt x="7175" y="118296"/>
                  </a:lnTo>
                  <a:lnTo>
                    <a:pt x="23708" y="80995"/>
                  </a:lnTo>
                  <a:lnTo>
                    <a:pt x="48821" y="48820"/>
                  </a:lnTo>
                  <a:lnTo>
                    <a:pt x="81000" y="23704"/>
                  </a:lnTo>
                  <a:lnTo>
                    <a:pt x="118299" y="7173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174876" y="200"/>
                  </a:lnTo>
                  <a:lnTo>
                    <a:pt x="215074" y="7173"/>
                  </a:lnTo>
                  <a:lnTo>
                    <a:pt x="252373" y="23704"/>
                  </a:lnTo>
                  <a:lnTo>
                    <a:pt x="284552" y="48820"/>
                  </a:lnTo>
                  <a:lnTo>
                    <a:pt x="309665" y="80995"/>
                  </a:lnTo>
                  <a:lnTo>
                    <a:pt x="326198" y="118296"/>
                  </a:lnTo>
                  <a:lnTo>
                    <a:pt x="333174" y="158497"/>
                  </a:lnTo>
                  <a:lnTo>
                    <a:pt x="333374" y="166687"/>
                  </a:lnTo>
                  <a:close/>
                </a:path>
              </a:pathLst>
            </a:custGeom>
            <a:ln w="9524">
              <a:solidFill>
                <a:srgbClr val="C87D0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178299" y="1856710"/>
            <a:ext cx="7381240" cy="6502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Clarke-</a:t>
            </a: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Wright</a:t>
            </a:r>
            <a:r>
              <a:rPr dirty="0" sz="1150" spc="-7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Sa</a:t>
            </a:r>
            <a:r>
              <a:rPr dirty="0" sz="1100" spc="-10" b="1">
                <a:solidFill>
                  <a:srgbClr val="1B3258"/>
                </a:solidFill>
                <a:latin typeface="Verdana"/>
                <a:cs typeface="Verdana"/>
              </a:rPr>
              <a:t>v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ings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9000"/>
              </a:lnSpc>
              <a:spcBef>
                <a:spcPts val="130"/>
              </a:spcBef>
            </a:pP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Start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asking: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every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pair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stores,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how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much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distance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do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we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5">
                <a:solidFill>
                  <a:srgbClr val="768499"/>
                </a:solidFill>
                <a:latin typeface="Microsoft Sans Serif"/>
                <a:cs typeface="Microsoft Sans Serif"/>
              </a:rPr>
              <a:t>save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visiting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them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same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trip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instead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two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separate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runs from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depot?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Merge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highest-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saving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pairs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first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build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initial</a:t>
            </a:r>
            <a:r>
              <a:rPr dirty="0" sz="1050" spc="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routes.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77207" y="2806733"/>
            <a:ext cx="10413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90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657599" y="3076573"/>
            <a:ext cx="342900" cy="800100"/>
            <a:chOff x="3657599" y="3076573"/>
            <a:chExt cx="342900" cy="800100"/>
          </a:xfrm>
        </p:grpSpPr>
        <p:sp>
          <p:nvSpPr>
            <p:cNvPr id="31" name="object 31"/>
            <p:cNvSpPr/>
            <p:nvPr/>
          </p:nvSpPr>
          <p:spPr>
            <a:xfrm>
              <a:off x="3819524" y="3076573"/>
              <a:ext cx="19050" cy="266700"/>
            </a:xfrm>
            <a:custGeom>
              <a:avLst/>
              <a:gdLst/>
              <a:ahLst/>
              <a:cxnLst/>
              <a:rect l="l" t="t" r="r" b="b"/>
              <a:pathLst>
                <a:path w="19050" h="266700">
                  <a:moveTo>
                    <a:pt x="19049" y="266699"/>
                  </a:moveTo>
                  <a:lnTo>
                    <a:pt x="0" y="26669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266699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662362" y="3538536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687" y="333374"/>
                  </a:moveTo>
                  <a:lnTo>
                    <a:pt x="126175" y="328375"/>
                  </a:lnTo>
                  <a:lnTo>
                    <a:pt x="88110" y="313690"/>
                  </a:lnTo>
                  <a:lnTo>
                    <a:pt x="54753" y="290197"/>
                  </a:lnTo>
                  <a:lnTo>
                    <a:pt x="28091" y="259291"/>
                  </a:lnTo>
                  <a:lnTo>
                    <a:pt x="9738" y="222830"/>
                  </a:lnTo>
                  <a:lnTo>
                    <a:pt x="800" y="183024"/>
                  </a:lnTo>
                  <a:lnTo>
                    <a:pt x="0" y="166687"/>
                  </a:lnTo>
                  <a:lnTo>
                    <a:pt x="200" y="158497"/>
                  </a:lnTo>
                  <a:lnTo>
                    <a:pt x="7175" y="118296"/>
                  </a:lnTo>
                  <a:lnTo>
                    <a:pt x="23708" y="80996"/>
                  </a:lnTo>
                  <a:lnTo>
                    <a:pt x="48821" y="48820"/>
                  </a:lnTo>
                  <a:lnTo>
                    <a:pt x="81000" y="23706"/>
                  </a:lnTo>
                  <a:lnTo>
                    <a:pt x="118299" y="7173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174876" y="200"/>
                  </a:lnTo>
                  <a:lnTo>
                    <a:pt x="215074" y="7171"/>
                  </a:lnTo>
                  <a:lnTo>
                    <a:pt x="252373" y="23703"/>
                  </a:lnTo>
                  <a:lnTo>
                    <a:pt x="284552" y="48820"/>
                  </a:lnTo>
                  <a:lnTo>
                    <a:pt x="309665" y="80998"/>
                  </a:lnTo>
                  <a:lnTo>
                    <a:pt x="326198" y="118296"/>
                  </a:lnTo>
                  <a:lnTo>
                    <a:pt x="333174" y="158497"/>
                  </a:lnTo>
                  <a:lnTo>
                    <a:pt x="333374" y="166687"/>
                  </a:lnTo>
                  <a:lnTo>
                    <a:pt x="333174" y="174875"/>
                  </a:lnTo>
                  <a:lnTo>
                    <a:pt x="326198" y="215072"/>
                  </a:lnTo>
                  <a:lnTo>
                    <a:pt x="309665" y="252371"/>
                  </a:lnTo>
                  <a:lnTo>
                    <a:pt x="284552" y="284549"/>
                  </a:lnTo>
                  <a:lnTo>
                    <a:pt x="252373" y="309660"/>
                  </a:lnTo>
                  <a:lnTo>
                    <a:pt x="215074" y="326195"/>
                  </a:lnTo>
                  <a:lnTo>
                    <a:pt x="174876" y="333173"/>
                  </a:lnTo>
                  <a:lnTo>
                    <a:pt x="166687" y="333374"/>
                  </a:lnTo>
                  <a:close/>
                </a:path>
              </a:pathLst>
            </a:custGeom>
            <a:solidFill>
              <a:srgbClr val="33D399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662362" y="3538536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4" y="166687"/>
                  </a:moveTo>
                  <a:lnTo>
                    <a:pt x="328377" y="207196"/>
                  </a:lnTo>
                  <a:lnTo>
                    <a:pt x="313694" y="245262"/>
                  </a:lnTo>
                  <a:lnTo>
                    <a:pt x="290201" y="278617"/>
                  </a:lnTo>
                  <a:lnTo>
                    <a:pt x="259293" y="305276"/>
                  </a:lnTo>
                  <a:lnTo>
                    <a:pt x="222833" y="323631"/>
                  </a:lnTo>
                  <a:lnTo>
                    <a:pt x="183025" y="332572"/>
                  </a:lnTo>
                  <a:lnTo>
                    <a:pt x="166687" y="333374"/>
                  </a:lnTo>
                  <a:lnTo>
                    <a:pt x="158498" y="333173"/>
                  </a:lnTo>
                  <a:lnTo>
                    <a:pt x="118299" y="326195"/>
                  </a:lnTo>
                  <a:lnTo>
                    <a:pt x="81000" y="309662"/>
                  </a:lnTo>
                  <a:lnTo>
                    <a:pt x="48821" y="284549"/>
                  </a:lnTo>
                  <a:lnTo>
                    <a:pt x="23708" y="252371"/>
                  </a:lnTo>
                  <a:lnTo>
                    <a:pt x="7175" y="215071"/>
                  </a:lnTo>
                  <a:lnTo>
                    <a:pt x="200" y="174875"/>
                  </a:lnTo>
                  <a:lnTo>
                    <a:pt x="0" y="166687"/>
                  </a:lnTo>
                  <a:lnTo>
                    <a:pt x="200" y="158497"/>
                  </a:lnTo>
                  <a:lnTo>
                    <a:pt x="7175" y="118296"/>
                  </a:lnTo>
                  <a:lnTo>
                    <a:pt x="23708" y="80996"/>
                  </a:lnTo>
                  <a:lnTo>
                    <a:pt x="48821" y="48820"/>
                  </a:lnTo>
                  <a:lnTo>
                    <a:pt x="81000" y="23706"/>
                  </a:lnTo>
                  <a:lnTo>
                    <a:pt x="118299" y="7173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174876" y="200"/>
                  </a:lnTo>
                  <a:lnTo>
                    <a:pt x="215074" y="7171"/>
                  </a:lnTo>
                  <a:lnTo>
                    <a:pt x="252373" y="23703"/>
                  </a:lnTo>
                  <a:lnTo>
                    <a:pt x="284552" y="48820"/>
                  </a:lnTo>
                  <a:lnTo>
                    <a:pt x="309665" y="80998"/>
                  </a:lnTo>
                  <a:lnTo>
                    <a:pt x="326198" y="118296"/>
                  </a:lnTo>
                  <a:lnTo>
                    <a:pt x="333174" y="158497"/>
                  </a:lnTo>
                  <a:lnTo>
                    <a:pt x="333374" y="166687"/>
                  </a:lnTo>
                  <a:close/>
                </a:path>
              </a:pathLst>
            </a:custGeom>
            <a:ln w="9524">
              <a:solidFill>
                <a:srgbClr val="098F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178299" y="2656810"/>
            <a:ext cx="7306945" cy="6502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150" spc="-140" b="1">
                <a:solidFill>
                  <a:srgbClr val="1B3258"/>
                </a:solidFill>
                <a:latin typeface="Verdana"/>
                <a:cs typeface="Verdana"/>
              </a:rPr>
              <a:t>Intra-</a:t>
            </a: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Ro</a:t>
            </a:r>
            <a:r>
              <a:rPr dirty="0" sz="1100" spc="-114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te</a:t>
            </a: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00" spc="-85" b="1">
                <a:solidFill>
                  <a:srgbClr val="1B3258"/>
                </a:solidFill>
                <a:latin typeface="Verdana"/>
                <a:cs typeface="Verdana"/>
              </a:rPr>
              <a:t>2</a:t>
            </a:r>
            <a:r>
              <a:rPr dirty="0" sz="1150" spc="-85" b="1">
                <a:solidFill>
                  <a:srgbClr val="1B3258"/>
                </a:solidFill>
                <a:latin typeface="Verdana"/>
                <a:cs typeface="Verdana"/>
              </a:rPr>
              <a:t>-</a:t>
            </a:r>
            <a:r>
              <a:rPr dirty="0" sz="1150" spc="-25" b="1">
                <a:solidFill>
                  <a:srgbClr val="1B3258"/>
                </a:solidFill>
                <a:latin typeface="Verdana"/>
                <a:cs typeface="Verdana"/>
              </a:rPr>
              <a:t>Opt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9000"/>
              </a:lnSpc>
              <a:spcBef>
                <a:spcPts val="130"/>
              </a:spcBef>
            </a:pPr>
            <a:r>
              <a:rPr dirty="0" sz="1050" spc="-85">
                <a:solidFill>
                  <a:srgbClr val="768499"/>
                </a:solidFill>
                <a:latin typeface="Microsoft Sans Serif"/>
                <a:cs typeface="Microsoft Sans Serif"/>
              </a:rPr>
              <a:t>Each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route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then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tightened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checking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whether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reversing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any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sub-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segment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reduces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total</a:t>
            </a:r>
            <a:r>
              <a:rPr dirty="0" sz="1050" spc="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travel.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0">
                <a:solidFill>
                  <a:srgbClr val="768499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removes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"crossing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paths"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problem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Clarke-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Wright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sometimes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leaves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behind.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777207" y="3604517"/>
            <a:ext cx="10477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75" b="1">
                <a:solidFill>
                  <a:srgbClr val="098F60"/>
                </a:solidFill>
                <a:latin typeface="Verdana"/>
                <a:cs typeface="Verdana"/>
              </a:rPr>
              <a:t>3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657599" y="3876673"/>
            <a:ext cx="342900" cy="800100"/>
            <a:chOff x="3657599" y="3876673"/>
            <a:chExt cx="342900" cy="800100"/>
          </a:xfrm>
        </p:grpSpPr>
        <p:sp>
          <p:nvSpPr>
            <p:cNvPr id="37" name="object 37"/>
            <p:cNvSpPr/>
            <p:nvPr/>
          </p:nvSpPr>
          <p:spPr>
            <a:xfrm>
              <a:off x="3819524" y="3876673"/>
              <a:ext cx="19050" cy="266700"/>
            </a:xfrm>
            <a:custGeom>
              <a:avLst/>
              <a:gdLst/>
              <a:ahLst/>
              <a:cxnLst/>
              <a:rect l="l" t="t" r="r" b="b"/>
              <a:pathLst>
                <a:path w="19050" h="266700">
                  <a:moveTo>
                    <a:pt x="19049" y="266699"/>
                  </a:moveTo>
                  <a:lnTo>
                    <a:pt x="0" y="26669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266699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662362" y="4338636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166687" y="333374"/>
                  </a:moveTo>
                  <a:lnTo>
                    <a:pt x="126175" y="328375"/>
                  </a:lnTo>
                  <a:lnTo>
                    <a:pt x="88110" y="313690"/>
                  </a:lnTo>
                  <a:lnTo>
                    <a:pt x="54753" y="290201"/>
                  </a:lnTo>
                  <a:lnTo>
                    <a:pt x="28091" y="259293"/>
                  </a:lnTo>
                  <a:lnTo>
                    <a:pt x="9738" y="222831"/>
                  </a:lnTo>
                  <a:lnTo>
                    <a:pt x="800" y="183024"/>
                  </a:lnTo>
                  <a:lnTo>
                    <a:pt x="0" y="166687"/>
                  </a:lnTo>
                  <a:lnTo>
                    <a:pt x="200" y="158498"/>
                  </a:lnTo>
                  <a:lnTo>
                    <a:pt x="7175" y="118298"/>
                  </a:lnTo>
                  <a:lnTo>
                    <a:pt x="23708" y="80998"/>
                  </a:lnTo>
                  <a:lnTo>
                    <a:pt x="48821" y="48820"/>
                  </a:lnTo>
                  <a:lnTo>
                    <a:pt x="81000" y="23706"/>
                  </a:lnTo>
                  <a:lnTo>
                    <a:pt x="118299" y="7173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174876" y="200"/>
                  </a:lnTo>
                  <a:lnTo>
                    <a:pt x="215074" y="7173"/>
                  </a:lnTo>
                  <a:lnTo>
                    <a:pt x="252373" y="23706"/>
                  </a:lnTo>
                  <a:lnTo>
                    <a:pt x="284552" y="48820"/>
                  </a:lnTo>
                  <a:lnTo>
                    <a:pt x="309665" y="80998"/>
                  </a:lnTo>
                  <a:lnTo>
                    <a:pt x="326198" y="118298"/>
                  </a:lnTo>
                  <a:lnTo>
                    <a:pt x="333174" y="158498"/>
                  </a:lnTo>
                  <a:lnTo>
                    <a:pt x="333374" y="166687"/>
                  </a:lnTo>
                  <a:lnTo>
                    <a:pt x="333174" y="174875"/>
                  </a:lnTo>
                  <a:lnTo>
                    <a:pt x="326198" y="215071"/>
                  </a:lnTo>
                  <a:lnTo>
                    <a:pt x="309665" y="252370"/>
                  </a:lnTo>
                  <a:lnTo>
                    <a:pt x="284552" y="284552"/>
                  </a:lnTo>
                  <a:lnTo>
                    <a:pt x="252373" y="309663"/>
                  </a:lnTo>
                  <a:lnTo>
                    <a:pt x="215074" y="326195"/>
                  </a:lnTo>
                  <a:lnTo>
                    <a:pt x="174876" y="333173"/>
                  </a:lnTo>
                  <a:lnTo>
                    <a:pt x="166687" y="333374"/>
                  </a:lnTo>
                  <a:close/>
                </a:path>
              </a:pathLst>
            </a:custGeom>
            <a:solidFill>
              <a:srgbClr val="E778F9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662362" y="4338636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4" y="166687"/>
                  </a:moveTo>
                  <a:lnTo>
                    <a:pt x="328377" y="207195"/>
                  </a:lnTo>
                  <a:lnTo>
                    <a:pt x="313694" y="245260"/>
                  </a:lnTo>
                  <a:lnTo>
                    <a:pt x="290201" y="278619"/>
                  </a:lnTo>
                  <a:lnTo>
                    <a:pt x="259293" y="305280"/>
                  </a:lnTo>
                  <a:lnTo>
                    <a:pt x="222833" y="323631"/>
                  </a:lnTo>
                  <a:lnTo>
                    <a:pt x="183025" y="332572"/>
                  </a:lnTo>
                  <a:lnTo>
                    <a:pt x="166687" y="333374"/>
                  </a:lnTo>
                  <a:lnTo>
                    <a:pt x="158498" y="333173"/>
                  </a:lnTo>
                  <a:lnTo>
                    <a:pt x="118299" y="326195"/>
                  </a:lnTo>
                  <a:lnTo>
                    <a:pt x="81000" y="309663"/>
                  </a:lnTo>
                  <a:lnTo>
                    <a:pt x="48821" y="284552"/>
                  </a:lnTo>
                  <a:lnTo>
                    <a:pt x="23708" y="252372"/>
                  </a:lnTo>
                  <a:lnTo>
                    <a:pt x="7175" y="215071"/>
                  </a:lnTo>
                  <a:lnTo>
                    <a:pt x="200" y="174875"/>
                  </a:lnTo>
                  <a:lnTo>
                    <a:pt x="0" y="166687"/>
                  </a:lnTo>
                  <a:lnTo>
                    <a:pt x="200" y="158498"/>
                  </a:lnTo>
                  <a:lnTo>
                    <a:pt x="7175" y="118298"/>
                  </a:lnTo>
                  <a:lnTo>
                    <a:pt x="23708" y="80998"/>
                  </a:lnTo>
                  <a:lnTo>
                    <a:pt x="48821" y="48820"/>
                  </a:lnTo>
                  <a:lnTo>
                    <a:pt x="81000" y="23706"/>
                  </a:lnTo>
                  <a:lnTo>
                    <a:pt x="118299" y="7173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174876" y="200"/>
                  </a:lnTo>
                  <a:lnTo>
                    <a:pt x="215074" y="7173"/>
                  </a:lnTo>
                  <a:lnTo>
                    <a:pt x="252373" y="23706"/>
                  </a:lnTo>
                  <a:lnTo>
                    <a:pt x="284552" y="48820"/>
                  </a:lnTo>
                  <a:lnTo>
                    <a:pt x="309665" y="80998"/>
                  </a:lnTo>
                  <a:lnTo>
                    <a:pt x="326198" y="118298"/>
                  </a:lnTo>
                  <a:lnTo>
                    <a:pt x="333174" y="158498"/>
                  </a:lnTo>
                  <a:lnTo>
                    <a:pt x="333374" y="166687"/>
                  </a:lnTo>
                  <a:close/>
                </a:path>
              </a:pathLst>
            </a:custGeom>
            <a:ln w="9524">
              <a:solidFill>
                <a:srgbClr val="8B2E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4178299" y="3456910"/>
            <a:ext cx="7427595" cy="6502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Ro</a:t>
            </a:r>
            <a:r>
              <a:rPr dirty="0" sz="1100" spc="-114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te</a:t>
            </a:r>
            <a:r>
              <a:rPr dirty="0" sz="1150" spc="-15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Consolidation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9000"/>
              </a:lnSpc>
              <a:spcBef>
                <a:spcPts val="130"/>
              </a:spcBef>
            </a:pP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Where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two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under-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loaded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routes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can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be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safely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merged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into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one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without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overflowing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vehicle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capacity,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we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collapse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them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reducing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the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number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depot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departures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needed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day.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226651" y="6501570"/>
            <a:ext cx="370205" cy="128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850" spc="-40" b="1">
                <a:solidFill>
                  <a:srgbClr val="B3BAC6"/>
                </a:solidFill>
                <a:latin typeface="Verdana"/>
                <a:cs typeface="Verdana"/>
              </a:rPr>
              <a:t>05</a:t>
            </a:r>
            <a:r>
              <a:rPr dirty="0" sz="850" spc="-125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B3BAC6"/>
                </a:solidFill>
                <a:latin typeface="Verdana"/>
                <a:cs typeface="Verdana"/>
              </a:rPr>
              <a:t>/</a:t>
            </a:r>
            <a:r>
              <a:rPr dirty="0" sz="850" spc="-114" b="1">
                <a:solidFill>
                  <a:srgbClr val="B3BAC6"/>
                </a:solidFill>
                <a:latin typeface="Verdana"/>
                <a:cs typeface="Verdana"/>
              </a:rPr>
              <a:t> 15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774677" y="4404617"/>
            <a:ext cx="113664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 b="1">
                <a:solidFill>
                  <a:srgbClr val="8B2EC8"/>
                </a:solidFill>
                <a:latin typeface="Verdana"/>
                <a:cs typeface="Verdana"/>
              </a:rPr>
              <a:t>4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78299" y="4257010"/>
            <a:ext cx="7469505" cy="6502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Inter-</a:t>
            </a: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Ro</a:t>
            </a:r>
            <a:r>
              <a:rPr dirty="0" sz="1100" spc="-114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te</a:t>
            </a:r>
            <a:r>
              <a:rPr dirty="0" sz="1150" spc="-10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85" b="1">
                <a:solidFill>
                  <a:srgbClr val="1B3258"/>
                </a:solidFill>
                <a:latin typeface="Verdana"/>
                <a:cs typeface="Verdana"/>
              </a:rPr>
              <a:t>Or-</a:t>
            </a:r>
            <a:r>
              <a:rPr dirty="0" sz="1150" spc="-25" b="1">
                <a:solidFill>
                  <a:srgbClr val="1B3258"/>
                </a:solidFill>
                <a:latin typeface="Verdana"/>
                <a:cs typeface="Verdana"/>
              </a:rPr>
              <a:t>Opt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9000"/>
              </a:lnSpc>
              <a:spcBef>
                <a:spcPts val="130"/>
              </a:spcBef>
            </a:pPr>
            <a:r>
              <a:rPr dirty="0" sz="1050" spc="-70">
                <a:solidFill>
                  <a:srgbClr val="768499"/>
                </a:solidFill>
                <a:latin typeface="Microsoft Sans Serif"/>
                <a:cs typeface="Microsoft Sans Serif"/>
              </a:rPr>
              <a:t>Finally,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small</a:t>
            </a:r>
            <a:r>
              <a:rPr dirty="0" sz="1050" spc="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chains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1–3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consecutive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stops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are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moved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between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routes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find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any remaining </a:t>
            </a:r>
            <a:r>
              <a:rPr dirty="0" sz="1050" spc="-75">
                <a:solidFill>
                  <a:srgbClr val="768499"/>
                </a:solidFill>
                <a:latin typeface="Microsoft Sans Serif"/>
                <a:cs typeface="Microsoft Sans Serif"/>
              </a:rPr>
              <a:t>savings.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0">
                <a:solidFill>
                  <a:srgbClr val="768499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cross-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route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tuning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where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last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few</a:t>
            </a:r>
            <a:r>
              <a:rPr dirty="0" sz="1050" spc="-7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miles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get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squeezed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out.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5399" y="1238250"/>
              <a:ext cx="5816600" cy="56197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5399" y="4283455"/>
              <a:ext cx="5816600" cy="25745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66899" y="495298"/>
              <a:ext cx="914400" cy="219075"/>
            </a:xfrm>
            <a:custGeom>
              <a:avLst/>
              <a:gdLst/>
              <a:ahLst/>
              <a:cxnLst/>
              <a:rect l="l" t="t" r="r" b="b"/>
              <a:pathLst>
                <a:path w="914400" h="219075">
                  <a:moveTo>
                    <a:pt x="80486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6"/>
                  </a:lnTo>
                  <a:lnTo>
                    <a:pt x="24821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1" y="98746"/>
                  </a:lnTo>
                  <a:lnTo>
                    <a:pt x="12948" y="57849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804862" y="0"/>
                  </a:lnTo>
                  <a:lnTo>
                    <a:pt x="846780" y="8338"/>
                  </a:lnTo>
                  <a:lnTo>
                    <a:pt x="882316" y="32082"/>
                  </a:lnTo>
                  <a:lnTo>
                    <a:pt x="906061" y="67619"/>
                  </a:lnTo>
                  <a:lnTo>
                    <a:pt x="914399" y="109537"/>
                  </a:lnTo>
                  <a:lnTo>
                    <a:pt x="913878" y="120327"/>
                  </a:lnTo>
                  <a:lnTo>
                    <a:pt x="901450" y="161225"/>
                  </a:lnTo>
                  <a:lnTo>
                    <a:pt x="874318" y="194253"/>
                  </a:lnTo>
                  <a:lnTo>
                    <a:pt x="836611" y="214384"/>
                  </a:lnTo>
                  <a:lnTo>
                    <a:pt x="804862" y="219074"/>
                  </a:lnTo>
                  <a:close/>
                </a:path>
              </a:pathLst>
            </a:custGeom>
            <a:solidFill>
              <a:srgbClr val="0086A7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66899" y="495300"/>
              <a:ext cx="914400" cy="219075"/>
            </a:xfrm>
            <a:custGeom>
              <a:avLst/>
              <a:gdLst/>
              <a:ahLst/>
              <a:cxnLst/>
              <a:rect l="l" t="t" r="r" b="b"/>
              <a:pathLst>
                <a:path w="914400" h="219075">
                  <a:moveTo>
                    <a:pt x="80486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6"/>
                  </a:lnTo>
                  <a:lnTo>
                    <a:pt x="24821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1" y="98746"/>
                  </a:lnTo>
                  <a:lnTo>
                    <a:pt x="12948" y="57849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804862" y="0"/>
                  </a:lnTo>
                  <a:lnTo>
                    <a:pt x="846780" y="8338"/>
                  </a:lnTo>
                  <a:lnTo>
                    <a:pt x="849295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1" y="153877"/>
                  </a:lnTo>
                  <a:lnTo>
                    <a:pt x="29923" y="170404"/>
                  </a:lnTo>
                  <a:lnTo>
                    <a:pt x="30028" y="170561"/>
                  </a:lnTo>
                  <a:lnTo>
                    <a:pt x="59433" y="196343"/>
                  </a:lnTo>
                  <a:lnTo>
                    <a:pt x="96466" y="208909"/>
                  </a:lnTo>
                  <a:lnTo>
                    <a:pt x="102970" y="209549"/>
                  </a:lnTo>
                  <a:lnTo>
                    <a:pt x="849295" y="209549"/>
                  </a:lnTo>
                  <a:lnTo>
                    <a:pt x="846780" y="210736"/>
                  </a:lnTo>
                  <a:lnTo>
                    <a:pt x="836611" y="214384"/>
                  </a:lnTo>
                  <a:lnTo>
                    <a:pt x="826235" y="216990"/>
                  </a:lnTo>
                  <a:lnTo>
                    <a:pt x="815652" y="218553"/>
                  </a:lnTo>
                  <a:lnTo>
                    <a:pt x="804862" y="219074"/>
                  </a:lnTo>
                  <a:close/>
                </a:path>
                <a:path w="914400" h="219075">
                  <a:moveTo>
                    <a:pt x="849295" y="209549"/>
                  </a:moveTo>
                  <a:lnTo>
                    <a:pt x="811429" y="209549"/>
                  </a:lnTo>
                  <a:lnTo>
                    <a:pt x="817933" y="208909"/>
                  </a:lnTo>
                  <a:lnTo>
                    <a:pt x="830814" y="206347"/>
                  </a:lnTo>
                  <a:lnTo>
                    <a:pt x="865886" y="189046"/>
                  </a:lnTo>
                  <a:lnTo>
                    <a:pt x="891668" y="159641"/>
                  </a:lnTo>
                  <a:lnTo>
                    <a:pt x="904234" y="122608"/>
                  </a:lnTo>
                  <a:lnTo>
                    <a:pt x="904874" y="116104"/>
                  </a:lnTo>
                  <a:lnTo>
                    <a:pt x="904874" y="102970"/>
                  </a:lnTo>
                  <a:lnTo>
                    <a:pt x="894748" y="65197"/>
                  </a:lnTo>
                  <a:lnTo>
                    <a:pt x="870938" y="34174"/>
                  </a:lnTo>
                  <a:lnTo>
                    <a:pt x="837068" y="14624"/>
                  </a:lnTo>
                  <a:lnTo>
                    <a:pt x="811429" y="9524"/>
                  </a:lnTo>
                  <a:lnTo>
                    <a:pt x="849295" y="9524"/>
                  </a:lnTo>
                  <a:lnTo>
                    <a:pt x="882316" y="32082"/>
                  </a:lnTo>
                  <a:lnTo>
                    <a:pt x="895839" y="48513"/>
                  </a:lnTo>
                  <a:lnTo>
                    <a:pt x="895956" y="48670"/>
                  </a:lnTo>
                  <a:lnTo>
                    <a:pt x="912315" y="88163"/>
                  </a:lnTo>
                  <a:lnTo>
                    <a:pt x="914399" y="109537"/>
                  </a:lnTo>
                  <a:lnTo>
                    <a:pt x="913878" y="120327"/>
                  </a:lnTo>
                  <a:lnTo>
                    <a:pt x="901450" y="161225"/>
                  </a:lnTo>
                  <a:lnTo>
                    <a:pt x="874318" y="194253"/>
                  </a:lnTo>
                  <a:lnTo>
                    <a:pt x="856549" y="206126"/>
                  </a:lnTo>
                  <a:lnTo>
                    <a:pt x="849295" y="209549"/>
                  </a:lnTo>
                  <a:close/>
                </a:path>
              </a:pathLst>
            </a:custGeom>
            <a:solidFill>
              <a:srgbClr val="00B4D8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96899" y="532449"/>
            <a:ext cx="208089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73505" algn="l"/>
              </a:tabLst>
            </a:pPr>
            <a:r>
              <a:rPr dirty="0" baseline="3472" sz="1200" spc="-89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baseline="3472" sz="1200" spc="-11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82" b="1">
                <a:solidFill>
                  <a:srgbClr val="C87D09"/>
                </a:solidFill>
                <a:latin typeface="Verdana"/>
                <a:cs typeface="Verdana"/>
              </a:rPr>
              <a:t>C</a:t>
            </a:r>
            <a:r>
              <a:rPr dirty="0" baseline="3472" sz="12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165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baseline="3472" sz="1200" spc="-60" b="1">
                <a:solidFill>
                  <a:srgbClr val="C87D09"/>
                </a:solidFill>
                <a:latin typeface="Verdana"/>
                <a:cs typeface="Verdana"/>
              </a:rPr>
              <a:t> N</a:t>
            </a:r>
            <a:r>
              <a:rPr dirty="0" baseline="3472" sz="1200" spc="-67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baseline="3472" sz="1200" spc="-14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75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baseline="3472" sz="12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375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baseline="3472" sz="1200" spc="7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baseline="3472" sz="1200" spc="47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15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baseline="3472" sz="12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60" b="1">
                <a:solidFill>
                  <a:srgbClr val="C87D09"/>
                </a:solidFill>
                <a:latin typeface="Verdana"/>
                <a:cs typeface="Verdana"/>
              </a:rPr>
              <a:t>N </a:t>
            </a:r>
            <a:r>
              <a:rPr dirty="0" baseline="3472" sz="1200" spc="-75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	</a:t>
            </a:r>
            <a:r>
              <a:rPr dirty="0" sz="750">
                <a:solidFill>
                  <a:srgbClr val="0086A7"/>
                </a:solidFill>
                <a:latin typeface="Arial MT"/>
                <a:cs typeface="Arial MT"/>
              </a:rPr>
              <a:t></a:t>
            </a:r>
            <a:r>
              <a:rPr dirty="0" sz="750" spc="305">
                <a:solidFill>
                  <a:srgbClr val="0086A7"/>
                </a:solidFill>
                <a:latin typeface="Arial MT"/>
                <a:cs typeface="Arial MT"/>
              </a:rPr>
              <a:t> </a:t>
            </a:r>
            <a:r>
              <a:rPr dirty="0" baseline="3703" sz="1125" spc="-104" b="1">
                <a:solidFill>
                  <a:srgbClr val="0086A7"/>
                </a:solidFill>
                <a:latin typeface="Arial"/>
                <a:cs typeface="Arial"/>
              </a:rPr>
              <a:t>B</a:t>
            </a:r>
            <a:r>
              <a:rPr dirty="0" baseline="3703" sz="1125" spc="-15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b="1">
                <a:solidFill>
                  <a:srgbClr val="0086A7"/>
                </a:solidFill>
                <a:latin typeface="Arial"/>
                <a:cs typeface="Arial"/>
              </a:rPr>
              <a:t>AS</a:t>
            </a:r>
            <a:r>
              <a:rPr dirty="0" baseline="3703" sz="1125" spc="-142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spc="-112" b="1">
                <a:solidFill>
                  <a:srgbClr val="0086A7"/>
                </a:solidFill>
                <a:latin typeface="Arial"/>
                <a:cs typeface="Arial"/>
              </a:rPr>
              <a:t>E</a:t>
            </a:r>
            <a:r>
              <a:rPr dirty="0" baseline="3703" sz="1125" spc="-127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spc="-97" b="1">
                <a:solidFill>
                  <a:srgbClr val="0086A7"/>
                </a:solidFill>
                <a:latin typeface="Arial"/>
                <a:cs typeface="Arial"/>
              </a:rPr>
              <a:t>L</a:t>
            </a:r>
            <a:r>
              <a:rPr dirty="0" baseline="3703" sz="1125" spc="-127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spc="-104" b="1">
                <a:solidFill>
                  <a:srgbClr val="0086A7"/>
                </a:solidFill>
                <a:latin typeface="Arial"/>
                <a:cs typeface="Arial"/>
              </a:rPr>
              <a:t>I</a:t>
            </a:r>
            <a:r>
              <a:rPr dirty="0" baseline="3703" sz="1125" spc="-67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spc="-30" b="1">
                <a:solidFill>
                  <a:srgbClr val="0086A7"/>
                </a:solidFill>
                <a:latin typeface="Arial"/>
                <a:cs typeface="Arial"/>
              </a:rPr>
              <a:t>N</a:t>
            </a:r>
            <a:r>
              <a:rPr dirty="0" baseline="3703" sz="1125" spc="-127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spc="-75" b="1">
                <a:solidFill>
                  <a:srgbClr val="0086A7"/>
                </a:solidFill>
                <a:latin typeface="Arial"/>
                <a:cs typeface="Arial"/>
              </a:rPr>
              <a:t>E</a:t>
            </a:r>
            <a:endParaRPr baseline="3703" sz="1125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96899" y="505074"/>
            <a:ext cx="6955155" cy="876935"/>
          </a:xfrm>
          <a:prstGeom prst="rect"/>
        </p:spPr>
        <p:txBody>
          <a:bodyPr wrap="square" lIns="0" tIns="196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2950" spc="-550"/>
              <a:t>Q1:</a:t>
            </a:r>
            <a:r>
              <a:rPr dirty="0" sz="2950" spc="-395"/>
              <a:t> </a:t>
            </a:r>
            <a:r>
              <a:rPr dirty="0" sz="2950" spc="-305"/>
              <a:t>Base</a:t>
            </a:r>
            <a:r>
              <a:rPr dirty="0" sz="2950" spc="-520"/>
              <a:t> </a:t>
            </a:r>
            <a:r>
              <a:rPr dirty="0" sz="2950" spc="-204"/>
              <a:t>Case</a:t>
            </a:r>
            <a:r>
              <a:rPr dirty="0" sz="2950" spc="-520"/>
              <a:t> </a:t>
            </a:r>
            <a:r>
              <a:rPr dirty="0" sz="2950" spc="-295"/>
              <a:t>—</a:t>
            </a:r>
            <a:r>
              <a:rPr dirty="0" sz="2950" spc="-645"/>
              <a:t> </a:t>
            </a:r>
            <a:r>
              <a:rPr dirty="0" sz="2950" spc="-305"/>
              <a:t>Vans</a:t>
            </a:r>
            <a:r>
              <a:rPr dirty="0" sz="2950" spc="-520"/>
              <a:t> </a:t>
            </a:r>
            <a:r>
              <a:rPr dirty="0" sz="2950" spc="-20"/>
              <a:t>Onl</a:t>
            </a:r>
            <a:r>
              <a:rPr dirty="0" sz="2900" spc="-20"/>
              <a:t>y</a:t>
            </a:r>
            <a:endParaRPr sz="2900"/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Homogeneous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3,200 ft³</a:t>
            </a:r>
            <a:r>
              <a:rPr dirty="0" sz="100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van</a:t>
            </a:r>
            <a:r>
              <a:rPr dirty="0" sz="100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fleet</a:t>
            </a:r>
            <a:r>
              <a:rPr dirty="0" sz="100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with</a:t>
            </a:r>
            <a:r>
              <a:rPr dirty="0" sz="1000" spc="4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the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existing</a:t>
            </a:r>
            <a:r>
              <a:rPr dirty="0" sz="1000" spc="-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fixed</a:t>
            </a:r>
            <a:r>
              <a:rPr dirty="0" sz="100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70" b="0">
                <a:solidFill>
                  <a:srgbClr val="6E7D93"/>
                </a:solidFill>
                <a:latin typeface="Microsoft Sans Serif"/>
                <a:cs typeface="Microsoft Sans Serif"/>
              </a:rPr>
              <a:t>Mon–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Fri</a:t>
            </a:r>
            <a:r>
              <a:rPr dirty="0" sz="1000" spc="7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delivery</a:t>
            </a:r>
            <a:r>
              <a:rPr dirty="0" sz="100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schedule.</a:t>
            </a:r>
            <a:r>
              <a:rPr dirty="0" sz="1000" spc="5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This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is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the</a:t>
            </a:r>
            <a:r>
              <a:rPr dirty="0" sz="1000" spc="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 b="0">
                <a:solidFill>
                  <a:srgbClr val="6E7D93"/>
                </a:solidFill>
                <a:latin typeface="Microsoft Sans Serif"/>
                <a:cs typeface="Microsoft Sans Serif"/>
              </a:rPr>
              <a:t>MAD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benchmarking</a:t>
            </a:r>
            <a:r>
              <a:rPr dirty="0" sz="1000" spc="-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baseline.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9599" y="1571623"/>
            <a:ext cx="2647950" cy="762000"/>
            <a:chOff x="609599" y="1571623"/>
            <a:chExt cx="2647950" cy="762000"/>
          </a:xfrm>
        </p:grpSpPr>
        <p:sp>
          <p:nvSpPr>
            <p:cNvPr id="11" name="object 11"/>
            <p:cNvSpPr/>
            <p:nvPr/>
          </p:nvSpPr>
          <p:spPr>
            <a:xfrm>
              <a:off x="609599" y="1571623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700"/>
                  </a:lnTo>
                  <a:lnTo>
                    <a:pt x="2614472" y="33477"/>
                  </a:lnTo>
                  <a:lnTo>
                    <a:pt x="2639248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39248" y="691440"/>
                  </a:lnTo>
                  <a:lnTo>
                    <a:pt x="2614472" y="728522"/>
                  </a:lnTo>
                  <a:lnTo>
                    <a:pt x="2577390" y="753299"/>
                  </a:lnTo>
                  <a:lnTo>
                    <a:pt x="2533649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9599" y="1571625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700"/>
                  </a:lnTo>
                  <a:lnTo>
                    <a:pt x="257913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79136" y="752474"/>
                  </a:lnTo>
                  <a:lnTo>
                    <a:pt x="2577390" y="753299"/>
                  </a:lnTo>
                  <a:lnTo>
                    <a:pt x="2566779" y="757105"/>
                  </a:lnTo>
                  <a:lnTo>
                    <a:pt x="2555952" y="759824"/>
                  </a:lnTo>
                  <a:lnTo>
                    <a:pt x="2544909" y="761456"/>
                  </a:lnTo>
                  <a:lnTo>
                    <a:pt x="2533649" y="761999"/>
                  </a:lnTo>
                  <a:close/>
                </a:path>
                <a:path w="2647950" h="762000">
                  <a:moveTo>
                    <a:pt x="2579136" y="752474"/>
                  </a:moveTo>
                  <a:lnTo>
                    <a:pt x="2540529" y="752474"/>
                  </a:lnTo>
                  <a:lnTo>
                    <a:pt x="2547343" y="751803"/>
                  </a:lnTo>
                  <a:lnTo>
                    <a:pt x="2560837" y="749119"/>
                  </a:lnTo>
                  <a:lnTo>
                    <a:pt x="2597579" y="730994"/>
                  </a:lnTo>
                  <a:lnTo>
                    <a:pt x="2624589" y="700189"/>
                  </a:lnTo>
                  <a:lnTo>
                    <a:pt x="2637753" y="661393"/>
                  </a:lnTo>
                  <a:lnTo>
                    <a:pt x="2638424" y="654579"/>
                  </a:lnTo>
                  <a:lnTo>
                    <a:pt x="2638424" y="107420"/>
                  </a:lnTo>
                  <a:lnTo>
                    <a:pt x="2627816" y="67848"/>
                  </a:lnTo>
                  <a:lnTo>
                    <a:pt x="2602872" y="35348"/>
                  </a:lnTo>
                  <a:lnTo>
                    <a:pt x="2567389" y="14867"/>
                  </a:lnTo>
                  <a:lnTo>
                    <a:pt x="2540529" y="9524"/>
                  </a:lnTo>
                  <a:lnTo>
                    <a:pt x="2579137" y="9524"/>
                  </a:lnTo>
                  <a:lnTo>
                    <a:pt x="2614472" y="33477"/>
                  </a:lnTo>
                  <a:lnTo>
                    <a:pt x="2639248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47405" y="658959"/>
                  </a:lnTo>
                  <a:lnTo>
                    <a:pt x="2634437" y="701634"/>
                  </a:lnTo>
                  <a:lnTo>
                    <a:pt x="2606125" y="736099"/>
                  </a:lnTo>
                  <a:lnTo>
                    <a:pt x="2587584" y="748487"/>
                  </a:lnTo>
                  <a:lnTo>
                    <a:pt x="2579136" y="7524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96925" y="1581632"/>
            <a:ext cx="897890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340" b="1">
                <a:solidFill>
                  <a:srgbClr val="C87D09"/>
                </a:solidFill>
                <a:latin typeface="Verdana"/>
                <a:cs typeface="Verdana"/>
              </a:rPr>
              <a:t>6,714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KLY</a:t>
            </a:r>
            <a:r>
              <a:rPr dirty="0" sz="850" spc="18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6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>
                <a:solidFill>
                  <a:srgbClr val="8490A3"/>
                </a:solidFill>
                <a:latin typeface="Microsoft Sans Serif"/>
                <a:cs typeface="Microsoft Sans Serif"/>
              </a:rPr>
              <a:t>L</a:t>
            </a:r>
            <a:r>
              <a:rPr dirty="0" sz="850" spc="-1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90899" y="1571623"/>
            <a:ext cx="2638425" cy="762000"/>
            <a:chOff x="3390899" y="1571623"/>
            <a:chExt cx="2638425" cy="762000"/>
          </a:xfrm>
        </p:grpSpPr>
        <p:sp>
          <p:nvSpPr>
            <p:cNvPr id="15" name="object 15"/>
            <p:cNvSpPr/>
            <p:nvPr/>
          </p:nvSpPr>
          <p:spPr>
            <a:xfrm>
              <a:off x="3390899" y="1571623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5" y="8700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29723" y="691440"/>
                  </a:lnTo>
                  <a:lnTo>
                    <a:pt x="2604946" y="728522"/>
                  </a:lnTo>
                  <a:lnTo>
                    <a:pt x="2567864" y="753299"/>
                  </a:lnTo>
                  <a:lnTo>
                    <a:pt x="2524124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90899" y="1571625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5" y="8700"/>
                  </a:lnTo>
                  <a:lnTo>
                    <a:pt x="256961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69611" y="752474"/>
                  </a:lnTo>
                  <a:lnTo>
                    <a:pt x="2567864" y="753299"/>
                  </a:lnTo>
                  <a:lnTo>
                    <a:pt x="2557254" y="757105"/>
                  </a:lnTo>
                  <a:lnTo>
                    <a:pt x="2546427" y="759824"/>
                  </a:lnTo>
                  <a:lnTo>
                    <a:pt x="2535384" y="761456"/>
                  </a:lnTo>
                  <a:lnTo>
                    <a:pt x="2524124" y="761999"/>
                  </a:lnTo>
                  <a:close/>
                </a:path>
                <a:path w="2638425" h="762000">
                  <a:moveTo>
                    <a:pt x="2569611" y="752474"/>
                  </a:moveTo>
                  <a:lnTo>
                    <a:pt x="2531004" y="752474"/>
                  </a:lnTo>
                  <a:lnTo>
                    <a:pt x="2537817" y="751803"/>
                  </a:lnTo>
                  <a:lnTo>
                    <a:pt x="2551312" y="749119"/>
                  </a:lnTo>
                  <a:lnTo>
                    <a:pt x="2588054" y="730994"/>
                  </a:lnTo>
                  <a:lnTo>
                    <a:pt x="2615063" y="700189"/>
                  </a:lnTo>
                  <a:lnTo>
                    <a:pt x="2628228" y="661393"/>
                  </a:lnTo>
                  <a:lnTo>
                    <a:pt x="2628899" y="654579"/>
                  </a:lnTo>
                  <a:lnTo>
                    <a:pt x="2628899" y="107420"/>
                  </a:lnTo>
                  <a:lnTo>
                    <a:pt x="2618291" y="67848"/>
                  </a:lnTo>
                  <a:lnTo>
                    <a:pt x="2593347" y="35348"/>
                  </a:lnTo>
                  <a:lnTo>
                    <a:pt x="2557864" y="14867"/>
                  </a:lnTo>
                  <a:lnTo>
                    <a:pt x="2531004" y="9524"/>
                  </a:lnTo>
                  <a:lnTo>
                    <a:pt x="2569612" y="9524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37880" y="658959"/>
                  </a:lnTo>
                  <a:lnTo>
                    <a:pt x="2624912" y="701634"/>
                  </a:lnTo>
                  <a:lnTo>
                    <a:pt x="2596600" y="736099"/>
                  </a:lnTo>
                  <a:lnTo>
                    <a:pt x="2578059" y="748487"/>
                  </a:lnTo>
                  <a:lnTo>
                    <a:pt x="2569611" y="7524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573462" y="1581632"/>
            <a:ext cx="1287780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315" b="1">
                <a:solidFill>
                  <a:srgbClr val="C87D09"/>
                </a:solidFill>
                <a:latin typeface="Verdana"/>
                <a:cs typeface="Verdana"/>
              </a:rPr>
              <a:t>349,1</a:t>
            </a:r>
            <a:r>
              <a:rPr dirty="0" sz="2250" spc="-315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r>
              <a:rPr dirty="0" sz="2300" spc="-315" b="1">
                <a:solidFill>
                  <a:srgbClr val="C87D09"/>
                </a:solidFill>
                <a:latin typeface="Verdana"/>
                <a:cs typeface="Verdana"/>
              </a:rPr>
              <a:t>8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AN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5">
                <a:solidFill>
                  <a:srgbClr val="8490A3"/>
                </a:solidFill>
                <a:latin typeface="Microsoft Sans Serif"/>
                <a:cs typeface="Microsoft Sans Serif"/>
              </a:rPr>
              <a:t>N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UAL</a:t>
            </a:r>
            <a:r>
              <a:rPr dirty="0" sz="850" spc="229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5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>
                <a:solidFill>
                  <a:srgbClr val="8490A3"/>
                </a:solidFill>
                <a:latin typeface="Microsoft Sans Serif"/>
                <a:cs typeface="Microsoft Sans Serif"/>
              </a:rPr>
              <a:t>L</a:t>
            </a:r>
            <a:r>
              <a:rPr dirty="0" sz="850" spc="-1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r>
              <a:rPr dirty="0" sz="850" spc="22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(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75">
                <a:solidFill>
                  <a:srgbClr val="8490A3"/>
                </a:solidFill>
                <a:latin typeface="Microsoft Sans Serif"/>
                <a:cs typeface="Microsoft Sans Serif"/>
              </a:rPr>
              <a:t>×</a:t>
            </a:r>
            <a:r>
              <a:rPr dirty="0" sz="850" spc="-6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60">
                <a:solidFill>
                  <a:srgbClr val="8490A3"/>
                </a:solidFill>
                <a:latin typeface="Microsoft Sans Serif"/>
                <a:cs typeface="Microsoft Sans Serif"/>
              </a:rPr>
              <a:t>52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)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62674" y="1571623"/>
            <a:ext cx="2647950" cy="762000"/>
            <a:chOff x="6162674" y="1571623"/>
            <a:chExt cx="2647950" cy="762000"/>
          </a:xfrm>
        </p:grpSpPr>
        <p:sp>
          <p:nvSpPr>
            <p:cNvPr id="19" name="object 19"/>
            <p:cNvSpPr/>
            <p:nvPr/>
          </p:nvSpPr>
          <p:spPr>
            <a:xfrm>
              <a:off x="6162674" y="1571623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89" y="8700"/>
                  </a:lnTo>
                  <a:lnTo>
                    <a:pt x="2614471" y="33477"/>
                  </a:lnTo>
                  <a:lnTo>
                    <a:pt x="2639247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39247" y="691440"/>
                  </a:lnTo>
                  <a:lnTo>
                    <a:pt x="2614471" y="728522"/>
                  </a:lnTo>
                  <a:lnTo>
                    <a:pt x="2577388" y="753299"/>
                  </a:lnTo>
                  <a:lnTo>
                    <a:pt x="2533649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62674" y="1571625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89" y="8700"/>
                  </a:lnTo>
                  <a:lnTo>
                    <a:pt x="257913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79135" y="752474"/>
                  </a:lnTo>
                  <a:lnTo>
                    <a:pt x="2577389" y="753299"/>
                  </a:lnTo>
                  <a:lnTo>
                    <a:pt x="2566778" y="757105"/>
                  </a:lnTo>
                  <a:lnTo>
                    <a:pt x="2555951" y="759824"/>
                  </a:lnTo>
                  <a:lnTo>
                    <a:pt x="2544908" y="761456"/>
                  </a:lnTo>
                  <a:lnTo>
                    <a:pt x="2533649" y="761999"/>
                  </a:lnTo>
                  <a:close/>
                </a:path>
                <a:path w="2647950" h="762000">
                  <a:moveTo>
                    <a:pt x="2579135" y="752474"/>
                  </a:moveTo>
                  <a:lnTo>
                    <a:pt x="2540529" y="752474"/>
                  </a:lnTo>
                  <a:lnTo>
                    <a:pt x="2547342" y="751803"/>
                  </a:lnTo>
                  <a:lnTo>
                    <a:pt x="2560837" y="749119"/>
                  </a:lnTo>
                  <a:lnTo>
                    <a:pt x="2597579" y="730994"/>
                  </a:lnTo>
                  <a:lnTo>
                    <a:pt x="2624588" y="700189"/>
                  </a:lnTo>
                  <a:lnTo>
                    <a:pt x="2637753" y="661393"/>
                  </a:lnTo>
                  <a:lnTo>
                    <a:pt x="2638424" y="654579"/>
                  </a:lnTo>
                  <a:lnTo>
                    <a:pt x="2638424" y="107420"/>
                  </a:lnTo>
                  <a:lnTo>
                    <a:pt x="2627816" y="67848"/>
                  </a:lnTo>
                  <a:lnTo>
                    <a:pt x="2602872" y="35348"/>
                  </a:lnTo>
                  <a:lnTo>
                    <a:pt x="2567389" y="14867"/>
                  </a:lnTo>
                  <a:lnTo>
                    <a:pt x="2540529" y="9524"/>
                  </a:lnTo>
                  <a:lnTo>
                    <a:pt x="2579136" y="9524"/>
                  </a:lnTo>
                  <a:lnTo>
                    <a:pt x="2614471" y="33477"/>
                  </a:lnTo>
                  <a:lnTo>
                    <a:pt x="2639247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47405" y="658959"/>
                  </a:lnTo>
                  <a:lnTo>
                    <a:pt x="2634436" y="701634"/>
                  </a:lnTo>
                  <a:lnTo>
                    <a:pt x="2606125" y="736099"/>
                  </a:lnTo>
                  <a:lnTo>
                    <a:pt x="2587583" y="748487"/>
                  </a:lnTo>
                  <a:lnTo>
                    <a:pt x="2579135" y="7524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350000" y="1581632"/>
            <a:ext cx="1404620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250" spc="-25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r>
              <a:rPr dirty="0" sz="2300" spc="-25" b="1">
                <a:solidFill>
                  <a:srgbClr val="C87D09"/>
                </a:solidFill>
                <a:latin typeface="Verdana"/>
                <a:cs typeface="Verdana"/>
              </a:rPr>
              <a:t>8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TOTAL</a:t>
            </a:r>
            <a:r>
              <a:rPr dirty="0" sz="850" spc="229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5">
                <a:solidFill>
                  <a:srgbClr val="8490A3"/>
                </a:solidFill>
                <a:latin typeface="Microsoft Sans Serif"/>
                <a:cs typeface="Microsoft Sans Serif"/>
              </a:rPr>
              <a:t>R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OU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35">
                <a:solidFill>
                  <a:srgbClr val="8490A3"/>
                </a:solidFill>
                <a:latin typeface="Microsoft Sans Serif"/>
                <a:cs typeface="Microsoft Sans Serif"/>
              </a:rPr>
              <a:t>TE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r>
              <a:rPr dirty="0" sz="850" spc="229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8490A3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22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K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943974" y="1571623"/>
            <a:ext cx="2638425" cy="762000"/>
            <a:chOff x="8943974" y="1571623"/>
            <a:chExt cx="2638425" cy="762000"/>
          </a:xfrm>
        </p:grpSpPr>
        <p:sp>
          <p:nvSpPr>
            <p:cNvPr id="23" name="object 23"/>
            <p:cNvSpPr/>
            <p:nvPr/>
          </p:nvSpPr>
          <p:spPr>
            <a:xfrm>
              <a:off x="8943974" y="1571623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3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4" y="8700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29723" y="691440"/>
                  </a:lnTo>
                  <a:lnTo>
                    <a:pt x="2604946" y="728522"/>
                  </a:lnTo>
                  <a:lnTo>
                    <a:pt x="2567864" y="753299"/>
                  </a:lnTo>
                  <a:lnTo>
                    <a:pt x="2524124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943974" y="1571625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3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5" y="8700"/>
                  </a:lnTo>
                  <a:lnTo>
                    <a:pt x="25696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69611" y="752474"/>
                  </a:lnTo>
                  <a:lnTo>
                    <a:pt x="2567864" y="753299"/>
                  </a:lnTo>
                  <a:lnTo>
                    <a:pt x="2557253" y="757105"/>
                  </a:lnTo>
                  <a:lnTo>
                    <a:pt x="2546426" y="759824"/>
                  </a:lnTo>
                  <a:lnTo>
                    <a:pt x="2535383" y="761456"/>
                  </a:lnTo>
                  <a:lnTo>
                    <a:pt x="2524124" y="761999"/>
                  </a:lnTo>
                  <a:close/>
                </a:path>
                <a:path w="2638425" h="762000">
                  <a:moveTo>
                    <a:pt x="2569611" y="752474"/>
                  </a:moveTo>
                  <a:lnTo>
                    <a:pt x="2531004" y="752474"/>
                  </a:lnTo>
                  <a:lnTo>
                    <a:pt x="2537817" y="751803"/>
                  </a:lnTo>
                  <a:lnTo>
                    <a:pt x="2551312" y="749119"/>
                  </a:lnTo>
                  <a:lnTo>
                    <a:pt x="2588054" y="730994"/>
                  </a:lnTo>
                  <a:lnTo>
                    <a:pt x="2615063" y="700189"/>
                  </a:lnTo>
                  <a:lnTo>
                    <a:pt x="2628228" y="661393"/>
                  </a:lnTo>
                  <a:lnTo>
                    <a:pt x="2628899" y="654579"/>
                  </a:lnTo>
                  <a:lnTo>
                    <a:pt x="2628899" y="107420"/>
                  </a:lnTo>
                  <a:lnTo>
                    <a:pt x="2618291" y="67848"/>
                  </a:lnTo>
                  <a:lnTo>
                    <a:pt x="2593347" y="35348"/>
                  </a:lnTo>
                  <a:lnTo>
                    <a:pt x="2557864" y="14867"/>
                  </a:lnTo>
                  <a:lnTo>
                    <a:pt x="2531004" y="9524"/>
                  </a:lnTo>
                  <a:lnTo>
                    <a:pt x="2569611" y="9524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37880" y="658959"/>
                  </a:lnTo>
                  <a:lnTo>
                    <a:pt x="2624912" y="701634"/>
                  </a:lnTo>
                  <a:lnTo>
                    <a:pt x="2596600" y="736099"/>
                  </a:lnTo>
                  <a:lnTo>
                    <a:pt x="2578059" y="748487"/>
                  </a:lnTo>
                  <a:lnTo>
                    <a:pt x="2569611" y="7524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126536" y="1581632"/>
            <a:ext cx="1489710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50" b="1">
                <a:solidFill>
                  <a:srgbClr val="C87D09"/>
                </a:solidFill>
                <a:latin typeface="Verdana"/>
                <a:cs typeface="Verdana"/>
              </a:rPr>
              <a:t>6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PE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AK</a:t>
            </a:r>
            <a:r>
              <a:rPr dirty="0" sz="850" spc="2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VE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70">
                <a:solidFill>
                  <a:srgbClr val="8490A3"/>
                </a:solidFill>
                <a:latin typeface="Microsoft Sans Serif"/>
                <a:cs typeface="Microsoft Sans Serif"/>
              </a:rPr>
              <a:t>H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I</a:t>
            </a:r>
            <a:r>
              <a:rPr dirty="0" sz="850" spc="-6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CL</a:t>
            </a:r>
            <a:r>
              <a:rPr dirty="0" sz="850" spc="-1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r>
              <a:rPr dirty="0" sz="850" spc="22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5">
                <a:solidFill>
                  <a:srgbClr val="8490A3"/>
                </a:solidFill>
                <a:latin typeface="Microsoft Sans Serif"/>
                <a:cs typeface="Microsoft Sans Serif"/>
              </a:rPr>
              <a:t>N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30">
                <a:solidFill>
                  <a:srgbClr val="8490A3"/>
                </a:solidFill>
                <a:latin typeface="Microsoft Sans Serif"/>
                <a:cs typeface="Microsoft Sans Serif"/>
              </a:rPr>
              <a:t>DE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D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9599" y="2543173"/>
            <a:ext cx="5391150" cy="3819525"/>
            <a:chOff x="609599" y="2543173"/>
            <a:chExt cx="5391150" cy="3819525"/>
          </a:xfrm>
        </p:grpSpPr>
        <p:sp>
          <p:nvSpPr>
            <p:cNvPr id="27" name="object 27"/>
            <p:cNvSpPr/>
            <p:nvPr/>
          </p:nvSpPr>
          <p:spPr>
            <a:xfrm>
              <a:off x="609599" y="2543173"/>
              <a:ext cx="5391150" cy="3819525"/>
            </a:xfrm>
            <a:custGeom>
              <a:avLst/>
              <a:gdLst/>
              <a:ahLst/>
              <a:cxnLst/>
              <a:rect l="l" t="t" r="r" b="b"/>
              <a:pathLst>
                <a:path w="5391150" h="3819525">
                  <a:moveTo>
                    <a:pt x="5257799" y="3819524"/>
                  </a:moveTo>
                  <a:lnTo>
                    <a:pt x="133349" y="3819524"/>
                  </a:lnTo>
                  <a:lnTo>
                    <a:pt x="120213" y="3818889"/>
                  </a:lnTo>
                  <a:lnTo>
                    <a:pt x="82319" y="3809373"/>
                  </a:lnTo>
                  <a:lnTo>
                    <a:pt x="48794" y="3789307"/>
                  </a:lnTo>
                  <a:lnTo>
                    <a:pt x="22452" y="3760273"/>
                  </a:lnTo>
                  <a:lnTo>
                    <a:pt x="5709" y="3724825"/>
                  </a:lnTo>
                  <a:lnTo>
                    <a:pt x="0" y="36861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50" y="5709"/>
                  </a:lnTo>
                  <a:lnTo>
                    <a:pt x="5331898" y="22452"/>
                  </a:lnTo>
                  <a:lnTo>
                    <a:pt x="5360931" y="48794"/>
                  </a:lnTo>
                  <a:lnTo>
                    <a:pt x="5380998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3686174"/>
                  </a:lnTo>
                  <a:lnTo>
                    <a:pt x="5385438" y="3724825"/>
                  </a:lnTo>
                  <a:lnTo>
                    <a:pt x="5368696" y="3760273"/>
                  </a:lnTo>
                  <a:lnTo>
                    <a:pt x="5342354" y="3789307"/>
                  </a:lnTo>
                  <a:lnTo>
                    <a:pt x="5308829" y="3809373"/>
                  </a:lnTo>
                  <a:lnTo>
                    <a:pt x="5270935" y="3818889"/>
                  </a:lnTo>
                  <a:lnTo>
                    <a:pt x="5257799" y="381952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09599" y="2543174"/>
              <a:ext cx="5391150" cy="3819525"/>
            </a:xfrm>
            <a:custGeom>
              <a:avLst/>
              <a:gdLst/>
              <a:ahLst/>
              <a:cxnLst/>
              <a:rect l="l" t="t" r="r" b="b"/>
              <a:pathLst>
                <a:path w="5391150" h="3819525">
                  <a:moveTo>
                    <a:pt x="5257799" y="3819524"/>
                  </a:moveTo>
                  <a:lnTo>
                    <a:pt x="133349" y="3819524"/>
                  </a:lnTo>
                  <a:lnTo>
                    <a:pt x="120213" y="3818890"/>
                  </a:lnTo>
                  <a:lnTo>
                    <a:pt x="82319" y="3809373"/>
                  </a:lnTo>
                  <a:lnTo>
                    <a:pt x="48794" y="3789307"/>
                  </a:lnTo>
                  <a:lnTo>
                    <a:pt x="22452" y="3760273"/>
                  </a:lnTo>
                  <a:lnTo>
                    <a:pt x="5709" y="3724826"/>
                  </a:lnTo>
                  <a:lnTo>
                    <a:pt x="0" y="36861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9" y="2537"/>
                  </a:lnTo>
                  <a:lnTo>
                    <a:pt x="5296450" y="5709"/>
                  </a:lnTo>
                  <a:lnTo>
                    <a:pt x="5307086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3694305"/>
                  </a:lnTo>
                  <a:lnTo>
                    <a:pt x="22061" y="3741072"/>
                  </a:lnTo>
                  <a:lnTo>
                    <a:pt x="51541" y="3779481"/>
                  </a:lnTo>
                  <a:lnTo>
                    <a:pt x="93475" y="3803685"/>
                  </a:lnTo>
                  <a:lnTo>
                    <a:pt x="125219" y="3809999"/>
                  </a:lnTo>
                  <a:lnTo>
                    <a:pt x="5307083" y="3809999"/>
                  </a:lnTo>
                  <a:lnTo>
                    <a:pt x="5296450" y="3813814"/>
                  </a:lnTo>
                  <a:lnTo>
                    <a:pt x="5283819" y="3816986"/>
                  </a:lnTo>
                  <a:lnTo>
                    <a:pt x="5270935" y="3818890"/>
                  </a:lnTo>
                  <a:lnTo>
                    <a:pt x="5257799" y="3819524"/>
                  </a:lnTo>
                  <a:close/>
                </a:path>
                <a:path w="5391150" h="3819525">
                  <a:moveTo>
                    <a:pt x="5307083" y="3809999"/>
                  </a:moveTo>
                  <a:lnTo>
                    <a:pt x="5265930" y="3809999"/>
                  </a:lnTo>
                  <a:lnTo>
                    <a:pt x="5273982" y="3809206"/>
                  </a:lnTo>
                  <a:lnTo>
                    <a:pt x="5289930" y="3806034"/>
                  </a:lnTo>
                  <a:lnTo>
                    <a:pt x="5333352" y="3784614"/>
                  </a:lnTo>
                  <a:lnTo>
                    <a:pt x="5365273" y="3748207"/>
                  </a:lnTo>
                  <a:lnTo>
                    <a:pt x="5380831" y="3702357"/>
                  </a:lnTo>
                  <a:lnTo>
                    <a:pt x="5381624" y="3694305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3" y="15763"/>
                  </a:lnTo>
                  <a:lnTo>
                    <a:pt x="5265930" y="9524"/>
                  </a:lnTo>
                  <a:lnTo>
                    <a:pt x="5307086" y="9524"/>
                  </a:lnTo>
                  <a:lnTo>
                    <a:pt x="5342354" y="30216"/>
                  </a:lnTo>
                  <a:lnTo>
                    <a:pt x="5368696" y="59250"/>
                  </a:lnTo>
                  <a:lnTo>
                    <a:pt x="5385439" y="94698"/>
                  </a:lnTo>
                  <a:lnTo>
                    <a:pt x="5391149" y="133349"/>
                  </a:lnTo>
                  <a:lnTo>
                    <a:pt x="5391149" y="3686174"/>
                  </a:lnTo>
                  <a:lnTo>
                    <a:pt x="5390515" y="3699310"/>
                  </a:lnTo>
                  <a:lnTo>
                    <a:pt x="5380998" y="3737205"/>
                  </a:lnTo>
                  <a:lnTo>
                    <a:pt x="5360932" y="3770729"/>
                  </a:lnTo>
                  <a:lnTo>
                    <a:pt x="5331898" y="3797071"/>
                  </a:lnTo>
                  <a:lnTo>
                    <a:pt x="5308829" y="3809373"/>
                  </a:lnTo>
                  <a:lnTo>
                    <a:pt x="5307083" y="380999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09612" y="2943224"/>
              <a:ext cx="4991100" cy="314325"/>
            </a:xfrm>
            <a:custGeom>
              <a:avLst/>
              <a:gdLst/>
              <a:ahLst/>
              <a:cxnLst/>
              <a:rect l="l" t="t" r="r" b="b"/>
              <a:pathLst>
                <a:path w="4991100" h="314325">
                  <a:moveTo>
                    <a:pt x="4991100" y="0"/>
                  </a:moveTo>
                  <a:lnTo>
                    <a:pt x="4991100" y="0"/>
                  </a:lnTo>
                  <a:lnTo>
                    <a:pt x="0" y="0"/>
                  </a:lnTo>
                  <a:lnTo>
                    <a:pt x="0" y="314325"/>
                  </a:lnTo>
                  <a:lnTo>
                    <a:pt x="4991100" y="314325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162E52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09612" y="5067299"/>
              <a:ext cx="4991100" cy="361950"/>
            </a:xfrm>
            <a:custGeom>
              <a:avLst/>
              <a:gdLst/>
              <a:ahLst/>
              <a:cxnLst/>
              <a:rect l="l" t="t" r="r" b="b"/>
              <a:pathLst>
                <a:path w="4991100" h="361950">
                  <a:moveTo>
                    <a:pt x="4991100" y="0"/>
                  </a:moveTo>
                  <a:lnTo>
                    <a:pt x="499110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4991100" y="361950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F5A623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09612" y="5067299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4991100" y="0"/>
                  </a:moveTo>
                  <a:lnTo>
                    <a:pt x="49911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4991100" y="9525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162E52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96925" y="2685099"/>
            <a:ext cx="127444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LY</a:t>
            </a:r>
            <a:r>
              <a:rPr dirty="0" sz="800" spc="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0" b="1">
                <a:solidFill>
                  <a:srgbClr val="798FAC"/>
                </a:solidFill>
                <a:latin typeface="Verdana"/>
                <a:cs typeface="Verdana"/>
              </a:rPr>
              <a:t>B</a:t>
            </a:r>
            <a:r>
              <a:rPr dirty="0" sz="80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KD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O</a:t>
            </a:r>
            <a:r>
              <a:rPr dirty="0" sz="800" spc="-1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" b="1">
                <a:solidFill>
                  <a:srgbClr val="798FAC"/>
                </a:solidFill>
                <a:latin typeface="Verdana"/>
                <a:cs typeface="Verdana"/>
              </a:rPr>
              <a:t>WN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0274" y="3018474"/>
            <a:ext cx="26162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 b="1">
                <a:solidFill>
                  <a:srgbClr val="798FAC"/>
                </a:solidFill>
                <a:latin typeface="Verdana"/>
                <a:cs typeface="Verdana"/>
              </a:rPr>
              <a:t>DAY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49313" y="3018474"/>
            <a:ext cx="50292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ROU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TE</a:t>
            </a:r>
            <a:r>
              <a:rPr dirty="0" sz="80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45110" y="3018474"/>
            <a:ext cx="514984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ORDE</a:t>
            </a:r>
            <a:r>
              <a:rPr dirty="0" sz="80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35" b="1">
                <a:solidFill>
                  <a:srgbClr val="798FAC"/>
                </a:solidFill>
                <a:latin typeface="Verdana"/>
                <a:cs typeface="Verdana"/>
              </a:rPr>
              <a:t>RS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55342" y="3018474"/>
            <a:ext cx="85090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VOLU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35" b="1">
                <a:solidFill>
                  <a:srgbClr val="798FAC"/>
                </a:solidFill>
                <a:latin typeface="Verdana"/>
                <a:cs typeface="Verdana"/>
              </a:rPr>
              <a:t>(</a:t>
            </a:r>
            <a:r>
              <a:rPr dirty="0" sz="800" spc="-18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5" b="1">
                <a:solidFill>
                  <a:srgbClr val="798FAC"/>
                </a:solidFill>
                <a:latin typeface="Verdana"/>
                <a:cs typeface="Verdana"/>
              </a:rPr>
              <a:t>F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95" b="1">
                <a:solidFill>
                  <a:srgbClr val="798FAC"/>
                </a:solidFill>
                <a:latin typeface="Verdana"/>
                <a:cs typeface="Verdana"/>
              </a:rPr>
              <a:t>T³</a:t>
            </a:r>
            <a:r>
              <a:rPr dirty="0" sz="800" spc="-1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)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68304" y="3018474"/>
            <a:ext cx="38227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10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5" b="1">
                <a:solidFill>
                  <a:srgbClr val="798FAC"/>
                </a:solidFill>
                <a:latin typeface="Verdana"/>
                <a:cs typeface="Verdana"/>
              </a:rPr>
              <a:t>LE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809624" y="3257548"/>
          <a:ext cx="5067300" cy="169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144"/>
                <a:gridCol w="704850"/>
                <a:gridCol w="945515"/>
                <a:gridCol w="1222375"/>
                <a:gridCol w="1084580"/>
              </a:tblGrid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Monday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5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43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10,223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1,361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Tuesday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6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58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11,537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1,543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Wednesday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6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50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15,192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1,196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Thursday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6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63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15,009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1,411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13271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Friday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5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47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13,468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1,203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809624" y="5155264"/>
            <a:ext cx="49911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105"/>
              </a:spcBef>
              <a:tabLst>
                <a:tab pos="1252220" algn="l"/>
                <a:tab pos="2147570" algn="l"/>
                <a:tab pos="3058160" algn="l"/>
                <a:tab pos="4370705" algn="l"/>
              </a:tabLst>
            </a:pPr>
            <a:r>
              <a:rPr dirty="0" sz="1000" spc="-10" b="1">
                <a:solidFill>
                  <a:srgbClr val="C87D09"/>
                </a:solidFill>
                <a:latin typeface="Arial"/>
                <a:cs typeface="Arial"/>
              </a:rPr>
              <a:t>TOTAL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-25" b="1">
                <a:solidFill>
                  <a:srgbClr val="C87D09"/>
                </a:solidFill>
                <a:latin typeface="Arial"/>
                <a:cs typeface="Arial"/>
              </a:rPr>
              <a:t>28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-25" b="1">
                <a:solidFill>
                  <a:srgbClr val="C87D09"/>
                </a:solidFill>
                <a:latin typeface="Arial"/>
                <a:cs typeface="Arial"/>
              </a:rPr>
              <a:t>261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-10" b="1">
                <a:solidFill>
                  <a:srgbClr val="C87D09"/>
                </a:solidFill>
                <a:latin typeface="Arial"/>
                <a:cs typeface="Arial"/>
              </a:rPr>
              <a:t>65,429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-10" b="1">
                <a:solidFill>
                  <a:srgbClr val="C87D09"/>
                </a:solidFill>
                <a:latin typeface="Arial"/>
                <a:cs typeface="Arial"/>
              </a:rPr>
              <a:t>6,714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191249" y="2543173"/>
            <a:ext cx="5391150" cy="3819525"/>
            <a:chOff x="6191249" y="2543173"/>
            <a:chExt cx="5391150" cy="3819525"/>
          </a:xfrm>
        </p:grpSpPr>
        <p:sp>
          <p:nvSpPr>
            <p:cNvPr id="41" name="object 41"/>
            <p:cNvSpPr/>
            <p:nvPr/>
          </p:nvSpPr>
          <p:spPr>
            <a:xfrm>
              <a:off x="6191249" y="2543173"/>
              <a:ext cx="5391150" cy="3819525"/>
            </a:xfrm>
            <a:custGeom>
              <a:avLst/>
              <a:gdLst/>
              <a:ahLst/>
              <a:cxnLst/>
              <a:rect l="l" t="t" r="r" b="b"/>
              <a:pathLst>
                <a:path w="5391150" h="3819525">
                  <a:moveTo>
                    <a:pt x="5257799" y="3819524"/>
                  </a:moveTo>
                  <a:lnTo>
                    <a:pt x="133349" y="3819524"/>
                  </a:lnTo>
                  <a:lnTo>
                    <a:pt x="120213" y="3818889"/>
                  </a:lnTo>
                  <a:lnTo>
                    <a:pt x="82318" y="3809373"/>
                  </a:lnTo>
                  <a:lnTo>
                    <a:pt x="48793" y="3789307"/>
                  </a:lnTo>
                  <a:lnTo>
                    <a:pt x="22451" y="3760273"/>
                  </a:lnTo>
                  <a:lnTo>
                    <a:pt x="5709" y="3724825"/>
                  </a:lnTo>
                  <a:lnTo>
                    <a:pt x="0" y="36861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3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49" y="5709"/>
                  </a:lnTo>
                  <a:lnTo>
                    <a:pt x="5331897" y="22452"/>
                  </a:lnTo>
                  <a:lnTo>
                    <a:pt x="5360931" y="48794"/>
                  </a:lnTo>
                  <a:lnTo>
                    <a:pt x="5380997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3686174"/>
                  </a:lnTo>
                  <a:lnTo>
                    <a:pt x="5385438" y="3724825"/>
                  </a:lnTo>
                  <a:lnTo>
                    <a:pt x="5368695" y="3760273"/>
                  </a:lnTo>
                  <a:lnTo>
                    <a:pt x="5342354" y="3789307"/>
                  </a:lnTo>
                  <a:lnTo>
                    <a:pt x="5308828" y="3809373"/>
                  </a:lnTo>
                  <a:lnTo>
                    <a:pt x="5270935" y="3818889"/>
                  </a:lnTo>
                  <a:lnTo>
                    <a:pt x="5257799" y="381952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191249" y="2543174"/>
              <a:ext cx="5391150" cy="3819525"/>
            </a:xfrm>
            <a:custGeom>
              <a:avLst/>
              <a:gdLst/>
              <a:ahLst/>
              <a:cxnLst/>
              <a:rect l="l" t="t" r="r" b="b"/>
              <a:pathLst>
                <a:path w="5391150" h="3819525">
                  <a:moveTo>
                    <a:pt x="5257799" y="3819524"/>
                  </a:moveTo>
                  <a:lnTo>
                    <a:pt x="133349" y="3819524"/>
                  </a:lnTo>
                  <a:lnTo>
                    <a:pt x="120213" y="3818890"/>
                  </a:lnTo>
                  <a:lnTo>
                    <a:pt x="82318" y="3809373"/>
                  </a:lnTo>
                  <a:lnTo>
                    <a:pt x="48793" y="3789307"/>
                  </a:lnTo>
                  <a:lnTo>
                    <a:pt x="22451" y="3760273"/>
                  </a:lnTo>
                  <a:lnTo>
                    <a:pt x="5709" y="3724826"/>
                  </a:lnTo>
                  <a:lnTo>
                    <a:pt x="0" y="36861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3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8" y="2537"/>
                  </a:lnTo>
                  <a:lnTo>
                    <a:pt x="5296449" y="5709"/>
                  </a:lnTo>
                  <a:lnTo>
                    <a:pt x="5307084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3694305"/>
                  </a:lnTo>
                  <a:lnTo>
                    <a:pt x="22061" y="3741072"/>
                  </a:lnTo>
                  <a:lnTo>
                    <a:pt x="51541" y="3779481"/>
                  </a:lnTo>
                  <a:lnTo>
                    <a:pt x="93475" y="3803685"/>
                  </a:lnTo>
                  <a:lnTo>
                    <a:pt x="125219" y="3809999"/>
                  </a:lnTo>
                  <a:lnTo>
                    <a:pt x="5307082" y="3809999"/>
                  </a:lnTo>
                  <a:lnTo>
                    <a:pt x="5296449" y="3813814"/>
                  </a:lnTo>
                  <a:lnTo>
                    <a:pt x="5283818" y="3816986"/>
                  </a:lnTo>
                  <a:lnTo>
                    <a:pt x="5270935" y="3818890"/>
                  </a:lnTo>
                  <a:lnTo>
                    <a:pt x="5257799" y="3819524"/>
                  </a:lnTo>
                  <a:close/>
                </a:path>
                <a:path w="5391150" h="3819525">
                  <a:moveTo>
                    <a:pt x="5307082" y="3809999"/>
                  </a:moveTo>
                  <a:lnTo>
                    <a:pt x="5265930" y="3809999"/>
                  </a:lnTo>
                  <a:lnTo>
                    <a:pt x="5273982" y="3809206"/>
                  </a:lnTo>
                  <a:lnTo>
                    <a:pt x="5289930" y="3806034"/>
                  </a:lnTo>
                  <a:lnTo>
                    <a:pt x="5333352" y="3784614"/>
                  </a:lnTo>
                  <a:lnTo>
                    <a:pt x="5365273" y="3748207"/>
                  </a:lnTo>
                  <a:lnTo>
                    <a:pt x="5380831" y="3702357"/>
                  </a:lnTo>
                  <a:lnTo>
                    <a:pt x="5381624" y="3694305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4" y="15763"/>
                  </a:lnTo>
                  <a:lnTo>
                    <a:pt x="5265930" y="9524"/>
                  </a:lnTo>
                  <a:lnTo>
                    <a:pt x="5307084" y="9524"/>
                  </a:lnTo>
                  <a:lnTo>
                    <a:pt x="5342354" y="30216"/>
                  </a:lnTo>
                  <a:lnTo>
                    <a:pt x="5368695" y="59250"/>
                  </a:lnTo>
                  <a:lnTo>
                    <a:pt x="5385438" y="94698"/>
                  </a:lnTo>
                  <a:lnTo>
                    <a:pt x="5391149" y="133349"/>
                  </a:lnTo>
                  <a:lnTo>
                    <a:pt x="5391149" y="3686174"/>
                  </a:lnTo>
                  <a:lnTo>
                    <a:pt x="5390515" y="3699310"/>
                  </a:lnTo>
                  <a:lnTo>
                    <a:pt x="5380997" y="3737205"/>
                  </a:lnTo>
                  <a:lnTo>
                    <a:pt x="5360931" y="3770729"/>
                  </a:lnTo>
                  <a:lnTo>
                    <a:pt x="5331898" y="3797071"/>
                  </a:lnTo>
                  <a:lnTo>
                    <a:pt x="5308829" y="3809373"/>
                  </a:lnTo>
                  <a:lnTo>
                    <a:pt x="5307082" y="380999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6378575" y="2685099"/>
            <a:ext cx="173418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AV</a:t>
            </a:r>
            <a:r>
              <a:rPr dirty="0" sz="800" spc="-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G.</a:t>
            </a:r>
            <a:r>
              <a:rPr dirty="0" sz="800" spc="2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30" b="1">
                <a:solidFill>
                  <a:srgbClr val="798FAC"/>
                </a:solidFill>
                <a:latin typeface="Verdana"/>
                <a:cs typeface="Verdana"/>
              </a:rPr>
              <a:t>V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14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798FAC"/>
                </a:solidFill>
                <a:latin typeface="Verdana"/>
                <a:cs typeface="Verdana"/>
              </a:rPr>
              <a:t>U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T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798FAC"/>
                </a:solidFill>
                <a:latin typeface="Verdana"/>
                <a:cs typeface="Verdana"/>
              </a:rPr>
              <a:t>L</a:t>
            </a:r>
            <a:r>
              <a:rPr dirty="0" sz="80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Z</a:t>
            </a:r>
            <a:r>
              <a:rPr dirty="0" sz="80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AT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O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798FAC"/>
                </a:solidFill>
                <a:latin typeface="Verdana"/>
                <a:cs typeface="Verdana"/>
              </a:rPr>
              <a:t>N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78575" y="2914530"/>
            <a:ext cx="942975" cy="58737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850" spc="-35">
                <a:solidFill>
                  <a:srgbClr val="798FAC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-2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798FAC"/>
                </a:solidFill>
                <a:latin typeface="Microsoft Sans Serif"/>
                <a:cs typeface="Microsoft Sans Serif"/>
              </a:rPr>
              <a:t>Drive</a:t>
            </a:r>
            <a:r>
              <a:rPr dirty="0" sz="850" spc="-2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798FAC"/>
                </a:solidFill>
                <a:latin typeface="Microsoft Sans Serif"/>
                <a:cs typeface="Microsoft Sans Serif"/>
              </a:rPr>
              <a:t>h</a:t>
            </a:r>
            <a:r>
              <a:rPr dirty="0" sz="850" spc="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85">
                <a:solidFill>
                  <a:srgbClr val="798FAC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-10">
                <a:solidFill>
                  <a:srgbClr val="798FAC"/>
                </a:solidFill>
                <a:latin typeface="Microsoft Sans Serif"/>
                <a:cs typeface="Microsoft Sans Serif"/>
              </a:rPr>
              <a:t> Route</a:t>
            </a:r>
            <a:endParaRPr sz="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450" spc="-170" b="1">
                <a:solidFill>
                  <a:srgbClr val="0086A7"/>
                </a:solidFill>
                <a:latin typeface="Verdana"/>
                <a:cs typeface="Verdana"/>
              </a:rPr>
              <a:t>6.22</a:t>
            </a:r>
            <a:r>
              <a:rPr dirty="0" sz="1450" spc="-190" b="1">
                <a:solidFill>
                  <a:srgbClr val="0086A7"/>
                </a:solidFill>
                <a:latin typeface="Verdana"/>
                <a:cs typeface="Verdana"/>
              </a:rPr>
              <a:t> </a:t>
            </a:r>
            <a:r>
              <a:rPr dirty="0" sz="1450" spc="-50" b="1">
                <a:solidFill>
                  <a:srgbClr val="0086A7"/>
                </a:solidFill>
                <a:latin typeface="Verdana"/>
                <a:cs typeface="Verdana"/>
              </a:rPr>
              <a:t>h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850">
                <a:solidFill>
                  <a:srgbClr val="B3BAC6"/>
                </a:solidFill>
                <a:latin typeface="Microsoft Sans Serif"/>
                <a:cs typeface="Microsoft Sans Serif"/>
              </a:rPr>
              <a:t>of</a:t>
            </a:r>
            <a:r>
              <a:rPr dirty="0" sz="850" spc="25">
                <a:solidFill>
                  <a:srgbClr val="B3BAC6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60">
                <a:solidFill>
                  <a:srgbClr val="B3BAC6"/>
                </a:solidFill>
                <a:latin typeface="Microsoft Sans Serif"/>
                <a:cs typeface="Microsoft Sans Serif"/>
              </a:rPr>
              <a:t>11h</a:t>
            </a:r>
            <a:r>
              <a:rPr dirty="0" sz="850" spc="35">
                <a:solidFill>
                  <a:srgbClr val="B3BAC6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B3BAC6"/>
                </a:solidFill>
                <a:latin typeface="Microsoft Sans Serif"/>
                <a:cs typeface="Microsoft Sans Serif"/>
              </a:rPr>
              <a:t>limit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921749" y="2914530"/>
            <a:ext cx="926465" cy="58737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850" spc="-35">
                <a:solidFill>
                  <a:srgbClr val="798FAC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-1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798FAC"/>
                </a:solidFill>
                <a:latin typeface="Microsoft Sans Serif"/>
                <a:cs typeface="Microsoft Sans Serif"/>
              </a:rPr>
              <a:t>Duty</a:t>
            </a:r>
            <a:r>
              <a:rPr dirty="0" sz="850" spc="-1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798FAC"/>
                </a:solidFill>
                <a:latin typeface="Microsoft Sans Serif"/>
                <a:cs typeface="Microsoft Sans Serif"/>
              </a:rPr>
              <a:t>h</a:t>
            </a:r>
            <a:r>
              <a:rPr dirty="0" sz="850" spc="3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85">
                <a:solidFill>
                  <a:srgbClr val="798FAC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1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798FAC"/>
                </a:solidFill>
                <a:latin typeface="Microsoft Sans Serif"/>
                <a:cs typeface="Microsoft Sans Serif"/>
              </a:rPr>
              <a:t>Route</a:t>
            </a:r>
            <a:endParaRPr sz="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450" spc="-190" b="1">
                <a:solidFill>
                  <a:srgbClr val="0086A7"/>
                </a:solidFill>
                <a:latin typeface="Verdana"/>
                <a:cs typeface="Verdana"/>
              </a:rPr>
              <a:t>10.85</a:t>
            </a:r>
            <a:r>
              <a:rPr dirty="0" sz="1450" spc="-200" b="1">
                <a:solidFill>
                  <a:srgbClr val="0086A7"/>
                </a:solidFill>
                <a:latin typeface="Verdana"/>
                <a:cs typeface="Verdana"/>
              </a:rPr>
              <a:t> </a:t>
            </a:r>
            <a:r>
              <a:rPr dirty="0" sz="1450" spc="-50" b="1">
                <a:solidFill>
                  <a:srgbClr val="0086A7"/>
                </a:solidFill>
                <a:latin typeface="Verdana"/>
                <a:cs typeface="Verdana"/>
              </a:rPr>
              <a:t>h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850">
                <a:solidFill>
                  <a:srgbClr val="B3BAC6"/>
                </a:solidFill>
                <a:latin typeface="Microsoft Sans Serif"/>
                <a:cs typeface="Microsoft Sans Serif"/>
              </a:rPr>
              <a:t>of</a:t>
            </a:r>
            <a:r>
              <a:rPr dirty="0" sz="850" spc="20">
                <a:solidFill>
                  <a:srgbClr val="B3BAC6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80">
                <a:solidFill>
                  <a:srgbClr val="B3BAC6"/>
                </a:solidFill>
                <a:latin typeface="Microsoft Sans Serif"/>
                <a:cs typeface="Microsoft Sans Serif"/>
              </a:rPr>
              <a:t>14h</a:t>
            </a:r>
            <a:r>
              <a:rPr dirty="0" sz="850" spc="40">
                <a:solidFill>
                  <a:srgbClr val="B3BAC6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B3BAC6"/>
                </a:solidFill>
                <a:latin typeface="Microsoft Sans Serif"/>
                <a:cs typeface="Microsoft Sans Serif"/>
              </a:rPr>
              <a:t>limit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78575" y="4362330"/>
            <a:ext cx="774065" cy="41275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850" spc="-35">
                <a:solidFill>
                  <a:srgbClr val="798FAC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-2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798FAC"/>
                </a:solidFill>
                <a:latin typeface="Microsoft Sans Serif"/>
                <a:cs typeface="Microsoft Sans Serif"/>
              </a:rPr>
              <a:t>Mi</a:t>
            </a:r>
            <a:r>
              <a:rPr dirty="0" sz="850" spc="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85">
                <a:solidFill>
                  <a:srgbClr val="798FAC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-2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798FAC"/>
                </a:solidFill>
                <a:latin typeface="Microsoft Sans Serif"/>
                <a:cs typeface="Microsoft Sans Serif"/>
              </a:rPr>
              <a:t>Route</a:t>
            </a:r>
            <a:endParaRPr sz="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450" spc="-160" b="1">
                <a:solidFill>
                  <a:srgbClr val="C87D09"/>
                </a:solidFill>
                <a:latin typeface="Verdana"/>
                <a:cs typeface="Verdana"/>
              </a:rPr>
              <a:t>239.8</a:t>
            </a:r>
            <a:r>
              <a:rPr dirty="0" sz="1450" spc="-204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1450" spc="-114" b="1">
                <a:solidFill>
                  <a:srgbClr val="C87D09"/>
                </a:solidFill>
                <a:latin typeface="Verdana"/>
                <a:cs typeface="Verdana"/>
              </a:rPr>
              <a:t>mi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921749" y="4360233"/>
            <a:ext cx="862330" cy="41402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>
                <a:solidFill>
                  <a:srgbClr val="798FAC"/>
                </a:solidFill>
                <a:latin typeface="Microsoft Sans Serif"/>
                <a:cs typeface="Microsoft Sans Serif"/>
              </a:rPr>
              <a:t>Overnight</a:t>
            </a:r>
            <a:r>
              <a:rPr dirty="0" sz="850" spc="-10">
                <a:solidFill>
                  <a:srgbClr val="798FAC"/>
                </a:solidFill>
                <a:latin typeface="Microsoft Sans Serif"/>
                <a:cs typeface="Microsoft Sans Serif"/>
              </a:rPr>
              <a:t> Routes</a:t>
            </a:r>
            <a:endParaRPr sz="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450" spc="-50" b="1">
                <a:solidFill>
                  <a:srgbClr val="098F60"/>
                </a:solidFill>
                <a:latin typeface="Verdana"/>
                <a:cs typeface="Verdana"/>
              </a:rPr>
              <a:t>0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391274" y="5686423"/>
            <a:ext cx="4991100" cy="514350"/>
            <a:chOff x="6391274" y="5686423"/>
            <a:chExt cx="4991100" cy="514350"/>
          </a:xfrm>
        </p:grpSpPr>
        <p:sp>
          <p:nvSpPr>
            <p:cNvPr id="49" name="object 49"/>
            <p:cNvSpPr/>
            <p:nvPr/>
          </p:nvSpPr>
          <p:spPr>
            <a:xfrm>
              <a:off x="6391274" y="5686423"/>
              <a:ext cx="4991100" cy="514350"/>
            </a:xfrm>
            <a:custGeom>
              <a:avLst/>
              <a:gdLst/>
              <a:ahLst/>
              <a:cxnLst/>
              <a:rect l="l" t="t" r="r" b="b"/>
              <a:pathLst>
                <a:path w="4991100" h="514350">
                  <a:moveTo>
                    <a:pt x="4914899" y="514349"/>
                  </a:moveTo>
                  <a:lnTo>
                    <a:pt x="76199" y="514349"/>
                  </a:lnTo>
                  <a:lnTo>
                    <a:pt x="68693" y="513987"/>
                  </a:lnTo>
                  <a:lnTo>
                    <a:pt x="27881" y="497082"/>
                  </a:lnTo>
                  <a:lnTo>
                    <a:pt x="3261" y="460236"/>
                  </a:lnTo>
                  <a:lnTo>
                    <a:pt x="0" y="43814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4914899" y="0"/>
                  </a:lnTo>
                  <a:lnTo>
                    <a:pt x="4957240" y="12829"/>
                  </a:lnTo>
                  <a:lnTo>
                    <a:pt x="4985297" y="47038"/>
                  </a:lnTo>
                  <a:lnTo>
                    <a:pt x="4991099" y="76199"/>
                  </a:lnTo>
                  <a:lnTo>
                    <a:pt x="4991099" y="438149"/>
                  </a:lnTo>
                  <a:lnTo>
                    <a:pt x="4978267" y="480491"/>
                  </a:lnTo>
                  <a:lnTo>
                    <a:pt x="4944057" y="508549"/>
                  </a:lnTo>
                  <a:lnTo>
                    <a:pt x="4914899" y="514349"/>
                  </a:lnTo>
                  <a:close/>
                </a:path>
              </a:pathLst>
            </a:custGeom>
            <a:solidFill>
              <a:srgbClr val="F5A623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391274" y="5686425"/>
              <a:ext cx="4991100" cy="514350"/>
            </a:xfrm>
            <a:custGeom>
              <a:avLst/>
              <a:gdLst/>
              <a:ahLst/>
              <a:cxnLst/>
              <a:rect l="l" t="t" r="r" b="b"/>
              <a:pathLst>
                <a:path w="4991100" h="514350">
                  <a:moveTo>
                    <a:pt x="4914899" y="514349"/>
                  </a:moveTo>
                  <a:lnTo>
                    <a:pt x="76199" y="514349"/>
                  </a:lnTo>
                  <a:lnTo>
                    <a:pt x="68693" y="513987"/>
                  </a:lnTo>
                  <a:lnTo>
                    <a:pt x="27881" y="497082"/>
                  </a:lnTo>
                  <a:lnTo>
                    <a:pt x="3261" y="460236"/>
                  </a:lnTo>
                  <a:lnTo>
                    <a:pt x="0" y="43814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4914899" y="0"/>
                  </a:lnTo>
                  <a:lnTo>
                    <a:pt x="4951719" y="9524"/>
                  </a:lnTo>
                  <a:lnTo>
                    <a:pt x="71821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442527"/>
                  </a:lnTo>
                  <a:lnTo>
                    <a:pt x="23193" y="478832"/>
                  </a:lnTo>
                  <a:lnTo>
                    <a:pt x="54729" y="501424"/>
                  </a:lnTo>
                  <a:lnTo>
                    <a:pt x="71821" y="504824"/>
                  </a:lnTo>
                  <a:lnTo>
                    <a:pt x="4951717" y="504824"/>
                  </a:lnTo>
                  <a:lnTo>
                    <a:pt x="4950853" y="505341"/>
                  </a:lnTo>
                  <a:lnTo>
                    <a:pt x="4944057" y="508549"/>
                  </a:lnTo>
                  <a:lnTo>
                    <a:pt x="4936983" y="511087"/>
                  </a:lnTo>
                  <a:lnTo>
                    <a:pt x="4929766" y="512899"/>
                  </a:lnTo>
                  <a:lnTo>
                    <a:pt x="4922404" y="513987"/>
                  </a:lnTo>
                  <a:lnTo>
                    <a:pt x="4914899" y="514349"/>
                  </a:lnTo>
                  <a:close/>
                </a:path>
                <a:path w="4991100" h="514350">
                  <a:moveTo>
                    <a:pt x="4951717" y="504824"/>
                  </a:moveTo>
                  <a:lnTo>
                    <a:pt x="4919277" y="504824"/>
                  </a:lnTo>
                  <a:lnTo>
                    <a:pt x="4923613" y="504397"/>
                  </a:lnTo>
                  <a:lnTo>
                    <a:pt x="4932200" y="502689"/>
                  </a:lnTo>
                  <a:lnTo>
                    <a:pt x="4965141" y="482200"/>
                  </a:lnTo>
                  <a:lnTo>
                    <a:pt x="4981147" y="446863"/>
                  </a:lnTo>
                  <a:lnTo>
                    <a:pt x="4981574" y="442527"/>
                  </a:lnTo>
                  <a:lnTo>
                    <a:pt x="4981574" y="71821"/>
                  </a:lnTo>
                  <a:lnTo>
                    <a:pt x="4967904" y="35517"/>
                  </a:lnTo>
                  <a:lnTo>
                    <a:pt x="4936055" y="12829"/>
                  </a:lnTo>
                  <a:lnTo>
                    <a:pt x="4919277" y="9524"/>
                  </a:lnTo>
                  <a:lnTo>
                    <a:pt x="4951719" y="9524"/>
                  </a:lnTo>
                  <a:lnTo>
                    <a:pt x="4982089" y="40242"/>
                  </a:lnTo>
                  <a:lnTo>
                    <a:pt x="4991099" y="438149"/>
                  </a:lnTo>
                  <a:lnTo>
                    <a:pt x="4990736" y="445656"/>
                  </a:lnTo>
                  <a:lnTo>
                    <a:pt x="4973831" y="486466"/>
                  </a:lnTo>
                  <a:lnTo>
                    <a:pt x="4957367" y="501424"/>
                  </a:lnTo>
                  <a:lnTo>
                    <a:pt x="4951717" y="504824"/>
                  </a:lnTo>
                  <a:close/>
                </a:path>
              </a:pathLst>
            </a:custGeom>
            <a:solidFill>
              <a:srgbClr val="F5A623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6496049" y="5764345"/>
            <a:ext cx="4514850" cy="33020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baseline="-9259" sz="1350">
                <a:solidFill>
                  <a:srgbClr val="C87D09"/>
                </a:solidFill>
                <a:latin typeface="Arial MT"/>
                <a:cs typeface="Arial MT"/>
              </a:rPr>
              <a:t></a:t>
            </a:r>
            <a:r>
              <a:rPr dirty="0" baseline="-9259" sz="1350" spc="742">
                <a:solidFill>
                  <a:srgbClr val="C87D09"/>
                </a:solidFill>
                <a:latin typeface="Arial MT"/>
                <a:cs typeface="Arial MT"/>
              </a:rPr>
              <a:t> </a:t>
            </a:r>
            <a:r>
              <a:rPr dirty="0" sz="950" spc="-30">
                <a:solidFill>
                  <a:srgbClr val="6E7D93"/>
                </a:solidFill>
                <a:latin typeface="Microsoft Sans Serif"/>
                <a:cs typeface="Microsoft Sans Serif"/>
              </a:rPr>
              <a:t>Tuesday</a:t>
            </a:r>
            <a:r>
              <a:rPr dirty="0" sz="9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E7D93"/>
                </a:solidFill>
                <a:latin typeface="Microsoft Sans Serif"/>
                <a:cs typeface="Microsoft Sans Serif"/>
              </a:rPr>
              <a:t>is</a:t>
            </a:r>
            <a:r>
              <a:rPr dirty="0" sz="950" spc="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E7D93"/>
                </a:solidFill>
                <a:latin typeface="Microsoft Sans Serif"/>
                <a:cs typeface="Microsoft Sans Serif"/>
              </a:rPr>
              <a:t>the </a:t>
            </a:r>
            <a:r>
              <a:rPr dirty="0" sz="950" spc="-40" b="1">
                <a:solidFill>
                  <a:srgbClr val="324767"/>
                </a:solidFill>
                <a:latin typeface="Tahoma"/>
                <a:cs typeface="Tahoma"/>
              </a:rPr>
              <a:t>highest-</a:t>
            </a:r>
            <a:r>
              <a:rPr dirty="0" sz="950" spc="-70" b="1">
                <a:solidFill>
                  <a:srgbClr val="324767"/>
                </a:solidFill>
                <a:latin typeface="Tahoma"/>
                <a:cs typeface="Tahoma"/>
              </a:rPr>
              <a:t>mileage</a:t>
            </a:r>
            <a:r>
              <a:rPr dirty="0" sz="950" spc="-45" b="1">
                <a:solidFill>
                  <a:srgbClr val="324767"/>
                </a:solidFill>
                <a:latin typeface="Tahoma"/>
                <a:cs typeface="Tahoma"/>
              </a:rPr>
              <a:t> </a:t>
            </a:r>
            <a:r>
              <a:rPr dirty="0" sz="950" spc="-35" b="1">
                <a:solidFill>
                  <a:srgbClr val="324767"/>
                </a:solidFill>
                <a:latin typeface="Tahoma"/>
                <a:cs typeface="Tahoma"/>
              </a:rPr>
              <a:t>day</a:t>
            </a:r>
            <a:r>
              <a:rPr dirty="0" sz="950" spc="-55" b="1">
                <a:solidFill>
                  <a:srgbClr val="324767"/>
                </a:solidFill>
                <a:latin typeface="Tahoma"/>
                <a:cs typeface="Tahoma"/>
              </a:rPr>
              <a:t> </a:t>
            </a:r>
            <a:r>
              <a:rPr dirty="0" sz="950" spc="-60">
                <a:solidFill>
                  <a:srgbClr val="6E7D93"/>
                </a:solidFill>
                <a:latin typeface="Microsoft Sans Serif"/>
                <a:cs typeface="Microsoft Sans Serif"/>
              </a:rPr>
              <a:t>(1,543</a:t>
            </a:r>
            <a:r>
              <a:rPr dirty="0" sz="950" spc="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E7D93"/>
                </a:solidFill>
                <a:latin typeface="Microsoft Sans Serif"/>
                <a:cs typeface="Microsoft Sans Serif"/>
              </a:rPr>
              <a:t>mi);</a:t>
            </a:r>
            <a:r>
              <a:rPr dirty="0" sz="950" spc="3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0">
                <a:solidFill>
                  <a:srgbClr val="6E7D93"/>
                </a:solidFill>
                <a:latin typeface="Microsoft Sans Serif"/>
                <a:cs typeface="Microsoft Sans Serif"/>
              </a:rPr>
              <a:t>Wednesday</a:t>
            </a:r>
            <a:r>
              <a:rPr dirty="0" sz="950" spc="-2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E7D93"/>
                </a:solidFill>
                <a:latin typeface="Microsoft Sans Serif"/>
                <a:cs typeface="Microsoft Sans Serif"/>
              </a:rPr>
              <a:t>is</a:t>
            </a:r>
            <a:r>
              <a:rPr dirty="0" sz="950" spc="2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E7D93"/>
                </a:solidFill>
                <a:latin typeface="Microsoft Sans Serif"/>
                <a:cs typeface="Microsoft Sans Serif"/>
              </a:rPr>
              <a:t>the most</a:t>
            </a:r>
            <a:r>
              <a:rPr dirty="0" sz="950" spc="1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E7D93"/>
                </a:solidFill>
                <a:latin typeface="Microsoft Sans Serif"/>
                <a:cs typeface="Microsoft Sans Serif"/>
              </a:rPr>
              <a:t>efficient</a:t>
            </a:r>
            <a:endParaRPr sz="95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 sz="950" spc="-90">
                <a:solidFill>
                  <a:srgbClr val="6E7D93"/>
                </a:solidFill>
                <a:latin typeface="Microsoft Sans Serif"/>
                <a:cs typeface="Microsoft Sans Serif"/>
              </a:rPr>
              <a:t>(1,196</a:t>
            </a:r>
            <a:r>
              <a:rPr dirty="0" sz="950" spc="-5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0">
                <a:solidFill>
                  <a:srgbClr val="6E7D93"/>
                </a:solidFill>
                <a:latin typeface="Microsoft Sans Serif"/>
                <a:cs typeface="Microsoft Sans Serif"/>
              </a:rPr>
              <a:t>mi).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222483" y="6501570"/>
            <a:ext cx="374650" cy="128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850" spc="-25" b="1">
                <a:solidFill>
                  <a:srgbClr val="B3BAC6"/>
                </a:solidFill>
                <a:latin typeface="Verdana"/>
                <a:cs typeface="Verdana"/>
              </a:rPr>
              <a:t>06</a:t>
            </a:r>
            <a:r>
              <a:rPr dirty="0" sz="850" spc="-125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B3BAC6"/>
                </a:solidFill>
                <a:latin typeface="Verdana"/>
                <a:cs typeface="Verdana"/>
              </a:rPr>
              <a:t>/</a:t>
            </a:r>
            <a:r>
              <a:rPr dirty="0" sz="850" spc="-114" b="1">
                <a:solidFill>
                  <a:srgbClr val="B3BAC6"/>
                </a:solidFill>
                <a:latin typeface="Verdana"/>
                <a:cs typeface="Verdana"/>
              </a:rPr>
              <a:t> 15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387337" cy="63873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00224" y="495295"/>
              <a:ext cx="1590675" cy="219075"/>
            </a:xfrm>
            <a:custGeom>
              <a:avLst/>
              <a:gdLst/>
              <a:ahLst/>
              <a:cxnLst/>
              <a:rect l="l" t="t" r="r" b="b"/>
              <a:pathLst>
                <a:path w="1590675" h="219075">
                  <a:moveTo>
                    <a:pt x="1481137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6"/>
                  </a:lnTo>
                  <a:lnTo>
                    <a:pt x="24821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8" y="57849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1481137" y="0"/>
                  </a:lnTo>
                  <a:lnTo>
                    <a:pt x="1523055" y="8338"/>
                  </a:lnTo>
                  <a:lnTo>
                    <a:pt x="1558591" y="32082"/>
                  </a:lnTo>
                  <a:lnTo>
                    <a:pt x="1582336" y="67619"/>
                  </a:lnTo>
                  <a:lnTo>
                    <a:pt x="1590674" y="109537"/>
                  </a:lnTo>
                  <a:lnTo>
                    <a:pt x="1590153" y="120327"/>
                  </a:lnTo>
                  <a:lnTo>
                    <a:pt x="1577725" y="161225"/>
                  </a:lnTo>
                  <a:lnTo>
                    <a:pt x="1550593" y="194253"/>
                  </a:lnTo>
                  <a:lnTo>
                    <a:pt x="1512886" y="214384"/>
                  </a:lnTo>
                  <a:lnTo>
                    <a:pt x="1481137" y="219074"/>
                  </a:lnTo>
                  <a:close/>
                </a:path>
              </a:pathLst>
            </a:custGeom>
            <a:solidFill>
              <a:srgbClr val="0086A7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00225" y="495300"/>
              <a:ext cx="1590675" cy="219075"/>
            </a:xfrm>
            <a:custGeom>
              <a:avLst/>
              <a:gdLst/>
              <a:ahLst/>
              <a:cxnLst/>
              <a:rect l="l" t="t" r="r" b="b"/>
              <a:pathLst>
                <a:path w="1590675" h="219075">
                  <a:moveTo>
                    <a:pt x="1481137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6"/>
                  </a:lnTo>
                  <a:lnTo>
                    <a:pt x="24821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8" y="57849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1481137" y="0"/>
                  </a:lnTo>
                  <a:lnTo>
                    <a:pt x="1523055" y="8338"/>
                  </a:lnTo>
                  <a:lnTo>
                    <a:pt x="1525570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1" y="153877"/>
                  </a:lnTo>
                  <a:lnTo>
                    <a:pt x="29923" y="170404"/>
                  </a:lnTo>
                  <a:lnTo>
                    <a:pt x="30028" y="170561"/>
                  </a:lnTo>
                  <a:lnTo>
                    <a:pt x="59433" y="196343"/>
                  </a:lnTo>
                  <a:lnTo>
                    <a:pt x="96466" y="208909"/>
                  </a:lnTo>
                  <a:lnTo>
                    <a:pt x="102970" y="209549"/>
                  </a:lnTo>
                  <a:lnTo>
                    <a:pt x="1525570" y="209549"/>
                  </a:lnTo>
                  <a:lnTo>
                    <a:pt x="1523055" y="210736"/>
                  </a:lnTo>
                  <a:lnTo>
                    <a:pt x="1512886" y="214384"/>
                  </a:lnTo>
                  <a:lnTo>
                    <a:pt x="1502510" y="216990"/>
                  </a:lnTo>
                  <a:lnTo>
                    <a:pt x="1491927" y="218553"/>
                  </a:lnTo>
                  <a:lnTo>
                    <a:pt x="1481137" y="219074"/>
                  </a:lnTo>
                  <a:close/>
                </a:path>
                <a:path w="1590675" h="219075">
                  <a:moveTo>
                    <a:pt x="1525570" y="209549"/>
                  </a:moveTo>
                  <a:lnTo>
                    <a:pt x="1487704" y="209549"/>
                  </a:lnTo>
                  <a:lnTo>
                    <a:pt x="1494208" y="208909"/>
                  </a:lnTo>
                  <a:lnTo>
                    <a:pt x="1507089" y="206347"/>
                  </a:lnTo>
                  <a:lnTo>
                    <a:pt x="1542161" y="189046"/>
                  </a:lnTo>
                  <a:lnTo>
                    <a:pt x="1567942" y="159641"/>
                  </a:lnTo>
                  <a:lnTo>
                    <a:pt x="1580509" y="122608"/>
                  </a:lnTo>
                  <a:lnTo>
                    <a:pt x="1581149" y="116104"/>
                  </a:lnTo>
                  <a:lnTo>
                    <a:pt x="1581149" y="102970"/>
                  </a:lnTo>
                  <a:lnTo>
                    <a:pt x="1571023" y="65197"/>
                  </a:lnTo>
                  <a:lnTo>
                    <a:pt x="1560751" y="48670"/>
                  </a:lnTo>
                  <a:lnTo>
                    <a:pt x="1560646" y="48513"/>
                  </a:lnTo>
                  <a:lnTo>
                    <a:pt x="1531240" y="22731"/>
                  </a:lnTo>
                  <a:lnTo>
                    <a:pt x="1494208" y="10165"/>
                  </a:lnTo>
                  <a:lnTo>
                    <a:pt x="1487704" y="9524"/>
                  </a:lnTo>
                  <a:lnTo>
                    <a:pt x="1525570" y="9524"/>
                  </a:lnTo>
                  <a:lnTo>
                    <a:pt x="1558591" y="32082"/>
                  </a:lnTo>
                  <a:lnTo>
                    <a:pt x="1582336" y="67619"/>
                  </a:lnTo>
                  <a:lnTo>
                    <a:pt x="1590674" y="109537"/>
                  </a:lnTo>
                  <a:lnTo>
                    <a:pt x="1590153" y="120327"/>
                  </a:lnTo>
                  <a:lnTo>
                    <a:pt x="1577725" y="161225"/>
                  </a:lnTo>
                  <a:lnTo>
                    <a:pt x="1550593" y="194253"/>
                  </a:lnTo>
                  <a:lnTo>
                    <a:pt x="1532824" y="206126"/>
                  </a:lnTo>
                  <a:lnTo>
                    <a:pt x="1525570" y="209549"/>
                  </a:lnTo>
                  <a:close/>
                </a:path>
              </a:pathLst>
            </a:custGeom>
            <a:solidFill>
              <a:srgbClr val="00B4D8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96899" y="532449"/>
            <a:ext cx="268287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06195" algn="l"/>
              </a:tabLst>
            </a:pPr>
            <a:r>
              <a:rPr dirty="0" baseline="3472" sz="1200" spc="-15" b="1">
                <a:solidFill>
                  <a:srgbClr val="C87D09"/>
                </a:solidFill>
                <a:latin typeface="Verdana"/>
                <a:cs typeface="Verdana"/>
              </a:rPr>
              <a:t>Q</a:t>
            </a:r>
            <a:r>
              <a:rPr dirty="0" baseline="3472" sz="12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450" b="1">
                <a:solidFill>
                  <a:srgbClr val="C87D09"/>
                </a:solidFill>
                <a:latin typeface="Verdana"/>
                <a:cs typeface="Verdana"/>
              </a:rPr>
              <a:t>1</a:t>
            </a:r>
            <a:r>
              <a:rPr dirty="0" baseline="3472" sz="1200" spc="59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baseline="3472" sz="1200" spc="-14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60" b="1">
                <a:solidFill>
                  <a:srgbClr val="C87D09"/>
                </a:solidFill>
                <a:latin typeface="Verdana"/>
                <a:cs typeface="Verdana"/>
              </a:rPr>
              <a:t>N 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baseline="3472" sz="1200" spc="-14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127" b="1">
                <a:solidFill>
                  <a:srgbClr val="C87D09"/>
                </a:solidFill>
                <a:latin typeface="Verdana"/>
                <a:cs typeface="Verdana"/>
              </a:rPr>
              <a:t>L</a:t>
            </a:r>
            <a:r>
              <a:rPr dirty="0" baseline="3472" sz="1200" spc="-209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89" b="1">
                <a:solidFill>
                  <a:srgbClr val="C87D09"/>
                </a:solidFill>
                <a:latin typeface="Verdana"/>
                <a:cs typeface="Verdana"/>
              </a:rPr>
              <a:t>Y</a:t>
            </a:r>
            <a:r>
              <a:rPr dirty="0" baseline="3472" sz="1200" spc="-127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104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baseline="3472" sz="1200" spc="-11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375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baseline="3472" sz="1200" spc="7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82" b="1">
                <a:solidFill>
                  <a:srgbClr val="C87D09"/>
                </a:solidFill>
                <a:latin typeface="Verdana"/>
                <a:cs typeface="Verdana"/>
              </a:rPr>
              <a:t>C</a:t>
            </a:r>
            <a:r>
              <a:rPr dirty="0" baseline="3472" sz="12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75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	</a:t>
            </a:r>
            <a:r>
              <a:rPr dirty="0" sz="750">
                <a:solidFill>
                  <a:srgbClr val="0086A7"/>
                </a:solidFill>
                <a:latin typeface="Arial MT"/>
                <a:cs typeface="Arial MT"/>
              </a:rPr>
              <a:t></a:t>
            </a:r>
            <a:r>
              <a:rPr dirty="0" sz="750" spc="340">
                <a:solidFill>
                  <a:srgbClr val="0086A7"/>
                </a:solidFill>
                <a:latin typeface="Arial MT"/>
                <a:cs typeface="Arial MT"/>
              </a:rPr>
              <a:t> </a:t>
            </a:r>
            <a:r>
              <a:rPr dirty="0" baseline="3703" sz="1125" b="1">
                <a:solidFill>
                  <a:srgbClr val="0086A7"/>
                </a:solidFill>
                <a:latin typeface="Arial"/>
                <a:cs typeface="Arial"/>
              </a:rPr>
              <a:t>DAI</a:t>
            </a:r>
            <a:r>
              <a:rPr dirty="0" baseline="3703" sz="1125" spc="-52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b="1">
                <a:solidFill>
                  <a:srgbClr val="0086A7"/>
                </a:solidFill>
                <a:latin typeface="Arial"/>
                <a:cs typeface="Arial"/>
              </a:rPr>
              <a:t>LY</a:t>
            </a:r>
            <a:r>
              <a:rPr dirty="0" baseline="3703" sz="1125" spc="322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spc="-52" b="1">
                <a:solidFill>
                  <a:srgbClr val="0086A7"/>
                </a:solidFill>
                <a:latin typeface="Arial"/>
                <a:cs typeface="Arial"/>
              </a:rPr>
              <a:t>P</a:t>
            </a:r>
            <a:r>
              <a:rPr dirty="0" baseline="3703" sz="1125" spc="-142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spc="-112" b="1">
                <a:solidFill>
                  <a:srgbClr val="0086A7"/>
                </a:solidFill>
                <a:latin typeface="Arial"/>
                <a:cs typeface="Arial"/>
              </a:rPr>
              <a:t>E R</a:t>
            </a:r>
            <a:r>
              <a:rPr dirty="0" baseline="3703" sz="1125" spc="-127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spc="-75" b="1">
                <a:solidFill>
                  <a:srgbClr val="0086A7"/>
                </a:solidFill>
                <a:latin typeface="Arial"/>
                <a:cs typeface="Arial"/>
              </a:rPr>
              <a:t>F</a:t>
            </a:r>
            <a:r>
              <a:rPr dirty="0" baseline="3703" sz="1125" spc="-15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b="1">
                <a:solidFill>
                  <a:srgbClr val="0086A7"/>
                </a:solidFill>
                <a:latin typeface="Arial"/>
                <a:cs typeface="Arial"/>
              </a:rPr>
              <a:t>OR</a:t>
            </a:r>
            <a:r>
              <a:rPr dirty="0" baseline="3703" sz="1125" spc="-127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b="1">
                <a:solidFill>
                  <a:srgbClr val="0086A7"/>
                </a:solidFill>
                <a:latin typeface="Arial"/>
                <a:cs typeface="Arial"/>
              </a:rPr>
              <a:t>M</a:t>
            </a:r>
            <a:r>
              <a:rPr dirty="0" baseline="3703" sz="1125" spc="-127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b="1">
                <a:solidFill>
                  <a:srgbClr val="0086A7"/>
                </a:solidFill>
                <a:latin typeface="Arial"/>
                <a:cs typeface="Arial"/>
              </a:rPr>
              <a:t>AN</a:t>
            </a:r>
            <a:r>
              <a:rPr dirty="0" baseline="3703" sz="1125" spc="-112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b="1">
                <a:solidFill>
                  <a:srgbClr val="0086A7"/>
                </a:solidFill>
                <a:latin typeface="Arial"/>
                <a:cs typeface="Arial"/>
              </a:rPr>
              <a:t>C</a:t>
            </a:r>
            <a:r>
              <a:rPr dirty="0" baseline="3703" sz="1125" spc="-142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baseline="3703" sz="1125" spc="-75" b="1">
                <a:solidFill>
                  <a:srgbClr val="0086A7"/>
                </a:solidFill>
                <a:latin typeface="Arial"/>
                <a:cs typeface="Arial"/>
              </a:rPr>
              <a:t>E</a:t>
            </a:r>
            <a:endParaRPr baseline="3703" sz="1125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96899" y="656053"/>
            <a:ext cx="6166485" cy="492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595"/>
              <a:t>Q1</a:t>
            </a:r>
            <a:r>
              <a:rPr dirty="0" sz="2800" spc="-290"/>
              <a:t> </a:t>
            </a:r>
            <a:r>
              <a:rPr dirty="0" sz="2800" spc="-270"/>
              <a:t>Dail</a:t>
            </a:r>
            <a:r>
              <a:rPr dirty="0" sz="3050" spc="-270"/>
              <a:t>y</a:t>
            </a:r>
            <a:r>
              <a:rPr dirty="0" sz="3050" spc="-640"/>
              <a:t> </a:t>
            </a:r>
            <a:r>
              <a:rPr dirty="0" sz="2800" spc="-295"/>
              <a:t>Ro</a:t>
            </a:r>
            <a:r>
              <a:rPr dirty="0" sz="3050" spc="-295"/>
              <a:t>u</a:t>
            </a:r>
            <a:r>
              <a:rPr dirty="0" sz="2800" spc="-295"/>
              <a:t>te</a:t>
            </a:r>
            <a:r>
              <a:rPr dirty="0" sz="2800" spc="-480"/>
              <a:t> </a:t>
            </a:r>
            <a:r>
              <a:rPr dirty="0" sz="2800" spc="-390"/>
              <a:t>&amp;</a:t>
            </a:r>
            <a:r>
              <a:rPr dirty="0" sz="2800" spc="-560"/>
              <a:t> </a:t>
            </a:r>
            <a:r>
              <a:rPr dirty="0" sz="2800" spc="-204"/>
              <a:t>Mileage</a:t>
            </a:r>
            <a:r>
              <a:rPr dirty="0" sz="2800" spc="-484"/>
              <a:t> </a:t>
            </a:r>
            <a:r>
              <a:rPr dirty="0" sz="2800" spc="-335"/>
              <a:t>Breakdo</a:t>
            </a:r>
            <a:r>
              <a:rPr dirty="0" sz="3050" spc="-335"/>
              <a:t>w</a:t>
            </a:r>
            <a:r>
              <a:rPr dirty="0" sz="2800" spc="-335"/>
              <a:t>n</a:t>
            </a:r>
            <a:endParaRPr sz="2800"/>
          </a:p>
        </p:txBody>
      </p:sp>
      <p:grpSp>
        <p:nvGrpSpPr>
          <p:cNvPr id="9" name="object 9"/>
          <p:cNvGrpSpPr/>
          <p:nvPr/>
        </p:nvGrpSpPr>
        <p:grpSpPr>
          <a:xfrm>
            <a:off x="609599" y="1285869"/>
            <a:ext cx="5391150" cy="5076825"/>
            <a:chOff x="609599" y="1285869"/>
            <a:chExt cx="5391150" cy="5076825"/>
          </a:xfrm>
        </p:grpSpPr>
        <p:sp>
          <p:nvSpPr>
            <p:cNvPr id="10" name="object 10"/>
            <p:cNvSpPr/>
            <p:nvPr/>
          </p:nvSpPr>
          <p:spPr>
            <a:xfrm>
              <a:off x="609599" y="1285869"/>
              <a:ext cx="5391150" cy="5076825"/>
            </a:xfrm>
            <a:custGeom>
              <a:avLst/>
              <a:gdLst/>
              <a:ahLst/>
              <a:cxnLst/>
              <a:rect l="l" t="t" r="r" b="b"/>
              <a:pathLst>
                <a:path w="5391150" h="5076825">
                  <a:moveTo>
                    <a:pt x="5257799" y="5076824"/>
                  </a:moveTo>
                  <a:lnTo>
                    <a:pt x="133349" y="5076824"/>
                  </a:lnTo>
                  <a:lnTo>
                    <a:pt x="120213" y="5076189"/>
                  </a:lnTo>
                  <a:lnTo>
                    <a:pt x="82319" y="5066672"/>
                  </a:lnTo>
                  <a:lnTo>
                    <a:pt x="48794" y="5046607"/>
                  </a:lnTo>
                  <a:lnTo>
                    <a:pt x="22452" y="5017573"/>
                  </a:lnTo>
                  <a:lnTo>
                    <a:pt x="5709" y="4982125"/>
                  </a:lnTo>
                  <a:lnTo>
                    <a:pt x="0" y="49434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50" y="5709"/>
                  </a:lnTo>
                  <a:lnTo>
                    <a:pt x="5331898" y="22452"/>
                  </a:lnTo>
                  <a:lnTo>
                    <a:pt x="5360931" y="48794"/>
                  </a:lnTo>
                  <a:lnTo>
                    <a:pt x="5380998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4943474"/>
                  </a:lnTo>
                  <a:lnTo>
                    <a:pt x="5385438" y="4982125"/>
                  </a:lnTo>
                  <a:lnTo>
                    <a:pt x="5368696" y="5017573"/>
                  </a:lnTo>
                  <a:lnTo>
                    <a:pt x="5342354" y="5046607"/>
                  </a:lnTo>
                  <a:lnTo>
                    <a:pt x="5308829" y="5066672"/>
                  </a:lnTo>
                  <a:lnTo>
                    <a:pt x="5270935" y="5076189"/>
                  </a:lnTo>
                  <a:lnTo>
                    <a:pt x="5257799" y="507682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09599" y="1285874"/>
              <a:ext cx="5391150" cy="5076825"/>
            </a:xfrm>
            <a:custGeom>
              <a:avLst/>
              <a:gdLst/>
              <a:ahLst/>
              <a:cxnLst/>
              <a:rect l="l" t="t" r="r" b="b"/>
              <a:pathLst>
                <a:path w="5391150" h="5076825">
                  <a:moveTo>
                    <a:pt x="5257799" y="5076824"/>
                  </a:moveTo>
                  <a:lnTo>
                    <a:pt x="133349" y="5076824"/>
                  </a:lnTo>
                  <a:lnTo>
                    <a:pt x="120213" y="5076190"/>
                  </a:lnTo>
                  <a:lnTo>
                    <a:pt x="82319" y="5066673"/>
                  </a:lnTo>
                  <a:lnTo>
                    <a:pt x="48794" y="5046607"/>
                  </a:lnTo>
                  <a:lnTo>
                    <a:pt x="22452" y="5017573"/>
                  </a:lnTo>
                  <a:lnTo>
                    <a:pt x="5709" y="4982126"/>
                  </a:lnTo>
                  <a:lnTo>
                    <a:pt x="0" y="49434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9" y="2537"/>
                  </a:lnTo>
                  <a:lnTo>
                    <a:pt x="5296450" y="5709"/>
                  </a:lnTo>
                  <a:lnTo>
                    <a:pt x="5307085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4951604"/>
                  </a:lnTo>
                  <a:lnTo>
                    <a:pt x="22061" y="4998371"/>
                  </a:lnTo>
                  <a:lnTo>
                    <a:pt x="51541" y="5036780"/>
                  </a:lnTo>
                  <a:lnTo>
                    <a:pt x="93475" y="5060984"/>
                  </a:lnTo>
                  <a:lnTo>
                    <a:pt x="125219" y="5067299"/>
                  </a:lnTo>
                  <a:lnTo>
                    <a:pt x="5307084" y="5067299"/>
                  </a:lnTo>
                  <a:lnTo>
                    <a:pt x="5296450" y="5071114"/>
                  </a:lnTo>
                  <a:lnTo>
                    <a:pt x="5283819" y="5074286"/>
                  </a:lnTo>
                  <a:lnTo>
                    <a:pt x="5270935" y="5076190"/>
                  </a:lnTo>
                  <a:lnTo>
                    <a:pt x="5257799" y="5076824"/>
                  </a:lnTo>
                  <a:close/>
                </a:path>
                <a:path w="5391150" h="5076825">
                  <a:moveTo>
                    <a:pt x="5307084" y="5067299"/>
                  </a:moveTo>
                  <a:lnTo>
                    <a:pt x="5265930" y="5067299"/>
                  </a:lnTo>
                  <a:lnTo>
                    <a:pt x="5273982" y="5066506"/>
                  </a:lnTo>
                  <a:lnTo>
                    <a:pt x="5289930" y="5063333"/>
                  </a:lnTo>
                  <a:lnTo>
                    <a:pt x="5333352" y="5041913"/>
                  </a:lnTo>
                  <a:lnTo>
                    <a:pt x="5365273" y="5005507"/>
                  </a:lnTo>
                  <a:lnTo>
                    <a:pt x="5380831" y="4959657"/>
                  </a:lnTo>
                  <a:lnTo>
                    <a:pt x="5381624" y="4951604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4" y="15763"/>
                  </a:lnTo>
                  <a:lnTo>
                    <a:pt x="5265930" y="9524"/>
                  </a:lnTo>
                  <a:lnTo>
                    <a:pt x="5307085" y="9524"/>
                  </a:lnTo>
                  <a:lnTo>
                    <a:pt x="5342354" y="30217"/>
                  </a:lnTo>
                  <a:lnTo>
                    <a:pt x="5368696" y="59250"/>
                  </a:lnTo>
                  <a:lnTo>
                    <a:pt x="5385439" y="94698"/>
                  </a:lnTo>
                  <a:lnTo>
                    <a:pt x="5391149" y="133349"/>
                  </a:lnTo>
                  <a:lnTo>
                    <a:pt x="5391149" y="4943474"/>
                  </a:lnTo>
                  <a:lnTo>
                    <a:pt x="5390515" y="4956610"/>
                  </a:lnTo>
                  <a:lnTo>
                    <a:pt x="5380998" y="4994505"/>
                  </a:lnTo>
                  <a:lnTo>
                    <a:pt x="5360932" y="5028029"/>
                  </a:lnTo>
                  <a:lnTo>
                    <a:pt x="5331898" y="5054371"/>
                  </a:lnTo>
                  <a:lnTo>
                    <a:pt x="5308829" y="5066673"/>
                  </a:lnTo>
                  <a:lnTo>
                    <a:pt x="5307084" y="506729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96925" y="1427799"/>
            <a:ext cx="1920239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LY</a:t>
            </a:r>
            <a:r>
              <a:rPr dirty="0" sz="800" spc="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798FAC"/>
                </a:solidFill>
                <a:latin typeface="Verdana"/>
                <a:cs typeface="Verdana"/>
              </a:rPr>
              <a:t>L</a:t>
            </a:r>
            <a:r>
              <a:rPr dirty="0" sz="80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—</a:t>
            </a:r>
            <a:r>
              <a:rPr dirty="0" sz="800" spc="11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Q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300" b="1">
                <a:solidFill>
                  <a:srgbClr val="798FAC"/>
                </a:solidFill>
                <a:latin typeface="Verdana"/>
                <a:cs typeface="Verdana"/>
              </a:rPr>
              <a:t>1</a:t>
            </a:r>
            <a:r>
              <a:rPr dirty="0" sz="800" spc="2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0" b="1">
                <a:solidFill>
                  <a:srgbClr val="798FAC"/>
                </a:solidFill>
                <a:latin typeface="Verdana"/>
                <a:cs typeface="Verdana"/>
              </a:rPr>
              <a:t>B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AS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70" b="1">
                <a:solidFill>
                  <a:srgbClr val="798FAC"/>
                </a:solidFill>
                <a:latin typeface="Verdana"/>
                <a:cs typeface="Verdana"/>
              </a:rPr>
              <a:t>CAS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91249" y="1285869"/>
            <a:ext cx="5391150" cy="3381375"/>
            <a:chOff x="6191249" y="1285869"/>
            <a:chExt cx="5391150" cy="3381375"/>
          </a:xfrm>
        </p:grpSpPr>
        <p:sp>
          <p:nvSpPr>
            <p:cNvPr id="14" name="object 14"/>
            <p:cNvSpPr/>
            <p:nvPr/>
          </p:nvSpPr>
          <p:spPr>
            <a:xfrm>
              <a:off x="6191249" y="1285869"/>
              <a:ext cx="5391150" cy="3381375"/>
            </a:xfrm>
            <a:custGeom>
              <a:avLst/>
              <a:gdLst/>
              <a:ahLst/>
              <a:cxnLst/>
              <a:rect l="l" t="t" r="r" b="b"/>
              <a:pathLst>
                <a:path w="5391150" h="3381375">
                  <a:moveTo>
                    <a:pt x="5257799" y="3381374"/>
                  </a:moveTo>
                  <a:lnTo>
                    <a:pt x="133349" y="3381374"/>
                  </a:lnTo>
                  <a:lnTo>
                    <a:pt x="120213" y="3380740"/>
                  </a:lnTo>
                  <a:lnTo>
                    <a:pt x="82318" y="3371223"/>
                  </a:lnTo>
                  <a:lnTo>
                    <a:pt x="48793" y="3351157"/>
                  </a:lnTo>
                  <a:lnTo>
                    <a:pt x="22451" y="3322123"/>
                  </a:lnTo>
                  <a:lnTo>
                    <a:pt x="5709" y="3286676"/>
                  </a:lnTo>
                  <a:lnTo>
                    <a:pt x="0" y="324802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3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49" y="5709"/>
                  </a:lnTo>
                  <a:lnTo>
                    <a:pt x="5331897" y="22452"/>
                  </a:lnTo>
                  <a:lnTo>
                    <a:pt x="5360931" y="48794"/>
                  </a:lnTo>
                  <a:lnTo>
                    <a:pt x="5380997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3248024"/>
                  </a:lnTo>
                  <a:lnTo>
                    <a:pt x="5385438" y="3286676"/>
                  </a:lnTo>
                  <a:lnTo>
                    <a:pt x="5368695" y="3322123"/>
                  </a:lnTo>
                  <a:lnTo>
                    <a:pt x="5342354" y="3351157"/>
                  </a:lnTo>
                  <a:lnTo>
                    <a:pt x="5308828" y="3371223"/>
                  </a:lnTo>
                  <a:lnTo>
                    <a:pt x="5270935" y="3380740"/>
                  </a:lnTo>
                  <a:lnTo>
                    <a:pt x="5257799" y="338137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91249" y="1285874"/>
              <a:ext cx="5391150" cy="3381375"/>
            </a:xfrm>
            <a:custGeom>
              <a:avLst/>
              <a:gdLst/>
              <a:ahLst/>
              <a:cxnLst/>
              <a:rect l="l" t="t" r="r" b="b"/>
              <a:pathLst>
                <a:path w="5391150" h="3381375">
                  <a:moveTo>
                    <a:pt x="5257799" y="3381374"/>
                  </a:moveTo>
                  <a:lnTo>
                    <a:pt x="133349" y="3381374"/>
                  </a:lnTo>
                  <a:lnTo>
                    <a:pt x="120213" y="3380740"/>
                  </a:lnTo>
                  <a:lnTo>
                    <a:pt x="82318" y="3371223"/>
                  </a:lnTo>
                  <a:lnTo>
                    <a:pt x="48793" y="3351157"/>
                  </a:lnTo>
                  <a:lnTo>
                    <a:pt x="22451" y="3322123"/>
                  </a:lnTo>
                  <a:lnTo>
                    <a:pt x="5709" y="3286676"/>
                  </a:lnTo>
                  <a:lnTo>
                    <a:pt x="0" y="324802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3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8" y="2537"/>
                  </a:lnTo>
                  <a:lnTo>
                    <a:pt x="5296449" y="5709"/>
                  </a:lnTo>
                  <a:lnTo>
                    <a:pt x="5307084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3256155"/>
                  </a:lnTo>
                  <a:lnTo>
                    <a:pt x="22061" y="3302921"/>
                  </a:lnTo>
                  <a:lnTo>
                    <a:pt x="51541" y="3341331"/>
                  </a:lnTo>
                  <a:lnTo>
                    <a:pt x="93475" y="3365535"/>
                  </a:lnTo>
                  <a:lnTo>
                    <a:pt x="125219" y="3371849"/>
                  </a:lnTo>
                  <a:lnTo>
                    <a:pt x="5307084" y="3371849"/>
                  </a:lnTo>
                  <a:lnTo>
                    <a:pt x="5296449" y="3375664"/>
                  </a:lnTo>
                  <a:lnTo>
                    <a:pt x="5283818" y="3378836"/>
                  </a:lnTo>
                  <a:lnTo>
                    <a:pt x="5270935" y="3380740"/>
                  </a:lnTo>
                  <a:lnTo>
                    <a:pt x="5257799" y="3381374"/>
                  </a:lnTo>
                  <a:close/>
                </a:path>
                <a:path w="5391150" h="3381375">
                  <a:moveTo>
                    <a:pt x="5307084" y="3371849"/>
                  </a:moveTo>
                  <a:lnTo>
                    <a:pt x="5265930" y="3371849"/>
                  </a:lnTo>
                  <a:lnTo>
                    <a:pt x="5273982" y="3371056"/>
                  </a:lnTo>
                  <a:lnTo>
                    <a:pt x="5289930" y="3367884"/>
                  </a:lnTo>
                  <a:lnTo>
                    <a:pt x="5333352" y="3346464"/>
                  </a:lnTo>
                  <a:lnTo>
                    <a:pt x="5365273" y="3310057"/>
                  </a:lnTo>
                  <a:lnTo>
                    <a:pt x="5380831" y="3264207"/>
                  </a:lnTo>
                  <a:lnTo>
                    <a:pt x="5381624" y="3256155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4" y="15763"/>
                  </a:lnTo>
                  <a:lnTo>
                    <a:pt x="5265930" y="9524"/>
                  </a:lnTo>
                  <a:lnTo>
                    <a:pt x="5307084" y="9524"/>
                  </a:lnTo>
                  <a:lnTo>
                    <a:pt x="5342354" y="30217"/>
                  </a:lnTo>
                  <a:lnTo>
                    <a:pt x="5368695" y="59250"/>
                  </a:lnTo>
                  <a:lnTo>
                    <a:pt x="5385438" y="94698"/>
                  </a:lnTo>
                  <a:lnTo>
                    <a:pt x="5391149" y="133349"/>
                  </a:lnTo>
                  <a:lnTo>
                    <a:pt x="5391149" y="3248024"/>
                  </a:lnTo>
                  <a:lnTo>
                    <a:pt x="5390515" y="3261161"/>
                  </a:lnTo>
                  <a:lnTo>
                    <a:pt x="5380997" y="3299055"/>
                  </a:lnTo>
                  <a:lnTo>
                    <a:pt x="5360931" y="3332580"/>
                  </a:lnTo>
                  <a:lnTo>
                    <a:pt x="5331898" y="3358921"/>
                  </a:lnTo>
                  <a:lnTo>
                    <a:pt x="5308829" y="3371223"/>
                  </a:lnTo>
                  <a:lnTo>
                    <a:pt x="5307084" y="337184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378575" y="1427799"/>
            <a:ext cx="112585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O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-1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11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P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13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" b="1">
                <a:solidFill>
                  <a:srgbClr val="798FAC"/>
                </a:solidFill>
                <a:latin typeface="Verdana"/>
                <a:cs typeface="Verdana"/>
              </a:rPr>
              <a:t>AY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91249" y="4819644"/>
            <a:ext cx="5391150" cy="923925"/>
            <a:chOff x="6191249" y="4819644"/>
            <a:chExt cx="5391150" cy="923925"/>
          </a:xfrm>
        </p:grpSpPr>
        <p:sp>
          <p:nvSpPr>
            <p:cNvPr id="18" name="object 18"/>
            <p:cNvSpPr/>
            <p:nvPr/>
          </p:nvSpPr>
          <p:spPr>
            <a:xfrm>
              <a:off x="6191249" y="4819644"/>
              <a:ext cx="5391150" cy="923925"/>
            </a:xfrm>
            <a:custGeom>
              <a:avLst/>
              <a:gdLst/>
              <a:ahLst/>
              <a:cxnLst/>
              <a:rect l="l" t="t" r="r" b="b"/>
              <a:pathLst>
                <a:path w="5391150" h="923925">
                  <a:moveTo>
                    <a:pt x="5257799" y="923924"/>
                  </a:moveTo>
                  <a:lnTo>
                    <a:pt x="133349" y="923924"/>
                  </a:lnTo>
                  <a:lnTo>
                    <a:pt x="120213" y="923290"/>
                  </a:lnTo>
                  <a:lnTo>
                    <a:pt x="82318" y="913773"/>
                  </a:lnTo>
                  <a:lnTo>
                    <a:pt x="48793" y="893707"/>
                  </a:lnTo>
                  <a:lnTo>
                    <a:pt x="22451" y="864673"/>
                  </a:lnTo>
                  <a:lnTo>
                    <a:pt x="5709" y="829226"/>
                  </a:lnTo>
                  <a:lnTo>
                    <a:pt x="0" y="79057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1" y="59250"/>
                  </a:lnTo>
                  <a:lnTo>
                    <a:pt x="48793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49" y="5709"/>
                  </a:lnTo>
                  <a:lnTo>
                    <a:pt x="5331897" y="22452"/>
                  </a:lnTo>
                  <a:lnTo>
                    <a:pt x="5360931" y="48794"/>
                  </a:lnTo>
                  <a:lnTo>
                    <a:pt x="5380997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790574"/>
                  </a:lnTo>
                  <a:lnTo>
                    <a:pt x="5385438" y="829226"/>
                  </a:lnTo>
                  <a:lnTo>
                    <a:pt x="5368695" y="864673"/>
                  </a:lnTo>
                  <a:lnTo>
                    <a:pt x="5342354" y="893707"/>
                  </a:lnTo>
                  <a:lnTo>
                    <a:pt x="5308828" y="913773"/>
                  </a:lnTo>
                  <a:lnTo>
                    <a:pt x="5270935" y="923290"/>
                  </a:lnTo>
                  <a:lnTo>
                    <a:pt x="5257799" y="92392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91249" y="4819649"/>
              <a:ext cx="5391150" cy="923925"/>
            </a:xfrm>
            <a:custGeom>
              <a:avLst/>
              <a:gdLst/>
              <a:ahLst/>
              <a:cxnLst/>
              <a:rect l="l" t="t" r="r" b="b"/>
              <a:pathLst>
                <a:path w="5391150" h="923925">
                  <a:moveTo>
                    <a:pt x="5257799" y="923924"/>
                  </a:moveTo>
                  <a:lnTo>
                    <a:pt x="133349" y="923924"/>
                  </a:lnTo>
                  <a:lnTo>
                    <a:pt x="120213" y="923290"/>
                  </a:lnTo>
                  <a:lnTo>
                    <a:pt x="82318" y="913773"/>
                  </a:lnTo>
                  <a:lnTo>
                    <a:pt x="48793" y="893707"/>
                  </a:lnTo>
                  <a:lnTo>
                    <a:pt x="22451" y="864673"/>
                  </a:lnTo>
                  <a:lnTo>
                    <a:pt x="5709" y="829226"/>
                  </a:lnTo>
                  <a:lnTo>
                    <a:pt x="0" y="79057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1" y="59250"/>
                  </a:lnTo>
                  <a:lnTo>
                    <a:pt x="48793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8" y="2537"/>
                  </a:lnTo>
                  <a:lnTo>
                    <a:pt x="5296449" y="5709"/>
                  </a:lnTo>
                  <a:lnTo>
                    <a:pt x="5307085" y="9524"/>
                  </a:lnTo>
                  <a:lnTo>
                    <a:pt x="125219" y="9524"/>
                  </a:lnTo>
                  <a:lnTo>
                    <a:pt x="117167" y="10317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798705"/>
                  </a:lnTo>
                  <a:lnTo>
                    <a:pt x="22061" y="845472"/>
                  </a:lnTo>
                  <a:lnTo>
                    <a:pt x="51541" y="883881"/>
                  </a:lnTo>
                  <a:lnTo>
                    <a:pt x="93475" y="908085"/>
                  </a:lnTo>
                  <a:lnTo>
                    <a:pt x="125219" y="914399"/>
                  </a:lnTo>
                  <a:lnTo>
                    <a:pt x="5307084" y="914399"/>
                  </a:lnTo>
                  <a:lnTo>
                    <a:pt x="5296449" y="918214"/>
                  </a:lnTo>
                  <a:lnTo>
                    <a:pt x="5283818" y="921387"/>
                  </a:lnTo>
                  <a:lnTo>
                    <a:pt x="5270935" y="923290"/>
                  </a:lnTo>
                  <a:lnTo>
                    <a:pt x="5257799" y="923924"/>
                  </a:lnTo>
                  <a:close/>
                </a:path>
                <a:path w="5391150" h="923925">
                  <a:moveTo>
                    <a:pt x="5307084" y="914399"/>
                  </a:moveTo>
                  <a:lnTo>
                    <a:pt x="5265930" y="914399"/>
                  </a:lnTo>
                  <a:lnTo>
                    <a:pt x="5273982" y="913606"/>
                  </a:lnTo>
                  <a:lnTo>
                    <a:pt x="5289930" y="910434"/>
                  </a:lnTo>
                  <a:lnTo>
                    <a:pt x="5333352" y="889014"/>
                  </a:lnTo>
                  <a:lnTo>
                    <a:pt x="5365273" y="852608"/>
                  </a:lnTo>
                  <a:lnTo>
                    <a:pt x="5380831" y="806757"/>
                  </a:lnTo>
                  <a:lnTo>
                    <a:pt x="5381624" y="798705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3" y="15763"/>
                  </a:lnTo>
                  <a:lnTo>
                    <a:pt x="5265930" y="9524"/>
                  </a:lnTo>
                  <a:lnTo>
                    <a:pt x="5307085" y="9524"/>
                  </a:lnTo>
                  <a:lnTo>
                    <a:pt x="5342354" y="30216"/>
                  </a:lnTo>
                  <a:lnTo>
                    <a:pt x="5368695" y="59250"/>
                  </a:lnTo>
                  <a:lnTo>
                    <a:pt x="5385438" y="94697"/>
                  </a:lnTo>
                  <a:lnTo>
                    <a:pt x="5391149" y="133349"/>
                  </a:lnTo>
                  <a:lnTo>
                    <a:pt x="5391149" y="790574"/>
                  </a:lnTo>
                  <a:lnTo>
                    <a:pt x="5390515" y="803710"/>
                  </a:lnTo>
                  <a:lnTo>
                    <a:pt x="5380997" y="841605"/>
                  </a:lnTo>
                  <a:lnTo>
                    <a:pt x="5360931" y="875129"/>
                  </a:lnTo>
                  <a:lnTo>
                    <a:pt x="5331898" y="901471"/>
                  </a:lnTo>
                  <a:lnTo>
                    <a:pt x="5308829" y="913773"/>
                  </a:lnTo>
                  <a:lnTo>
                    <a:pt x="5307084" y="91439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378575" y="4961573"/>
            <a:ext cx="1647189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14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5" b="1">
                <a:solidFill>
                  <a:srgbClr val="798FAC"/>
                </a:solidFill>
                <a:latin typeface="Verdana"/>
                <a:cs typeface="Verdana"/>
              </a:rPr>
              <a:t>F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5" b="1">
                <a:solidFill>
                  <a:srgbClr val="798FAC"/>
                </a:solidFill>
                <a:latin typeface="Verdana"/>
                <a:cs typeface="Verdana"/>
              </a:rPr>
              <a:t>F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55" b="1">
                <a:solidFill>
                  <a:srgbClr val="798FAC"/>
                </a:solidFill>
                <a:latin typeface="Verdana"/>
                <a:cs typeface="Verdana"/>
              </a:rPr>
              <a:t>C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14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798FAC"/>
                </a:solidFill>
                <a:latin typeface="Verdana"/>
                <a:cs typeface="Verdana"/>
              </a:rPr>
              <a:t>N</a:t>
            </a:r>
            <a:r>
              <a:rPr dirty="0" sz="800" spc="-114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55" b="1">
                <a:solidFill>
                  <a:srgbClr val="798FAC"/>
                </a:solidFill>
                <a:latin typeface="Verdana"/>
                <a:cs typeface="Verdana"/>
              </a:rPr>
              <a:t>CY</a:t>
            </a:r>
            <a:r>
              <a:rPr dirty="0" sz="800" spc="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798FAC"/>
                </a:solidFill>
                <a:latin typeface="Verdana"/>
                <a:cs typeface="Verdana"/>
              </a:rPr>
              <a:t>N</a:t>
            </a:r>
            <a:r>
              <a:rPr dirty="0" sz="800" spc="-114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50" b="1">
                <a:solidFill>
                  <a:srgbClr val="798FAC"/>
                </a:solidFill>
                <a:latin typeface="Verdana"/>
                <a:cs typeface="Verdana"/>
              </a:rPr>
              <a:t>CAT</a:t>
            </a:r>
            <a:r>
              <a:rPr dirty="0" sz="800" spc="-1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O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61930" y="5141965"/>
            <a:ext cx="1209675" cy="44386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ctr" marL="12065">
              <a:lnSpc>
                <a:spcPct val="100000"/>
              </a:lnSpc>
              <a:spcBef>
                <a:spcPts val="285"/>
              </a:spcBef>
            </a:pPr>
            <a:r>
              <a:rPr dirty="0" sz="1750" spc="-25" b="1">
                <a:solidFill>
                  <a:srgbClr val="C87D09"/>
                </a:solidFill>
                <a:latin typeface="Verdana"/>
                <a:cs typeface="Verdana"/>
              </a:rPr>
              <a:t>272</a:t>
            </a:r>
            <a:endParaRPr sz="17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PEAK</a:t>
            </a:r>
            <a:r>
              <a:rPr dirty="0" sz="750" spc="14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798FAC"/>
                </a:solidFill>
                <a:latin typeface="Microsoft Sans Serif"/>
                <a:cs typeface="Microsoft Sans Serif"/>
              </a:rPr>
              <a:t>MI</a:t>
            </a:r>
            <a:r>
              <a:rPr dirty="0" sz="750" spc="-6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80">
                <a:solidFill>
                  <a:srgbClr val="798FAC"/>
                </a:solidFill>
                <a:latin typeface="Microsoft Sans Serif"/>
                <a:cs typeface="Microsoft Sans Serif"/>
              </a:rPr>
              <a:t>/</a:t>
            </a:r>
            <a:r>
              <a:rPr dirty="0" sz="750" spc="-8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ROUTE</a:t>
            </a:r>
            <a:r>
              <a:rPr dirty="0" sz="750" spc="18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(</a:t>
            </a:r>
            <a:r>
              <a:rPr dirty="0" sz="750" spc="-114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30">
                <a:solidFill>
                  <a:srgbClr val="798FAC"/>
                </a:solidFill>
                <a:latin typeface="Microsoft Sans Serif"/>
                <a:cs typeface="Microsoft Sans Serif"/>
              </a:rPr>
              <a:t>MON)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88336" y="5141965"/>
            <a:ext cx="1185545" cy="44386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ctr" marL="13970">
              <a:lnSpc>
                <a:spcPct val="100000"/>
              </a:lnSpc>
              <a:spcBef>
                <a:spcPts val="285"/>
              </a:spcBef>
            </a:pPr>
            <a:r>
              <a:rPr dirty="0" sz="1750" spc="-25" b="1">
                <a:solidFill>
                  <a:srgbClr val="0086A7"/>
                </a:solidFill>
                <a:latin typeface="Verdana"/>
                <a:cs typeface="Verdana"/>
              </a:rPr>
              <a:t>199</a:t>
            </a:r>
            <a:endParaRPr sz="17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BEST</a:t>
            </a:r>
            <a:r>
              <a:rPr dirty="0" sz="750" spc="14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798FAC"/>
                </a:solidFill>
                <a:latin typeface="Microsoft Sans Serif"/>
                <a:cs typeface="Microsoft Sans Serif"/>
              </a:rPr>
              <a:t>MI</a:t>
            </a:r>
            <a:r>
              <a:rPr dirty="0" sz="750" spc="-7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80">
                <a:solidFill>
                  <a:srgbClr val="798FAC"/>
                </a:solidFill>
                <a:latin typeface="Microsoft Sans Serif"/>
                <a:cs typeface="Microsoft Sans Serif"/>
              </a:rPr>
              <a:t>/</a:t>
            </a:r>
            <a:r>
              <a:rPr dirty="0" sz="750" spc="-8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ROUTE</a:t>
            </a:r>
            <a:r>
              <a:rPr dirty="0" sz="750" spc="16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(</a:t>
            </a:r>
            <a:r>
              <a:rPr dirty="0" sz="750" spc="-12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0">
                <a:solidFill>
                  <a:srgbClr val="798FAC"/>
                </a:solidFill>
                <a:latin typeface="Microsoft Sans Serif"/>
                <a:cs typeface="Microsoft Sans Serif"/>
              </a:rPr>
              <a:t>WED)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60135" y="5141965"/>
            <a:ext cx="1073150" cy="44386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ctr" marL="24130">
              <a:lnSpc>
                <a:spcPct val="100000"/>
              </a:lnSpc>
              <a:spcBef>
                <a:spcPts val="285"/>
              </a:spcBef>
            </a:pPr>
            <a:r>
              <a:rPr dirty="0" sz="1750" spc="-335" b="1">
                <a:solidFill>
                  <a:srgbClr val="098F60"/>
                </a:solidFill>
                <a:latin typeface="Verdana"/>
                <a:cs typeface="Verdana"/>
              </a:rPr>
              <a:t>0%</a:t>
            </a:r>
            <a:endParaRPr sz="17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OVERNI</a:t>
            </a:r>
            <a:r>
              <a:rPr dirty="0" sz="750" spc="-4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GHT</a:t>
            </a:r>
            <a:r>
              <a:rPr dirty="0" sz="750" spc="22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798FAC"/>
                </a:solidFill>
                <a:latin typeface="Microsoft Sans Serif"/>
                <a:cs typeface="Microsoft Sans Serif"/>
              </a:rPr>
              <a:t>ROUTES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9625" y="1647825"/>
            <a:ext cx="10572750" cy="4552950"/>
            <a:chOff x="809625" y="1647825"/>
            <a:chExt cx="10572750" cy="455295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625" y="1647825"/>
              <a:ext cx="4991099" cy="455294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1275" y="1647825"/>
              <a:ext cx="4991099" cy="28574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1230967" y="6501570"/>
            <a:ext cx="366395" cy="128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850" spc="-50" b="1">
                <a:solidFill>
                  <a:srgbClr val="B3BAC6"/>
                </a:solidFill>
                <a:latin typeface="Verdana"/>
                <a:cs typeface="Verdana"/>
              </a:rPr>
              <a:t>07</a:t>
            </a:r>
            <a:r>
              <a:rPr dirty="0" sz="850" spc="-130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B3BAC6"/>
                </a:solidFill>
                <a:latin typeface="Verdana"/>
                <a:cs typeface="Verdana"/>
              </a:rPr>
              <a:t>/</a:t>
            </a:r>
            <a:r>
              <a:rPr dirty="0" sz="850" spc="-120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110" b="1">
                <a:solidFill>
                  <a:srgbClr val="B3BAC6"/>
                </a:solidFill>
                <a:latin typeface="Verdana"/>
                <a:cs typeface="Verdana"/>
              </a:rPr>
              <a:t>15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1681" y="0"/>
              <a:ext cx="6100318" cy="59082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85949" y="495299"/>
              <a:ext cx="1114425" cy="219075"/>
            </a:xfrm>
            <a:custGeom>
              <a:avLst/>
              <a:gdLst/>
              <a:ahLst/>
              <a:cxnLst/>
              <a:rect l="l" t="t" r="r" b="b"/>
              <a:pathLst>
                <a:path w="1114425" h="219075">
                  <a:moveTo>
                    <a:pt x="1004887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6"/>
                  </a:lnTo>
                  <a:lnTo>
                    <a:pt x="24821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1" y="98746"/>
                  </a:lnTo>
                  <a:lnTo>
                    <a:pt x="12948" y="57849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1004887" y="0"/>
                  </a:lnTo>
                  <a:lnTo>
                    <a:pt x="1046805" y="8338"/>
                  </a:lnTo>
                  <a:lnTo>
                    <a:pt x="1082341" y="32082"/>
                  </a:lnTo>
                  <a:lnTo>
                    <a:pt x="1106086" y="67619"/>
                  </a:lnTo>
                  <a:lnTo>
                    <a:pt x="1114424" y="109537"/>
                  </a:lnTo>
                  <a:lnTo>
                    <a:pt x="1113903" y="120327"/>
                  </a:lnTo>
                  <a:lnTo>
                    <a:pt x="1101475" y="161225"/>
                  </a:lnTo>
                  <a:lnTo>
                    <a:pt x="1074343" y="194253"/>
                  </a:lnTo>
                  <a:lnTo>
                    <a:pt x="1036636" y="214384"/>
                  </a:lnTo>
                  <a:lnTo>
                    <a:pt x="1004887" y="219074"/>
                  </a:lnTo>
                  <a:close/>
                </a:path>
              </a:pathLst>
            </a:custGeom>
            <a:solidFill>
              <a:srgbClr val="C77D09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85949" y="495300"/>
              <a:ext cx="1114425" cy="219075"/>
            </a:xfrm>
            <a:custGeom>
              <a:avLst/>
              <a:gdLst/>
              <a:ahLst/>
              <a:cxnLst/>
              <a:rect l="l" t="t" r="r" b="b"/>
              <a:pathLst>
                <a:path w="1114425" h="219075">
                  <a:moveTo>
                    <a:pt x="1004887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6"/>
                  </a:lnTo>
                  <a:lnTo>
                    <a:pt x="24821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1" y="98746"/>
                  </a:lnTo>
                  <a:lnTo>
                    <a:pt x="12948" y="57849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1004887" y="0"/>
                  </a:lnTo>
                  <a:lnTo>
                    <a:pt x="1046805" y="8338"/>
                  </a:lnTo>
                  <a:lnTo>
                    <a:pt x="1049320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1" y="153877"/>
                  </a:lnTo>
                  <a:lnTo>
                    <a:pt x="29923" y="170404"/>
                  </a:lnTo>
                  <a:lnTo>
                    <a:pt x="30028" y="170561"/>
                  </a:lnTo>
                  <a:lnTo>
                    <a:pt x="59433" y="196343"/>
                  </a:lnTo>
                  <a:lnTo>
                    <a:pt x="96466" y="208909"/>
                  </a:lnTo>
                  <a:lnTo>
                    <a:pt x="102970" y="209549"/>
                  </a:lnTo>
                  <a:lnTo>
                    <a:pt x="1049320" y="209549"/>
                  </a:lnTo>
                  <a:lnTo>
                    <a:pt x="1046805" y="210736"/>
                  </a:lnTo>
                  <a:lnTo>
                    <a:pt x="1036636" y="214384"/>
                  </a:lnTo>
                  <a:lnTo>
                    <a:pt x="1026260" y="216990"/>
                  </a:lnTo>
                  <a:lnTo>
                    <a:pt x="1015677" y="218553"/>
                  </a:lnTo>
                  <a:lnTo>
                    <a:pt x="1004887" y="219074"/>
                  </a:lnTo>
                  <a:close/>
                </a:path>
                <a:path w="1114425" h="219075">
                  <a:moveTo>
                    <a:pt x="1049320" y="209549"/>
                  </a:moveTo>
                  <a:lnTo>
                    <a:pt x="1011454" y="209549"/>
                  </a:lnTo>
                  <a:lnTo>
                    <a:pt x="1017958" y="208909"/>
                  </a:lnTo>
                  <a:lnTo>
                    <a:pt x="1030839" y="206347"/>
                  </a:lnTo>
                  <a:lnTo>
                    <a:pt x="1065911" y="189046"/>
                  </a:lnTo>
                  <a:lnTo>
                    <a:pt x="1091693" y="159641"/>
                  </a:lnTo>
                  <a:lnTo>
                    <a:pt x="1104259" y="122608"/>
                  </a:lnTo>
                  <a:lnTo>
                    <a:pt x="1104899" y="116104"/>
                  </a:lnTo>
                  <a:lnTo>
                    <a:pt x="1104899" y="102970"/>
                  </a:lnTo>
                  <a:lnTo>
                    <a:pt x="1094773" y="65197"/>
                  </a:lnTo>
                  <a:lnTo>
                    <a:pt x="1084501" y="48670"/>
                  </a:lnTo>
                  <a:lnTo>
                    <a:pt x="1084396" y="48513"/>
                  </a:lnTo>
                  <a:lnTo>
                    <a:pt x="1054991" y="22731"/>
                  </a:lnTo>
                  <a:lnTo>
                    <a:pt x="1017958" y="10165"/>
                  </a:lnTo>
                  <a:lnTo>
                    <a:pt x="1011454" y="9524"/>
                  </a:lnTo>
                  <a:lnTo>
                    <a:pt x="1049320" y="9524"/>
                  </a:lnTo>
                  <a:lnTo>
                    <a:pt x="1082341" y="32082"/>
                  </a:lnTo>
                  <a:lnTo>
                    <a:pt x="1106086" y="67619"/>
                  </a:lnTo>
                  <a:lnTo>
                    <a:pt x="1114424" y="109537"/>
                  </a:lnTo>
                  <a:lnTo>
                    <a:pt x="1113903" y="120327"/>
                  </a:lnTo>
                  <a:lnTo>
                    <a:pt x="1101475" y="161225"/>
                  </a:lnTo>
                  <a:lnTo>
                    <a:pt x="1074343" y="194253"/>
                  </a:lnTo>
                  <a:lnTo>
                    <a:pt x="1056574" y="206126"/>
                  </a:lnTo>
                  <a:lnTo>
                    <a:pt x="1049320" y="209549"/>
                  </a:lnTo>
                  <a:close/>
                </a:path>
              </a:pathLst>
            </a:custGeom>
            <a:solidFill>
              <a:srgbClr val="C77D09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96899" y="532449"/>
            <a:ext cx="229552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93825" algn="l"/>
              </a:tabLst>
            </a:pPr>
            <a:r>
              <a:rPr dirty="0" baseline="3472" sz="1200" spc="-89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baseline="3472" sz="1200" spc="-11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82" b="1">
                <a:solidFill>
                  <a:srgbClr val="C87D09"/>
                </a:solidFill>
                <a:latin typeface="Verdana"/>
                <a:cs typeface="Verdana"/>
              </a:rPr>
              <a:t>C</a:t>
            </a:r>
            <a:r>
              <a:rPr dirty="0" baseline="3472" sz="12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165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baseline="3472" sz="1200" spc="-60" b="1">
                <a:solidFill>
                  <a:srgbClr val="C87D09"/>
                </a:solidFill>
                <a:latin typeface="Verdana"/>
                <a:cs typeface="Verdana"/>
              </a:rPr>
              <a:t> N 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baseline="3472" sz="1200" spc="-15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75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baseline="3472" sz="12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375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baseline="3472" sz="1200" spc="7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baseline="3472" sz="1200" spc="47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104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baseline="3472" sz="1200" spc="-97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67" b="1">
                <a:solidFill>
                  <a:srgbClr val="C87D09"/>
                </a:solidFill>
                <a:latin typeface="Verdana"/>
                <a:cs typeface="Verdana"/>
              </a:rPr>
              <a:t>W</a:t>
            </a:r>
            <a:r>
              <a:rPr dirty="0" baseline="3472" sz="1200" spc="-179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75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	</a:t>
            </a:r>
            <a:r>
              <a:rPr dirty="0" sz="750">
                <a:solidFill>
                  <a:srgbClr val="C87D09"/>
                </a:solidFill>
                <a:latin typeface="Arial MT"/>
                <a:cs typeface="Arial MT"/>
              </a:rPr>
              <a:t></a:t>
            </a:r>
            <a:r>
              <a:rPr dirty="0" sz="750" spc="300">
                <a:solidFill>
                  <a:srgbClr val="C87D09"/>
                </a:solidFill>
                <a:latin typeface="Arial MT"/>
                <a:cs typeface="Arial MT"/>
              </a:rPr>
              <a:t> </a:t>
            </a:r>
            <a:r>
              <a:rPr dirty="0" baseline="3703" sz="1125" b="1">
                <a:solidFill>
                  <a:srgbClr val="C87D09"/>
                </a:solidFill>
                <a:latin typeface="Arial"/>
                <a:cs typeface="Arial"/>
              </a:rPr>
              <a:t>M</a:t>
            </a:r>
            <a:r>
              <a:rPr dirty="0" baseline="3703" sz="1125" spc="-15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baseline="3703" sz="1125" spc="-104" b="1">
                <a:solidFill>
                  <a:srgbClr val="C87D09"/>
                </a:solidFill>
                <a:latin typeface="Arial"/>
                <a:cs typeface="Arial"/>
              </a:rPr>
              <a:t>I</a:t>
            </a:r>
            <a:r>
              <a:rPr dirty="0" baseline="3703" sz="1125" spc="-67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baseline="3703" sz="1125" b="1">
                <a:solidFill>
                  <a:srgbClr val="C87D09"/>
                </a:solidFill>
                <a:latin typeface="Arial"/>
                <a:cs typeface="Arial"/>
              </a:rPr>
              <a:t>XE</a:t>
            </a:r>
            <a:r>
              <a:rPr dirty="0" baseline="3703" sz="1125" spc="-127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baseline="3703" sz="1125" b="1">
                <a:solidFill>
                  <a:srgbClr val="C87D09"/>
                </a:solidFill>
                <a:latin typeface="Arial"/>
                <a:cs typeface="Arial"/>
              </a:rPr>
              <a:t>D</a:t>
            </a:r>
            <a:r>
              <a:rPr dirty="0" baseline="3703" sz="1125" spc="307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baseline="3703" sz="1125" spc="-75" b="1">
                <a:solidFill>
                  <a:srgbClr val="C87D09"/>
                </a:solidFill>
                <a:latin typeface="Arial"/>
                <a:cs typeface="Arial"/>
              </a:rPr>
              <a:t>F</a:t>
            </a:r>
            <a:r>
              <a:rPr dirty="0" baseline="3703" sz="1125" spc="-157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baseline="3703" sz="1125" spc="-97" b="1">
                <a:solidFill>
                  <a:srgbClr val="C87D09"/>
                </a:solidFill>
                <a:latin typeface="Arial"/>
                <a:cs typeface="Arial"/>
              </a:rPr>
              <a:t>L</a:t>
            </a:r>
            <a:r>
              <a:rPr dirty="0" baseline="3703" sz="1125" spc="-13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baseline="3703" sz="1125" spc="-112" b="1">
                <a:solidFill>
                  <a:srgbClr val="C87D09"/>
                </a:solidFill>
                <a:latin typeface="Arial"/>
                <a:cs typeface="Arial"/>
              </a:rPr>
              <a:t>E</a:t>
            </a:r>
            <a:r>
              <a:rPr dirty="0" baseline="3703" sz="1125" spc="-127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baseline="3703" sz="1125" spc="-112" b="1">
                <a:solidFill>
                  <a:srgbClr val="C87D09"/>
                </a:solidFill>
                <a:latin typeface="Arial"/>
                <a:cs typeface="Arial"/>
              </a:rPr>
              <a:t>E</a:t>
            </a:r>
            <a:r>
              <a:rPr dirty="0" baseline="3703" sz="1125" spc="-127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baseline="3703" sz="1125" spc="-75" b="1">
                <a:solidFill>
                  <a:srgbClr val="C87D09"/>
                </a:solidFill>
                <a:latin typeface="Arial"/>
                <a:cs typeface="Arial"/>
              </a:rPr>
              <a:t>T</a:t>
            </a:r>
            <a:endParaRPr baseline="3703" sz="1125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96899" y="505074"/>
            <a:ext cx="9783445" cy="876935"/>
          </a:xfrm>
          <a:prstGeom prst="rect"/>
        </p:spPr>
        <p:txBody>
          <a:bodyPr wrap="square" lIns="0" tIns="196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2950" spc="-355"/>
              <a:t>Q</a:t>
            </a:r>
            <a:r>
              <a:rPr dirty="0" sz="2900" spc="-355"/>
              <a:t>2</a:t>
            </a:r>
            <a:r>
              <a:rPr dirty="0" sz="2950" spc="-355"/>
              <a:t>:</a:t>
            </a:r>
            <a:r>
              <a:rPr dirty="0" sz="2950" spc="-370"/>
              <a:t> </a:t>
            </a:r>
            <a:r>
              <a:rPr dirty="0" sz="2950" spc="-265"/>
              <a:t>Heterogeneo</a:t>
            </a:r>
            <a:r>
              <a:rPr dirty="0" sz="2900" spc="-265"/>
              <a:t>u</a:t>
            </a:r>
            <a:r>
              <a:rPr dirty="0" sz="2950" spc="-265"/>
              <a:t>s</a:t>
            </a:r>
            <a:r>
              <a:rPr dirty="0" sz="2950" spc="-500"/>
              <a:t> </a:t>
            </a:r>
            <a:r>
              <a:rPr dirty="0" sz="2950" spc="-20"/>
              <a:t>Fleet</a:t>
            </a:r>
            <a:endParaRPr sz="2950"/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000" spc="85" b="0">
                <a:solidFill>
                  <a:srgbClr val="6E7D93"/>
                </a:solidFill>
                <a:latin typeface="Microsoft Sans Serif"/>
                <a:cs typeface="Microsoft Sans Serif"/>
              </a:rPr>
              <a:t>60</a:t>
            </a:r>
            <a:r>
              <a:rPr dirty="0" sz="1000" spc="-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orders</a:t>
            </a:r>
            <a:r>
              <a:rPr dirty="0" sz="100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(23%)</a:t>
            </a:r>
            <a:r>
              <a:rPr dirty="0" sz="100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require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Straight</a:t>
            </a:r>
            <a:r>
              <a:rPr dirty="0" sz="1000" spc="2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 b="0">
                <a:solidFill>
                  <a:srgbClr val="6E7D93"/>
                </a:solidFill>
                <a:latin typeface="Microsoft Sans Serif"/>
                <a:cs typeface="Microsoft Sans Serif"/>
              </a:rPr>
              <a:t>Trucks</a:t>
            </a:r>
            <a:r>
              <a:rPr dirty="0" sz="100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due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50" b="0">
                <a:solidFill>
                  <a:srgbClr val="6E7D93"/>
                </a:solidFill>
                <a:latin typeface="Microsoft Sans Serif"/>
                <a:cs typeface="Microsoft Sans Serif"/>
              </a:rPr>
              <a:t>to</a:t>
            </a:r>
            <a:r>
              <a:rPr dirty="0" sz="1000" spc="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access/dock</a:t>
            </a:r>
            <a:r>
              <a:rPr dirty="0" sz="1000" spc="-1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constraints.</a:t>
            </a:r>
            <a:r>
              <a:rPr dirty="0" sz="1000" spc="4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The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remaining </a:t>
            </a:r>
            <a:r>
              <a:rPr dirty="0" sz="1000" spc="-55" b="0">
                <a:solidFill>
                  <a:srgbClr val="6E7D93"/>
                </a:solidFill>
                <a:latin typeface="Microsoft Sans Serif"/>
                <a:cs typeface="Microsoft Sans Serif"/>
              </a:rPr>
              <a:t>201</a:t>
            </a:r>
            <a:r>
              <a:rPr dirty="0" sz="1000" spc="7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0" b="0">
                <a:solidFill>
                  <a:srgbClr val="6E7D93"/>
                </a:solidFill>
                <a:latin typeface="Microsoft Sans Serif"/>
                <a:cs typeface="Microsoft Sans Serif"/>
              </a:rPr>
              <a:t>(77%)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are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flexible.</a:t>
            </a:r>
            <a:r>
              <a:rPr dirty="0" sz="1000" spc="4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Smaller</a:t>
            </a:r>
            <a:r>
              <a:rPr dirty="0" sz="1000" spc="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5" b="0">
                <a:solidFill>
                  <a:srgbClr val="6E7D93"/>
                </a:solidFill>
                <a:latin typeface="Microsoft Sans Serif"/>
                <a:cs typeface="Microsoft Sans Serif"/>
              </a:rPr>
              <a:t>ST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capacity</a:t>
            </a:r>
            <a:r>
              <a:rPr dirty="0" sz="1000" spc="-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fragments</a:t>
            </a:r>
            <a:r>
              <a:rPr dirty="0" sz="100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routes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and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inflates</a:t>
            </a:r>
            <a:r>
              <a:rPr dirty="0" sz="100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total</a:t>
            </a:r>
            <a:r>
              <a:rPr dirty="0" sz="1000" spc="7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mileage.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9599" y="1571624"/>
            <a:ext cx="2647950" cy="762000"/>
            <a:chOff x="609599" y="1571624"/>
            <a:chExt cx="2647950" cy="762000"/>
          </a:xfrm>
        </p:grpSpPr>
        <p:sp>
          <p:nvSpPr>
            <p:cNvPr id="10" name="object 10"/>
            <p:cNvSpPr/>
            <p:nvPr/>
          </p:nvSpPr>
          <p:spPr>
            <a:xfrm>
              <a:off x="609599" y="1571624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700"/>
                  </a:lnTo>
                  <a:lnTo>
                    <a:pt x="2614472" y="33477"/>
                  </a:lnTo>
                  <a:lnTo>
                    <a:pt x="2639248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39248" y="691440"/>
                  </a:lnTo>
                  <a:lnTo>
                    <a:pt x="2614472" y="728522"/>
                  </a:lnTo>
                  <a:lnTo>
                    <a:pt x="2577390" y="753299"/>
                  </a:lnTo>
                  <a:lnTo>
                    <a:pt x="2533649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09599" y="1571625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700"/>
                  </a:lnTo>
                  <a:lnTo>
                    <a:pt x="257913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79136" y="752474"/>
                  </a:lnTo>
                  <a:lnTo>
                    <a:pt x="2577390" y="753299"/>
                  </a:lnTo>
                  <a:lnTo>
                    <a:pt x="2566779" y="757105"/>
                  </a:lnTo>
                  <a:lnTo>
                    <a:pt x="2555952" y="759824"/>
                  </a:lnTo>
                  <a:lnTo>
                    <a:pt x="2544909" y="761456"/>
                  </a:lnTo>
                  <a:lnTo>
                    <a:pt x="2533649" y="761999"/>
                  </a:lnTo>
                  <a:close/>
                </a:path>
                <a:path w="2647950" h="762000">
                  <a:moveTo>
                    <a:pt x="2579136" y="752474"/>
                  </a:moveTo>
                  <a:lnTo>
                    <a:pt x="2540529" y="752474"/>
                  </a:lnTo>
                  <a:lnTo>
                    <a:pt x="2547343" y="751803"/>
                  </a:lnTo>
                  <a:lnTo>
                    <a:pt x="2560837" y="749119"/>
                  </a:lnTo>
                  <a:lnTo>
                    <a:pt x="2597579" y="730994"/>
                  </a:lnTo>
                  <a:lnTo>
                    <a:pt x="2624589" y="700189"/>
                  </a:lnTo>
                  <a:lnTo>
                    <a:pt x="2637753" y="661393"/>
                  </a:lnTo>
                  <a:lnTo>
                    <a:pt x="2638424" y="654579"/>
                  </a:lnTo>
                  <a:lnTo>
                    <a:pt x="2638424" y="107420"/>
                  </a:lnTo>
                  <a:lnTo>
                    <a:pt x="2627816" y="67848"/>
                  </a:lnTo>
                  <a:lnTo>
                    <a:pt x="2602872" y="35348"/>
                  </a:lnTo>
                  <a:lnTo>
                    <a:pt x="2567389" y="14867"/>
                  </a:lnTo>
                  <a:lnTo>
                    <a:pt x="2540529" y="9524"/>
                  </a:lnTo>
                  <a:lnTo>
                    <a:pt x="2579137" y="9524"/>
                  </a:lnTo>
                  <a:lnTo>
                    <a:pt x="2614472" y="33477"/>
                  </a:lnTo>
                  <a:lnTo>
                    <a:pt x="2639248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47405" y="658959"/>
                  </a:lnTo>
                  <a:lnTo>
                    <a:pt x="2634437" y="701634"/>
                  </a:lnTo>
                  <a:lnTo>
                    <a:pt x="2606125" y="736099"/>
                  </a:lnTo>
                  <a:lnTo>
                    <a:pt x="2587584" y="748487"/>
                  </a:lnTo>
                  <a:lnTo>
                    <a:pt x="2579136" y="7524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96925" y="1581632"/>
            <a:ext cx="897890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100" b="1">
                <a:solidFill>
                  <a:srgbClr val="C87D09"/>
                </a:solidFill>
                <a:latin typeface="Verdana"/>
                <a:cs typeface="Verdana"/>
              </a:rPr>
              <a:t>7,584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KLY</a:t>
            </a:r>
            <a:r>
              <a:rPr dirty="0" sz="850" spc="18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6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>
                <a:solidFill>
                  <a:srgbClr val="8490A3"/>
                </a:solidFill>
                <a:latin typeface="Microsoft Sans Serif"/>
                <a:cs typeface="Microsoft Sans Serif"/>
              </a:rPr>
              <a:t>L</a:t>
            </a:r>
            <a:r>
              <a:rPr dirty="0" sz="850" spc="-1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390899" y="1571624"/>
            <a:ext cx="2638425" cy="762000"/>
            <a:chOff x="3390899" y="1571624"/>
            <a:chExt cx="2638425" cy="762000"/>
          </a:xfrm>
        </p:grpSpPr>
        <p:sp>
          <p:nvSpPr>
            <p:cNvPr id="14" name="object 14"/>
            <p:cNvSpPr/>
            <p:nvPr/>
          </p:nvSpPr>
          <p:spPr>
            <a:xfrm>
              <a:off x="3390899" y="1571624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5" y="8700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29723" y="691440"/>
                  </a:lnTo>
                  <a:lnTo>
                    <a:pt x="2604946" y="728522"/>
                  </a:lnTo>
                  <a:lnTo>
                    <a:pt x="2567864" y="753299"/>
                  </a:lnTo>
                  <a:lnTo>
                    <a:pt x="2524124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90899" y="1571625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5" y="8700"/>
                  </a:lnTo>
                  <a:lnTo>
                    <a:pt x="256961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69611" y="752474"/>
                  </a:lnTo>
                  <a:lnTo>
                    <a:pt x="2567864" y="753299"/>
                  </a:lnTo>
                  <a:lnTo>
                    <a:pt x="2557254" y="757105"/>
                  </a:lnTo>
                  <a:lnTo>
                    <a:pt x="2546427" y="759824"/>
                  </a:lnTo>
                  <a:lnTo>
                    <a:pt x="2535384" y="761456"/>
                  </a:lnTo>
                  <a:lnTo>
                    <a:pt x="2524124" y="761999"/>
                  </a:lnTo>
                  <a:close/>
                </a:path>
                <a:path w="2638425" h="762000">
                  <a:moveTo>
                    <a:pt x="2569611" y="752474"/>
                  </a:moveTo>
                  <a:lnTo>
                    <a:pt x="2531004" y="752474"/>
                  </a:lnTo>
                  <a:lnTo>
                    <a:pt x="2537817" y="751803"/>
                  </a:lnTo>
                  <a:lnTo>
                    <a:pt x="2551312" y="749119"/>
                  </a:lnTo>
                  <a:lnTo>
                    <a:pt x="2588054" y="730994"/>
                  </a:lnTo>
                  <a:lnTo>
                    <a:pt x="2615063" y="700189"/>
                  </a:lnTo>
                  <a:lnTo>
                    <a:pt x="2628228" y="661393"/>
                  </a:lnTo>
                  <a:lnTo>
                    <a:pt x="2628899" y="654579"/>
                  </a:lnTo>
                  <a:lnTo>
                    <a:pt x="2628899" y="107420"/>
                  </a:lnTo>
                  <a:lnTo>
                    <a:pt x="2618291" y="67848"/>
                  </a:lnTo>
                  <a:lnTo>
                    <a:pt x="2593347" y="35348"/>
                  </a:lnTo>
                  <a:lnTo>
                    <a:pt x="2557864" y="14867"/>
                  </a:lnTo>
                  <a:lnTo>
                    <a:pt x="2531004" y="9524"/>
                  </a:lnTo>
                  <a:lnTo>
                    <a:pt x="2569612" y="9524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37880" y="658959"/>
                  </a:lnTo>
                  <a:lnTo>
                    <a:pt x="2624912" y="701634"/>
                  </a:lnTo>
                  <a:lnTo>
                    <a:pt x="2596600" y="736099"/>
                  </a:lnTo>
                  <a:lnTo>
                    <a:pt x="2578059" y="748487"/>
                  </a:lnTo>
                  <a:lnTo>
                    <a:pt x="2569611" y="7524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573462" y="1581632"/>
            <a:ext cx="1009015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505" b="1">
                <a:solidFill>
                  <a:srgbClr val="C87D09"/>
                </a:solidFill>
                <a:latin typeface="Verdana"/>
                <a:cs typeface="Verdana"/>
              </a:rPr>
              <a:t>+13.</a:t>
            </a:r>
            <a:r>
              <a:rPr dirty="0" sz="2250" spc="-505" b="1">
                <a:solidFill>
                  <a:srgbClr val="C87D09"/>
                </a:solidFill>
                <a:latin typeface="Verdana"/>
                <a:cs typeface="Verdana"/>
              </a:rPr>
              <a:t>0</a:t>
            </a:r>
            <a:r>
              <a:rPr dirty="0" sz="2300" spc="-505" b="1">
                <a:solidFill>
                  <a:srgbClr val="C87D09"/>
                </a:solidFill>
                <a:latin typeface="Verdana"/>
                <a:cs typeface="Verdana"/>
              </a:rPr>
              <a:t>%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>
                <a:solidFill>
                  <a:srgbClr val="F77070"/>
                </a:solidFill>
                <a:latin typeface="Microsoft Sans Serif"/>
                <a:cs typeface="Microsoft Sans Serif"/>
              </a:rPr>
              <a:t>VS</a:t>
            </a:r>
            <a:r>
              <a:rPr dirty="0" sz="850" spc="220">
                <a:solidFill>
                  <a:srgbClr val="F7707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F77070"/>
                </a:solidFill>
                <a:latin typeface="Microsoft Sans Serif"/>
                <a:cs typeface="Microsoft Sans Serif"/>
              </a:rPr>
              <a:t>Q</a:t>
            </a:r>
            <a:r>
              <a:rPr dirty="0" sz="850" spc="-130">
                <a:solidFill>
                  <a:srgbClr val="F7707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4">
                <a:solidFill>
                  <a:srgbClr val="F77070"/>
                </a:solidFill>
                <a:latin typeface="Microsoft Sans Serif"/>
                <a:cs typeface="Microsoft Sans Serif"/>
              </a:rPr>
              <a:t>1</a:t>
            </a:r>
            <a:r>
              <a:rPr dirty="0" sz="850" spc="270">
                <a:solidFill>
                  <a:srgbClr val="F77070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F77070"/>
                </a:solidFill>
                <a:latin typeface="Microsoft Sans Serif"/>
                <a:cs typeface="Microsoft Sans Serif"/>
              </a:rPr>
              <a:t>BAS</a:t>
            </a:r>
            <a:r>
              <a:rPr dirty="0" sz="850" spc="-114">
                <a:solidFill>
                  <a:srgbClr val="F7707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F77070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0">
                <a:solidFill>
                  <a:srgbClr val="F7707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>
                <a:solidFill>
                  <a:srgbClr val="F77070"/>
                </a:solidFill>
                <a:latin typeface="Microsoft Sans Serif"/>
                <a:cs typeface="Microsoft Sans Serif"/>
              </a:rPr>
              <a:t>L</a:t>
            </a:r>
            <a:r>
              <a:rPr dirty="0" sz="850" spc="-110">
                <a:solidFill>
                  <a:srgbClr val="F7707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F77070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60">
                <a:solidFill>
                  <a:srgbClr val="F7707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5">
                <a:solidFill>
                  <a:srgbClr val="F77070"/>
                </a:solidFill>
                <a:latin typeface="Microsoft Sans Serif"/>
                <a:cs typeface="Microsoft Sans Serif"/>
              </a:rPr>
              <a:t>N</a:t>
            </a:r>
            <a:r>
              <a:rPr dirty="0" sz="850" spc="-95">
                <a:solidFill>
                  <a:srgbClr val="F7707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F77070"/>
                </a:solidFill>
                <a:latin typeface="Microsoft Sans Serif"/>
                <a:cs typeface="Microsoft Sans Serif"/>
              </a:rPr>
              <a:t>E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62674" y="1571624"/>
            <a:ext cx="2647950" cy="762000"/>
            <a:chOff x="6162674" y="1571624"/>
            <a:chExt cx="2647950" cy="762000"/>
          </a:xfrm>
        </p:grpSpPr>
        <p:sp>
          <p:nvSpPr>
            <p:cNvPr id="18" name="object 18"/>
            <p:cNvSpPr/>
            <p:nvPr/>
          </p:nvSpPr>
          <p:spPr>
            <a:xfrm>
              <a:off x="6162674" y="1571624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89" y="8700"/>
                  </a:lnTo>
                  <a:lnTo>
                    <a:pt x="2614471" y="33477"/>
                  </a:lnTo>
                  <a:lnTo>
                    <a:pt x="2639247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39247" y="691440"/>
                  </a:lnTo>
                  <a:lnTo>
                    <a:pt x="2614471" y="728522"/>
                  </a:lnTo>
                  <a:lnTo>
                    <a:pt x="2577388" y="753299"/>
                  </a:lnTo>
                  <a:lnTo>
                    <a:pt x="2533649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62674" y="1571625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89" y="8700"/>
                  </a:lnTo>
                  <a:lnTo>
                    <a:pt x="257913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79135" y="752474"/>
                  </a:lnTo>
                  <a:lnTo>
                    <a:pt x="2577389" y="753299"/>
                  </a:lnTo>
                  <a:lnTo>
                    <a:pt x="2566778" y="757105"/>
                  </a:lnTo>
                  <a:lnTo>
                    <a:pt x="2555951" y="759824"/>
                  </a:lnTo>
                  <a:lnTo>
                    <a:pt x="2544908" y="761456"/>
                  </a:lnTo>
                  <a:lnTo>
                    <a:pt x="2533649" y="761999"/>
                  </a:lnTo>
                  <a:close/>
                </a:path>
                <a:path w="2647950" h="762000">
                  <a:moveTo>
                    <a:pt x="2579135" y="752474"/>
                  </a:moveTo>
                  <a:lnTo>
                    <a:pt x="2540529" y="752474"/>
                  </a:lnTo>
                  <a:lnTo>
                    <a:pt x="2547342" y="751803"/>
                  </a:lnTo>
                  <a:lnTo>
                    <a:pt x="2560837" y="749119"/>
                  </a:lnTo>
                  <a:lnTo>
                    <a:pt x="2597579" y="730994"/>
                  </a:lnTo>
                  <a:lnTo>
                    <a:pt x="2624588" y="700189"/>
                  </a:lnTo>
                  <a:lnTo>
                    <a:pt x="2637753" y="661393"/>
                  </a:lnTo>
                  <a:lnTo>
                    <a:pt x="2638424" y="654579"/>
                  </a:lnTo>
                  <a:lnTo>
                    <a:pt x="2638424" y="107420"/>
                  </a:lnTo>
                  <a:lnTo>
                    <a:pt x="2627816" y="67848"/>
                  </a:lnTo>
                  <a:lnTo>
                    <a:pt x="2602872" y="35348"/>
                  </a:lnTo>
                  <a:lnTo>
                    <a:pt x="2567389" y="14867"/>
                  </a:lnTo>
                  <a:lnTo>
                    <a:pt x="2540529" y="9524"/>
                  </a:lnTo>
                  <a:lnTo>
                    <a:pt x="2579136" y="9524"/>
                  </a:lnTo>
                  <a:lnTo>
                    <a:pt x="2614471" y="33477"/>
                  </a:lnTo>
                  <a:lnTo>
                    <a:pt x="2639247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47405" y="658959"/>
                  </a:lnTo>
                  <a:lnTo>
                    <a:pt x="2634436" y="701634"/>
                  </a:lnTo>
                  <a:lnTo>
                    <a:pt x="2606125" y="736099"/>
                  </a:lnTo>
                  <a:lnTo>
                    <a:pt x="2587583" y="748487"/>
                  </a:lnTo>
                  <a:lnTo>
                    <a:pt x="2579135" y="7524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350000" y="1581632"/>
            <a:ext cx="1404620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25" b="1">
                <a:solidFill>
                  <a:srgbClr val="C87D09"/>
                </a:solidFill>
                <a:latin typeface="Verdana"/>
                <a:cs typeface="Verdana"/>
              </a:rPr>
              <a:t>34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TOTAL</a:t>
            </a:r>
            <a:r>
              <a:rPr dirty="0" sz="850" spc="229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5">
                <a:solidFill>
                  <a:srgbClr val="8490A3"/>
                </a:solidFill>
                <a:latin typeface="Microsoft Sans Serif"/>
                <a:cs typeface="Microsoft Sans Serif"/>
              </a:rPr>
              <a:t>R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OU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35">
                <a:solidFill>
                  <a:srgbClr val="8490A3"/>
                </a:solidFill>
                <a:latin typeface="Microsoft Sans Serif"/>
                <a:cs typeface="Microsoft Sans Serif"/>
              </a:rPr>
              <a:t>TE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r>
              <a:rPr dirty="0" sz="850" spc="229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8490A3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22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K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943974" y="1571624"/>
            <a:ext cx="2638425" cy="762000"/>
            <a:chOff x="8943974" y="1571624"/>
            <a:chExt cx="2638425" cy="762000"/>
          </a:xfrm>
        </p:grpSpPr>
        <p:sp>
          <p:nvSpPr>
            <p:cNvPr id="22" name="object 22"/>
            <p:cNvSpPr/>
            <p:nvPr/>
          </p:nvSpPr>
          <p:spPr>
            <a:xfrm>
              <a:off x="8943974" y="1571624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3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4" y="8700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29723" y="691440"/>
                  </a:lnTo>
                  <a:lnTo>
                    <a:pt x="2604946" y="728522"/>
                  </a:lnTo>
                  <a:lnTo>
                    <a:pt x="2567864" y="753299"/>
                  </a:lnTo>
                  <a:lnTo>
                    <a:pt x="2524124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943974" y="1571625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3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5" y="8700"/>
                  </a:lnTo>
                  <a:lnTo>
                    <a:pt x="25696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69611" y="752474"/>
                  </a:lnTo>
                  <a:lnTo>
                    <a:pt x="2567864" y="753299"/>
                  </a:lnTo>
                  <a:lnTo>
                    <a:pt x="2557253" y="757105"/>
                  </a:lnTo>
                  <a:lnTo>
                    <a:pt x="2546426" y="759824"/>
                  </a:lnTo>
                  <a:lnTo>
                    <a:pt x="2535383" y="761456"/>
                  </a:lnTo>
                  <a:lnTo>
                    <a:pt x="2524124" y="761999"/>
                  </a:lnTo>
                  <a:close/>
                </a:path>
                <a:path w="2638425" h="762000">
                  <a:moveTo>
                    <a:pt x="2569611" y="752474"/>
                  </a:moveTo>
                  <a:lnTo>
                    <a:pt x="2531004" y="752474"/>
                  </a:lnTo>
                  <a:lnTo>
                    <a:pt x="2537817" y="751803"/>
                  </a:lnTo>
                  <a:lnTo>
                    <a:pt x="2551312" y="749119"/>
                  </a:lnTo>
                  <a:lnTo>
                    <a:pt x="2588054" y="730994"/>
                  </a:lnTo>
                  <a:lnTo>
                    <a:pt x="2615063" y="700189"/>
                  </a:lnTo>
                  <a:lnTo>
                    <a:pt x="2628228" y="661393"/>
                  </a:lnTo>
                  <a:lnTo>
                    <a:pt x="2628899" y="654579"/>
                  </a:lnTo>
                  <a:lnTo>
                    <a:pt x="2628899" y="107420"/>
                  </a:lnTo>
                  <a:lnTo>
                    <a:pt x="2618291" y="67848"/>
                  </a:lnTo>
                  <a:lnTo>
                    <a:pt x="2593347" y="35348"/>
                  </a:lnTo>
                  <a:lnTo>
                    <a:pt x="2557864" y="14867"/>
                  </a:lnTo>
                  <a:lnTo>
                    <a:pt x="2531004" y="9524"/>
                  </a:lnTo>
                  <a:lnTo>
                    <a:pt x="2569611" y="9524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37880" y="658959"/>
                  </a:lnTo>
                  <a:lnTo>
                    <a:pt x="2624912" y="701634"/>
                  </a:lnTo>
                  <a:lnTo>
                    <a:pt x="2596600" y="736099"/>
                  </a:lnTo>
                  <a:lnTo>
                    <a:pt x="2578059" y="748487"/>
                  </a:lnTo>
                  <a:lnTo>
                    <a:pt x="2569611" y="7524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126536" y="1581632"/>
            <a:ext cx="963294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50" b="1">
                <a:solidFill>
                  <a:srgbClr val="C87D09"/>
                </a:solidFill>
                <a:latin typeface="Verdana"/>
                <a:cs typeface="Verdana"/>
              </a:rPr>
              <a:t>8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PE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AK</a:t>
            </a:r>
            <a:r>
              <a:rPr dirty="0" sz="850" spc="23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VE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70">
                <a:solidFill>
                  <a:srgbClr val="8490A3"/>
                </a:solidFill>
                <a:latin typeface="Microsoft Sans Serif"/>
                <a:cs typeface="Microsoft Sans Serif"/>
              </a:rPr>
              <a:t>H</a:t>
            </a:r>
            <a:r>
              <a:rPr dirty="0" sz="850" spc="-8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4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CL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09599" y="2505074"/>
            <a:ext cx="5391150" cy="4333875"/>
            <a:chOff x="609599" y="2505074"/>
            <a:chExt cx="5391150" cy="4333875"/>
          </a:xfrm>
        </p:grpSpPr>
        <p:sp>
          <p:nvSpPr>
            <p:cNvPr id="26" name="object 26"/>
            <p:cNvSpPr/>
            <p:nvPr/>
          </p:nvSpPr>
          <p:spPr>
            <a:xfrm>
              <a:off x="609599" y="2505074"/>
              <a:ext cx="5391150" cy="4333875"/>
            </a:xfrm>
            <a:custGeom>
              <a:avLst/>
              <a:gdLst/>
              <a:ahLst/>
              <a:cxnLst/>
              <a:rect l="l" t="t" r="r" b="b"/>
              <a:pathLst>
                <a:path w="5391150" h="4333875">
                  <a:moveTo>
                    <a:pt x="5257799" y="4333874"/>
                  </a:moveTo>
                  <a:lnTo>
                    <a:pt x="133349" y="4333874"/>
                  </a:lnTo>
                  <a:lnTo>
                    <a:pt x="120213" y="4333239"/>
                  </a:lnTo>
                  <a:lnTo>
                    <a:pt x="82319" y="4323723"/>
                  </a:lnTo>
                  <a:lnTo>
                    <a:pt x="48794" y="4303657"/>
                  </a:lnTo>
                  <a:lnTo>
                    <a:pt x="22452" y="4274623"/>
                  </a:lnTo>
                  <a:lnTo>
                    <a:pt x="5709" y="4239175"/>
                  </a:lnTo>
                  <a:lnTo>
                    <a:pt x="0" y="42005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50" y="5709"/>
                  </a:lnTo>
                  <a:lnTo>
                    <a:pt x="5331898" y="22452"/>
                  </a:lnTo>
                  <a:lnTo>
                    <a:pt x="5360931" y="48794"/>
                  </a:lnTo>
                  <a:lnTo>
                    <a:pt x="5380998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4200524"/>
                  </a:lnTo>
                  <a:lnTo>
                    <a:pt x="5385438" y="4239175"/>
                  </a:lnTo>
                  <a:lnTo>
                    <a:pt x="5368696" y="4274623"/>
                  </a:lnTo>
                  <a:lnTo>
                    <a:pt x="5342354" y="4303657"/>
                  </a:lnTo>
                  <a:lnTo>
                    <a:pt x="5308829" y="4323723"/>
                  </a:lnTo>
                  <a:lnTo>
                    <a:pt x="5270935" y="4333239"/>
                  </a:lnTo>
                  <a:lnTo>
                    <a:pt x="5257799" y="433387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09599" y="2505075"/>
              <a:ext cx="5391150" cy="4333875"/>
            </a:xfrm>
            <a:custGeom>
              <a:avLst/>
              <a:gdLst/>
              <a:ahLst/>
              <a:cxnLst/>
              <a:rect l="l" t="t" r="r" b="b"/>
              <a:pathLst>
                <a:path w="5391150" h="4333875">
                  <a:moveTo>
                    <a:pt x="5257799" y="4333874"/>
                  </a:moveTo>
                  <a:lnTo>
                    <a:pt x="133349" y="4333874"/>
                  </a:lnTo>
                  <a:lnTo>
                    <a:pt x="120213" y="4333240"/>
                  </a:lnTo>
                  <a:lnTo>
                    <a:pt x="82319" y="4323723"/>
                  </a:lnTo>
                  <a:lnTo>
                    <a:pt x="48794" y="4303657"/>
                  </a:lnTo>
                  <a:lnTo>
                    <a:pt x="22452" y="4274623"/>
                  </a:lnTo>
                  <a:lnTo>
                    <a:pt x="5709" y="4239175"/>
                  </a:lnTo>
                  <a:lnTo>
                    <a:pt x="0" y="42005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9" y="2537"/>
                  </a:lnTo>
                  <a:lnTo>
                    <a:pt x="5296450" y="5709"/>
                  </a:lnTo>
                  <a:lnTo>
                    <a:pt x="5307086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4208654"/>
                  </a:lnTo>
                  <a:lnTo>
                    <a:pt x="22061" y="4255421"/>
                  </a:lnTo>
                  <a:lnTo>
                    <a:pt x="51541" y="4293830"/>
                  </a:lnTo>
                  <a:lnTo>
                    <a:pt x="93475" y="4318034"/>
                  </a:lnTo>
                  <a:lnTo>
                    <a:pt x="125219" y="4324349"/>
                  </a:lnTo>
                  <a:lnTo>
                    <a:pt x="5307084" y="4324349"/>
                  </a:lnTo>
                  <a:lnTo>
                    <a:pt x="5296450" y="4328164"/>
                  </a:lnTo>
                  <a:lnTo>
                    <a:pt x="5283819" y="4331336"/>
                  </a:lnTo>
                  <a:lnTo>
                    <a:pt x="5270935" y="4333240"/>
                  </a:lnTo>
                  <a:lnTo>
                    <a:pt x="5257799" y="4333874"/>
                  </a:lnTo>
                  <a:close/>
                </a:path>
                <a:path w="5391150" h="4333875">
                  <a:moveTo>
                    <a:pt x="5307084" y="4324349"/>
                  </a:moveTo>
                  <a:lnTo>
                    <a:pt x="5265930" y="4324349"/>
                  </a:lnTo>
                  <a:lnTo>
                    <a:pt x="5273982" y="4323556"/>
                  </a:lnTo>
                  <a:lnTo>
                    <a:pt x="5289930" y="4320383"/>
                  </a:lnTo>
                  <a:lnTo>
                    <a:pt x="5333352" y="4298963"/>
                  </a:lnTo>
                  <a:lnTo>
                    <a:pt x="5365273" y="4262557"/>
                  </a:lnTo>
                  <a:lnTo>
                    <a:pt x="5380831" y="4216707"/>
                  </a:lnTo>
                  <a:lnTo>
                    <a:pt x="5381624" y="4208654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3" y="15763"/>
                  </a:lnTo>
                  <a:lnTo>
                    <a:pt x="5265930" y="9524"/>
                  </a:lnTo>
                  <a:lnTo>
                    <a:pt x="5307086" y="9524"/>
                  </a:lnTo>
                  <a:lnTo>
                    <a:pt x="5342354" y="30216"/>
                  </a:lnTo>
                  <a:lnTo>
                    <a:pt x="5368696" y="59250"/>
                  </a:lnTo>
                  <a:lnTo>
                    <a:pt x="5385439" y="94697"/>
                  </a:lnTo>
                  <a:lnTo>
                    <a:pt x="5391149" y="133349"/>
                  </a:lnTo>
                  <a:lnTo>
                    <a:pt x="5391149" y="4200524"/>
                  </a:lnTo>
                  <a:lnTo>
                    <a:pt x="5390515" y="4213660"/>
                  </a:lnTo>
                  <a:lnTo>
                    <a:pt x="5380998" y="4251555"/>
                  </a:lnTo>
                  <a:lnTo>
                    <a:pt x="5360932" y="4285079"/>
                  </a:lnTo>
                  <a:lnTo>
                    <a:pt x="5331898" y="4311421"/>
                  </a:lnTo>
                  <a:lnTo>
                    <a:pt x="5308829" y="4323723"/>
                  </a:lnTo>
                  <a:lnTo>
                    <a:pt x="5307084" y="432434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09612" y="2905124"/>
              <a:ext cx="4991100" cy="314325"/>
            </a:xfrm>
            <a:custGeom>
              <a:avLst/>
              <a:gdLst/>
              <a:ahLst/>
              <a:cxnLst/>
              <a:rect l="l" t="t" r="r" b="b"/>
              <a:pathLst>
                <a:path w="4991100" h="314325">
                  <a:moveTo>
                    <a:pt x="4991100" y="0"/>
                  </a:moveTo>
                  <a:lnTo>
                    <a:pt x="4991100" y="0"/>
                  </a:lnTo>
                  <a:lnTo>
                    <a:pt x="0" y="0"/>
                  </a:lnTo>
                  <a:lnTo>
                    <a:pt x="0" y="314325"/>
                  </a:lnTo>
                  <a:lnTo>
                    <a:pt x="4991100" y="314325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162E52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09612" y="5029199"/>
              <a:ext cx="4991100" cy="361950"/>
            </a:xfrm>
            <a:custGeom>
              <a:avLst/>
              <a:gdLst/>
              <a:ahLst/>
              <a:cxnLst/>
              <a:rect l="l" t="t" r="r" b="b"/>
              <a:pathLst>
                <a:path w="4991100" h="361950">
                  <a:moveTo>
                    <a:pt x="4991100" y="0"/>
                  </a:moveTo>
                  <a:lnTo>
                    <a:pt x="499110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4991100" y="361950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F5A623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09612" y="5029199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4991100" y="0"/>
                  </a:moveTo>
                  <a:lnTo>
                    <a:pt x="49911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4991100" y="9525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162E52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96925" y="2646999"/>
            <a:ext cx="127444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LY</a:t>
            </a:r>
            <a:r>
              <a:rPr dirty="0" sz="800" spc="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0" b="1">
                <a:solidFill>
                  <a:srgbClr val="798FAC"/>
                </a:solidFill>
                <a:latin typeface="Verdana"/>
                <a:cs typeface="Verdana"/>
              </a:rPr>
              <a:t>B</a:t>
            </a:r>
            <a:r>
              <a:rPr dirty="0" sz="80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KD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O</a:t>
            </a:r>
            <a:r>
              <a:rPr dirty="0" sz="800" spc="-1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" b="1">
                <a:solidFill>
                  <a:srgbClr val="798FAC"/>
                </a:solidFill>
                <a:latin typeface="Verdana"/>
                <a:cs typeface="Verdana"/>
              </a:rPr>
              <a:t>WN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0274" y="2980374"/>
            <a:ext cx="26162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 b="1">
                <a:solidFill>
                  <a:srgbClr val="798FAC"/>
                </a:solidFill>
                <a:latin typeface="Verdana"/>
                <a:cs typeface="Verdana"/>
              </a:rPr>
              <a:t>DAY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74304" y="2980374"/>
            <a:ext cx="50292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ROU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TE</a:t>
            </a:r>
            <a:r>
              <a:rPr dirty="0" sz="80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10122" y="2980374"/>
            <a:ext cx="80581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TOTAL</a:t>
            </a:r>
            <a:r>
              <a:rPr dirty="0" sz="800" spc="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10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5" b="1">
                <a:solidFill>
                  <a:srgbClr val="798FAC"/>
                </a:solidFill>
                <a:latin typeface="Verdana"/>
                <a:cs typeface="Verdana"/>
              </a:rPr>
              <a:t>LE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80655" y="2980374"/>
            <a:ext cx="68326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VAN</a:t>
            </a:r>
            <a:r>
              <a:rPr dirty="0" sz="800" spc="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10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5" b="1">
                <a:solidFill>
                  <a:srgbClr val="798FAC"/>
                </a:solidFill>
                <a:latin typeface="Verdana"/>
                <a:cs typeface="Verdana"/>
              </a:rPr>
              <a:t>LE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15905" y="2980374"/>
            <a:ext cx="56578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ST</a:t>
            </a:r>
            <a:r>
              <a:rPr dirty="0" sz="800" spc="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114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5" b="1">
                <a:solidFill>
                  <a:srgbClr val="798FAC"/>
                </a:solidFill>
                <a:latin typeface="Verdana"/>
                <a:cs typeface="Verdana"/>
              </a:rPr>
              <a:t>LE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809624" y="3219447"/>
          <a:ext cx="5067300" cy="1697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5680"/>
                <a:gridCol w="637540"/>
                <a:gridCol w="1109345"/>
                <a:gridCol w="1101725"/>
                <a:gridCol w="1146810"/>
              </a:tblGrid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Monday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6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1,585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1,451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134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Tuesday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7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1,656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1,422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234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Wednesday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7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413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1,392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1,286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106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Thursday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8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1594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1,702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1,219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483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13271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Friday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6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905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1,249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6040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1,202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47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809624" y="5117164"/>
            <a:ext cx="49911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105"/>
              </a:spcBef>
              <a:tabLst>
                <a:tab pos="1177290" algn="l"/>
                <a:tab pos="2012950" algn="l"/>
                <a:tab pos="3183255" algn="l"/>
                <a:tab pos="4218305" algn="l"/>
              </a:tabLst>
            </a:pPr>
            <a:r>
              <a:rPr dirty="0" sz="1000" spc="-10" b="1">
                <a:solidFill>
                  <a:srgbClr val="C87D09"/>
                </a:solidFill>
                <a:latin typeface="Arial"/>
                <a:cs typeface="Arial"/>
              </a:rPr>
              <a:t>TOTAL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30" b="1">
                <a:solidFill>
                  <a:srgbClr val="C87D09"/>
                </a:solidFill>
                <a:latin typeface="Arial"/>
                <a:cs typeface="Arial"/>
              </a:rPr>
              <a:t>34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-20" b="1">
                <a:solidFill>
                  <a:srgbClr val="C87D09"/>
                </a:solidFill>
                <a:latin typeface="Arial"/>
                <a:cs typeface="Arial"/>
              </a:rPr>
              <a:t>7,584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-10" b="1">
                <a:solidFill>
                  <a:srgbClr val="C87D09"/>
                </a:solidFill>
                <a:latin typeface="Arial"/>
                <a:cs typeface="Arial"/>
              </a:rPr>
              <a:t>6,580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-10" b="1">
                <a:solidFill>
                  <a:srgbClr val="C87D09"/>
                </a:solidFill>
                <a:latin typeface="Arial"/>
                <a:cs typeface="Arial"/>
              </a:rPr>
              <a:t>1,004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49999" y="2623641"/>
            <a:ext cx="518159" cy="256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1185">
                <a:solidFill>
                  <a:srgbClr val="0086A7"/>
                </a:solidFill>
                <a:latin typeface="Comic Sans MS"/>
                <a:cs typeface="Comic Sans MS"/>
              </a:rPr>
              <a:t>🚐</a:t>
            </a:r>
            <a:r>
              <a:rPr dirty="0" sz="1500" spc="25">
                <a:solidFill>
                  <a:srgbClr val="0086A7"/>
                </a:solidFill>
                <a:latin typeface="Comic Sans MS"/>
                <a:cs typeface="Comic Sans MS"/>
              </a:rPr>
              <a:t> </a:t>
            </a:r>
            <a:r>
              <a:rPr dirty="0" sz="1250" spc="-525">
                <a:solidFill>
                  <a:srgbClr val="0086A7"/>
                </a:solidFill>
                <a:latin typeface="Microsoft Sans Serif"/>
                <a:cs typeface="Microsoft Sans Serif"/>
              </a:rPr>
              <a:t>Van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50000" y="2866135"/>
            <a:ext cx="1854835" cy="6172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>
                <a:solidFill>
                  <a:srgbClr val="1B3258"/>
                </a:solidFill>
                <a:latin typeface="Microsoft Sans Serif"/>
                <a:cs typeface="Microsoft Sans Serif"/>
              </a:rPr>
              <a:t>Capacity:</a:t>
            </a:r>
            <a:r>
              <a:rPr dirty="0" sz="1250" spc="75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1B3258"/>
                </a:solidFill>
                <a:latin typeface="Microsoft Sans Serif"/>
                <a:cs typeface="Microsoft Sans Serif"/>
              </a:rPr>
              <a:t>3,200</a:t>
            </a:r>
            <a:r>
              <a:rPr dirty="0" sz="1250" spc="15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25">
                <a:solidFill>
                  <a:srgbClr val="1B3258"/>
                </a:solidFill>
                <a:latin typeface="Microsoft Sans Serif"/>
                <a:cs typeface="Microsoft Sans Serif"/>
              </a:rPr>
              <a:t>ft³</a:t>
            </a:r>
            <a:endParaRPr sz="1250">
              <a:latin typeface="Microsoft Sans Serif"/>
              <a:cs typeface="Microsoft Sans Serif"/>
            </a:endParaRPr>
          </a:p>
          <a:p>
            <a:pPr marL="12700" marR="5080">
              <a:lnSpc>
                <a:spcPct val="105000"/>
              </a:lnSpc>
            </a:pPr>
            <a:r>
              <a:rPr dirty="0" sz="1250" spc="-30">
                <a:solidFill>
                  <a:srgbClr val="1B3258"/>
                </a:solidFill>
                <a:latin typeface="Microsoft Sans Serif"/>
                <a:cs typeface="Microsoft Sans Serif"/>
              </a:rPr>
              <a:t>Unload:</a:t>
            </a:r>
            <a:r>
              <a:rPr dirty="0" sz="1250" spc="85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1B3258"/>
                </a:solidFill>
                <a:latin typeface="Microsoft Sans Serif"/>
                <a:cs typeface="Microsoft Sans Serif"/>
              </a:rPr>
              <a:t>0.030</a:t>
            </a:r>
            <a:r>
              <a:rPr dirty="0" sz="1250" spc="30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1B3258"/>
                </a:solidFill>
                <a:latin typeface="Microsoft Sans Serif"/>
                <a:cs typeface="Microsoft Sans Serif"/>
              </a:rPr>
              <a:t>min/ft³ </a:t>
            </a:r>
            <a:r>
              <a:rPr dirty="0" sz="1250" spc="-40">
                <a:solidFill>
                  <a:srgbClr val="1B3258"/>
                </a:solidFill>
                <a:latin typeface="Microsoft Sans Serif"/>
                <a:cs typeface="Microsoft Sans Serif"/>
              </a:rPr>
              <a:t>Routes:</a:t>
            </a:r>
            <a:r>
              <a:rPr dirty="0" sz="1250" spc="5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80">
                <a:solidFill>
                  <a:srgbClr val="1B3258"/>
                </a:solidFill>
                <a:latin typeface="Microsoft Sans Serif"/>
                <a:cs typeface="Microsoft Sans Serif"/>
              </a:rPr>
              <a:t>201</a:t>
            </a:r>
            <a:r>
              <a:rPr dirty="0" sz="1250" spc="35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1B3258"/>
                </a:solidFill>
                <a:latin typeface="Microsoft Sans Serif"/>
                <a:cs typeface="Microsoft Sans Serif"/>
              </a:rPr>
              <a:t>orders</a:t>
            </a:r>
            <a:r>
              <a:rPr dirty="0" sz="1250" spc="-20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1B3258"/>
                </a:solidFill>
                <a:latin typeface="Microsoft Sans Serif"/>
                <a:cs typeface="Microsoft Sans Serif"/>
              </a:rPr>
              <a:t>eligible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49999" y="3724320"/>
            <a:ext cx="1517015" cy="8737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208279">
              <a:lnSpc>
                <a:spcPct val="105600"/>
              </a:lnSpc>
              <a:spcBef>
                <a:spcPts val="120"/>
              </a:spcBef>
            </a:pPr>
            <a:r>
              <a:rPr dirty="0" sz="1500" spc="1185">
                <a:solidFill>
                  <a:srgbClr val="C87D09"/>
                </a:solidFill>
                <a:latin typeface="Comic Sans MS"/>
                <a:cs typeface="Comic Sans MS"/>
              </a:rPr>
              <a:t>🚛</a:t>
            </a:r>
            <a:r>
              <a:rPr dirty="0" sz="1500" spc="35">
                <a:solidFill>
                  <a:srgbClr val="C87D09"/>
                </a:solidFill>
                <a:latin typeface="Comic Sans MS"/>
                <a:cs typeface="Comic Sans MS"/>
              </a:rPr>
              <a:t> </a:t>
            </a:r>
            <a:r>
              <a:rPr dirty="0" sz="1250">
                <a:solidFill>
                  <a:srgbClr val="C87D09"/>
                </a:solidFill>
                <a:latin typeface="Microsoft Sans Serif"/>
                <a:cs typeface="Microsoft Sans Serif"/>
              </a:rPr>
              <a:t>Straight </a:t>
            </a:r>
            <a:r>
              <a:rPr dirty="0" sz="1250" spc="-180">
                <a:solidFill>
                  <a:srgbClr val="C87D09"/>
                </a:solidFill>
                <a:latin typeface="Microsoft Sans Serif"/>
                <a:cs typeface="Microsoft Sans Serif"/>
              </a:rPr>
              <a:t>Truck</a:t>
            </a:r>
            <a:r>
              <a:rPr dirty="0" sz="1250">
                <a:solidFill>
                  <a:srgbClr val="C87D0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1B3258"/>
                </a:solidFill>
                <a:latin typeface="Microsoft Sans Serif"/>
                <a:cs typeface="Microsoft Sans Serif"/>
              </a:rPr>
              <a:t>Capacity:</a:t>
            </a:r>
            <a:r>
              <a:rPr dirty="0" sz="1250" spc="5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30">
                <a:solidFill>
                  <a:srgbClr val="1B3258"/>
                </a:solidFill>
                <a:latin typeface="Microsoft Sans Serif"/>
                <a:cs typeface="Microsoft Sans Serif"/>
              </a:rPr>
              <a:t>1,400</a:t>
            </a:r>
            <a:r>
              <a:rPr dirty="0" sz="1250" spc="-50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25">
                <a:solidFill>
                  <a:srgbClr val="1B3258"/>
                </a:solidFill>
                <a:latin typeface="Microsoft Sans Serif"/>
                <a:cs typeface="Microsoft Sans Serif"/>
              </a:rPr>
              <a:t>ft³</a:t>
            </a:r>
            <a:endParaRPr sz="12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250" spc="-30">
                <a:solidFill>
                  <a:srgbClr val="1B3258"/>
                </a:solidFill>
                <a:latin typeface="Microsoft Sans Serif"/>
                <a:cs typeface="Microsoft Sans Serif"/>
              </a:rPr>
              <a:t>Unload:</a:t>
            </a:r>
            <a:r>
              <a:rPr dirty="0" sz="1250" spc="25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1B3258"/>
                </a:solidFill>
                <a:latin typeface="Microsoft Sans Serif"/>
                <a:cs typeface="Microsoft Sans Serif"/>
              </a:rPr>
              <a:t>0.043</a:t>
            </a:r>
            <a:r>
              <a:rPr dirty="0" sz="1250" spc="5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1B3258"/>
                </a:solidFill>
                <a:latin typeface="Microsoft Sans Serif"/>
                <a:cs typeface="Microsoft Sans Serif"/>
              </a:rPr>
              <a:t>min/ft³</a:t>
            </a:r>
            <a:endParaRPr sz="12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250" spc="-30">
                <a:solidFill>
                  <a:srgbClr val="1B3258"/>
                </a:solidFill>
                <a:latin typeface="Microsoft Sans Serif"/>
                <a:cs typeface="Microsoft Sans Serif"/>
              </a:rPr>
              <a:t>Required:</a:t>
            </a:r>
            <a:r>
              <a:rPr dirty="0" sz="1250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95">
                <a:solidFill>
                  <a:srgbClr val="1B3258"/>
                </a:solidFill>
                <a:latin typeface="Microsoft Sans Serif"/>
                <a:cs typeface="Microsoft Sans Serif"/>
              </a:rPr>
              <a:t>60</a:t>
            </a:r>
            <a:r>
              <a:rPr dirty="0" sz="1250" spc="-45">
                <a:solidFill>
                  <a:srgbClr val="1B3258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1B3258"/>
                </a:solidFill>
                <a:latin typeface="Microsoft Sans Serif"/>
                <a:cs typeface="Microsoft Sans Serif"/>
              </a:rPr>
              <a:t>orders</a:t>
            </a:r>
            <a:endParaRPr sz="1250">
              <a:latin typeface="Microsoft Sans Serif"/>
              <a:cs typeface="Microsoft Sans Serif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191249" y="4867274"/>
            <a:ext cx="5391150" cy="1971675"/>
            <a:chOff x="6191249" y="4867274"/>
            <a:chExt cx="5391150" cy="1971675"/>
          </a:xfrm>
        </p:grpSpPr>
        <p:sp>
          <p:nvSpPr>
            <p:cNvPr id="43" name="object 43"/>
            <p:cNvSpPr/>
            <p:nvPr/>
          </p:nvSpPr>
          <p:spPr>
            <a:xfrm>
              <a:off x="6191249" y="4867274"/>
              <a:ext cx="5391150" cy="1971675"/>
            </a:xfrm>
            <a:custGeom>
              <a:avLst/>
              <a:gdLst/>
              <a:ahLst/>
              <a:cxnLst/>
              <a:rect l="l" t="t" r="r" b="b"/>
              <a:pathLst>
                <a:path w="5391150" h="1971675">
                  <a:moveTo>
                    <a:pt x="5257799" y="1971674"/>
                  </a:moveTo>
                  <a:lnTo>
                    <a:pt x="133349" y="1971674"/>
                  </a:lnTo>
                  <a:lnTo>
                    <a:pt x="120213" y="1971040"/>
                  </a:lnTo>
                  <a:lnTo>
                    <a:pt x="82318" y="1961523"/>
                  </a:lnTo>
                  <a:lnTo>
                    <a:pt x="48793" y="1941457"/>
                  </a:lnTo>
                  <a:lnTo>
                    <a:pt x="22451" y="1912423"/>
                  </a:lnTo>
                  <a:lnTo>
                    <a:pt x="5709" y="1876975"/>
                  </a:lnTo>
                  <a:lnTo>
                    <a:pt x="0" y="18383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1" y="59250"/>
                  </a:lnTo>
                  <a:lnTo>
                    <a:pt x="48793" y="30216"/>
                  </a:lnTo>
                  <a:lnTo>
                    <a:pt x="82317" y="10150"/>
                  </a:lnTo>
                  <a:lnTo>
                    <a:pt x="120212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49" y="5709"/>
                  </a:lnTo>
                  <a:lnTo>
                    <a:pt x="5331897" y="22452"/>
                  </a:lnTo>
                  <a:lnTo>
                    <a:pt x="5360931" y="48794"/>
                  </a:lnTo>
                  <a:lnTo>
                    <a:pt x="5380997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1838324"/>
                  </a:lnTo>
                  <a:lnTo>
                    <a:pt x="5385438" y="1876975"/>
                  </a:lnTo>
                  <a:lnTo>
                    <a:pt x="5368695" y="1912423"/>
                  </a:lnTo>
                  <a:lnTo>
                    <a:pt x="5342354" y="1941457"/>
                  </a:lnTo>
                  <a:lnTo>
                    <a:pt x="5308828" y="1961523"/>
                  </a:lnTo>
                  <a:lnTo>
                    <a:pt x="5270935" y="1971040"/>
                  </a:lnTo>
                  <a:lnTo>
                    <a:pt x="5257799" y="197167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191249" y="4867274"/>
              <a:ext cx="5391150" cy="1971675"/>
            </a:xfrm>
            <a:custGeom>
              <a:avLst/>
              <a:gdLst/>
              <a:ahLst/>
              <a:cxnLst/>
              <a:rect l="l" t="t" r="r" b="b"/>
              <a:pathLst>
                <a:path w="5391150" h="1971675">
                  <a:moveTo>
                    <a:pt x="5257799" y="1971674"/>
                  </a:moveTo>
                  <a:lnTo>
                    <a:pt x="133349" y="1971674"/>
                  </a:lnTo>
                  <a:lnTo>
                    <a:pt x="120213" y="1971040"/>
                  </a:lnTo>
                  <a:lnTo>
                    <a:pt x="82318" y="1961523"/>
                  </a:lnTo>
                  <a:lnTo>
                    <a:pt x="48793" y="1941457"/>
                  </a:lnTo>
                  <a:lnTo>
                    <a:pt x="22451" y="1912423"/>
                  </a:lnTo>
                  <a:lnTo>
                    <a:pt x="5709" y="1876975"/>
                  </a:lnTo>
                  <a:lnTo>
                    <a:pt x="0" y="18383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1" y="59250"/>
                  </a:lnTo>
                  <a:lnTo>
                    <a:pt x="48793" y="30216"/>
                  </a:lnTo>
                  <a:lnTo>
                    <a:pt x="82317" y="10150"/>
                  </a:lnTo>
                  <a:lnTo>
                    <a:pt x="120212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8" y="2537"/>
                  </a:lnTo>
                  <a:lnTo>
                    <a:pt x="5296449" y="5709"/>
                  </a:lnTo>
                  <a:lnTo>
                    <a:pt x="5307084" y="9524"/>
                  </a:lnTo>
                  <a:lnTo>
                    <a:pt x="125219" y="9524"/>
                  </a:lnTo>
                  <a:lnTo>
                    <a:pt x="117167" y="10317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1846455"/>
                  </a:lnTo>
                  <a:lnTo>
                    <a:pt x="22061" y="1893221"/>
                  </a:lnTo>
                  <a:lnTo>
                    <a:pt x="51541" y="1931631"/>
                  </a:lnTo>
                  <a:lnTo>
                    <a:pt x="93475" y="1955835"/>
                  </a:lnTo>
                  <a:lnTo>
                    <a:pt x="125219" y="1962149"/>
                  </a:lnTo>
                  <a:lnTo>
                    <a:pt x="5307082" y="1962149"/>
                  </a:lnTo>
                  <a:lnTo>
                    <a:pt x="5296449" y="1965964"/>
                  </a:lnTo>
                  <a:lnTo>
                    <a:pt x="5283818" y="1969136"/>
                  </a:lnTo>
                  <a:lnTo>
                    <a:pt x="5270935" y="1971040"/>
                  </a:lnTo>
                  <a:lnTo>
                    <a:pt x="5257799" y="1971674"/>
                  </a:lnTo>
                  <a:close/>
                </a:path>
                <a:path w="5391150" h="1971675">
                  <a:moveTo>
                    <a:pt x="5307082" y="1962149"/>
                  </a:moveTo>
                  <a:lnTo>
                    <a:pt x="5265930" y="1962149"/>
                  </a:lnTo>
                  <a:lnTo>
                    <a:pt x="5273982" y="1961356"/>
                  </a:lnTo>
                  <a:lnTo>
                    <a:pt x="5289930" y="1958184"/>
                  </a:lnTo>
                  <a:lnTo>
                    <a:pt x="5333352" y="1936764"/>
                  </a:lnTo>
                  <a:lnTo>
                    <a:pt x="5365273" y="1900357"/>
                  </a:lnTo>
                  <a:lnTo>
                    <a:pt x="5380831" y="1854507"/>
                  </a:lnTo>
                  <a:lnTo>
                    <a:pt x="5381624" y="1846455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3" y="15763"/>
                  </a:lnTo>
                  <a:lnTo>
                    <a:pt x="5265930" y="9524"/>
                  </a:lnTo>
                  <a:lnTo>
                    <a:pt x="5307084" y="9524"/>
                  </a:lnTo>
                  <a:lnTo>
                    <a:pt x="5342354" y="30216"/>
                  </a:lnTo>
                  <a:lnTo>
                    <a:pt x="5368695" y="59250"/>
                  </a:lnTo>
                  <a:lnTo>
                    <a:pt x="5385438" y="94697"/>
                  </a:lnTo>
                  <a:lnTo>
                    <a:pt x="5391149" y="133349"/>
                  </a:lnTo>
                  <a:lnTo>
                    <a:pt x="5391149" y="1838324"/>
                  </a:lnTo>
                  <a:lnTo>
                    <a:pt x="5390515" y="1851460"/>
                  </a:lnTo>
                  <a:lnTo>
                    <a:pt x="5380997" y="1889355"/>
                  </a:lnTo>
                  <a:lnTo>
                    <a:pt x="5360931" y="1922879"/>
                  </a:lnTo>
                  <a:lnTo>
                    <a:pt x="5331898" y="1949221"/>
                  </a:lnTo>
                  <a:lnTo>
                    <a:pt x="5308829" y="1961523"/>
                  </a:lnTo>
                  <a:lnTo>
                    <a:pt x="5307082" y="196214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378575" y="5009198"/>
            <a:ext cx="160020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VA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N</a:t>
            </a:r>
            <a:r>
              <a:rPr dirty="0" sz="800" spc="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30" b="1">
                <a:solidFill>
                  <a:srgbClr val="798FAC"/>
                </a:solidFill>
                <a:latin typeface="Verdana"/>
                <a:cs typeface="Verdana"/>
              </a:rPr>
              <a:t>V</a:t>
            </a:r>
            <a:r>
              <a:rPr dirty="0" sz="800" spc="-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-1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T</a:t>
            </a:r>
            <a:r>
              <a:rPr dirty="0" sz="800" spc="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798FAC"/>
                </a:solidFill>
                <a:latin typeface="Verdana"/>
                <a:cs typeface="Verdana"/>
              </a:rPr>
              <a:t>L</a:t>
            </a:r>
            <a:r>
              <a:rPr dirty="0" sz="80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95" b="1">
                <a:solidFill>
                  <a:srgbClr val="798FAC"/>
                </a:solidFill>
                <a:latin typeface="Verdana"/>
                <a:cs typeface="Verdana"/>
              </a:rPr>
              <a:t>H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1275" y="5248275"/>
            <a:ext cx="4991099" cy="1428749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1224567" y="6501570"/>
            <a:ext cx="372745" cy="128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850" spc="-35" b="1">
                <a:solidFill>
                  <a:srgbClr val="B3BAC6"/>
                </a:solidFill>
                <a:latin typeface="Verdana"/>
                <a:cs typeface="Verdana"/>
              </a:rPr>
              <a:t>08</a:t>
            </a:r>
            <a:r>
              <a:rPr dirty="0" sz="850" spc="-120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B3BAC6"/>
                </a:solidFill>
                <a:latin typeface="Verdana"/>
                <a:cs typeface="Verdana"/>
              </a:rPr>
              <a:t>/</a:t>
            </a:r>
            <a:r>
              <a:rPr dirty="0" sz="850" spc="-114" b="1">
                <a:solidFill>
                  <a:srgbClr val="B3BAC6"/>
                </a:solidFill>
                <a:latin typeface="Verdana"/>
                <a:cs typeface="Verdana"/>
              </a:rPr>
              <a:t> 15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"/>
            <a:ext cx="12192000" cy="6858000"/>
            <a:chOff x="0" y="-2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4661" y="946150"/>
              <a:ext cx="6387337" cy="59118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4661" y="4283455"/>
              <a:ext cx="6387337" cy="25745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19299" y="495300"/>
              <a:ext cx="1276350" cy="219075"/>
            </a:xfrm>
            <a:custGeom>
              <a:avLst/>
              <a:gdLst/>
              <a:ahLst/>
              <a:cxnLst/>
              <a:rect l="l" t="t" r="r" b="b"/>
              <a:pathLst>
                <a:path w="1276350" h="219075">
                  <a:moveTo>
                    <a:pt x="11668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6"/>
                  </a:lnTo>
                  <a:lnTo>
                    <a:pt x="24821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8" y="57849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1166812" y="0"/>
                  </a:lnTo>
                  <a:lnTo>
                    <a:pt x="1208730" y="8338"/>
                  </a:lnTo>
                  <a:lnTo>
                    <a:pt x="1244267" y="32082"/>
                  </a:lnTo>
                  <a:lnTo>
                    <a:pt x="1268011" y="67619"/>
                  </a:lnTo>
                  <a:lnTo>
                    <a:pt x="1276349" y="109537"/>
                  </a:lnTo>
                  <a:lnTo>
                    <a:pt x="1275828" y="120327"/>
                  </a:lnTo>
                  <a:lnTo>
                    <a:pt x="1263400" y="161225"/>
                  </a:lnTo>
                  <a:lnTo>
                    <a:pt x="1236268" y="194253"/>
                  </a:lnTo>
                  <a:lnTo>
                    <a:pt x="1198561" y="214384"/>
                  </a:lnTo>
                  <a:lnTo>
                    <a:pt x="1166812" y="219074"/>
                  </a:lnTo>
                  <a:close/>
                </a:path>
              </a:pathLst>
            </a:custGeom>
            <a:solidFill>
              <a:srgbClr val="008159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19300" y="495300"/>
              <a:ext cx="1276350" cy="219075"/>
            </a:xfrm>
            <a:custGeom>
              <a:avLst/>
              <a:gdLst/>
              <a:ahLst/>
              <a:cxnLst/>
              <a:rect l="l" t="t" r="r" b="b"/>
              <a:pathLst>
                <a:path w="1276350" h="219075">
                  <a:moveTo>
                    <a:pt x="11668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6"/>
                  </a:lnTo>
                  <a:lnTo>
                    <a:pt x="24821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8" y="57849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1166812" y="0"/>
                  </a:lnTo>
                  <a:lnTo>
                    <a:pt x="1208730" y="8338"/>
                  </a:lnTo>
                  <a:lnTo>
                    <a:pt x="1211245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1" y="153877"/>
                  </a:lnTo>
                  <a:lnTo>
                    <a:pt x="29923" y="170404"/>
                  </a:lnTo>
                  <a:lnTo>
                    <a:pt x="30028" y="170561"/>
                  </a:lnTo>
                  <a:lnTo>
                    <a:pt x="59433" y="196343"/>
                  </a:lnTo>
                  <a:lnTo>
                    <a:pt x="96466" y="208909"/>
                  </a:lnTo>
                  <a:lnTo>
                    <a:pt x="102970" y="209549"/>
                  </a:lnTo>
                  <a:lnTo>
                    <a:pt x="1211245" y="209549"/>
                  </a:lnTo>
                  <a:lnTo>
                    <a:pt x="1208730" y="210736"/>
                  </a:lnTo>
                  <a:lnTo>
                    <a:pt x="1198561" y="214384"/>
                  </a:lnTo>
                  <a:lnTo>
                    <a:pt x="1188185" y="216990"/>
                  </a:lnTo>
                  <a:lnTo>
                    <a:pt x="1177602" y="218553"/>
                  </a:lnTo>
                  <a:lnTo>
                    <a:pt x="1166812" y="219074"/>
                  </a:lnTo>
                  <a:close/>
                </a:path>
                <a:path w="1276350" h="219075">
                  <a:moveTo>
                    <a:pt x="1211245" y="209549"/>
                  </a:moveTo>
                  <a:lnTo>
                    <a:pt x="1173379" y="209549"/>
                  </a:lnTo>
                  <a:lnTo>
                    <a:pt x="1179883" y="208909"/>
                  </a:lnTo>
                  <a:lnTo>
                    <a:pt x="1192764" y="206347"/>
                  </a:lnTo>
                  <a:lnTo>
                    <a:pt x="1227836" y="189046"/>
                  </a:lnTo>
                  <a:lnTo>
                    <a:pt x="1253618" y="159641"/>
                  </a:lnTo>
                  <a:lnTo>
                    <a:pt x="1266184" y="122608"/>
                  </a:lnTo>
                  <a:lnTo>
                    <a:pt x="1266824" y="116104"/>
                  </a:lnTo>
                  <a:lnTo>
                    <a:pt x="1266824" y="102970"/>
                  </a:lnTo>
                  <a:lnTo>
                    <a:pt x="1256698" y="65197"/>
                  </a:lnTo>
                  <a:lnTo>
                    <a:pt x="1246426" y="48670"/>
                  </a:lnTo>
                  <a:lnTo>
                    <a:pt x="1246321" y="48513"/>
                  </a:lnTo>
                  <a:lnTo>
                    <a:pt x="1216916" y="22731"/>
                  </a:lnTo>
                  <a:lnTo>
                    <a:pt x="1179883" y="10165"/>
                  </a:lnTo>
                  <a:lnTo>
                    <a:pt x="1173379" y="9524"/>
                  </a:lnTo>
                  <a:lnTo>
                    <a:pt x="1211245" y="9524"/>
                  </a:lnTo>
                  <a:lnTo>
                    <a:pt x="1244267" y="32082"/>
                  </a:lnTo>
                  <a:lnTo>
                    <a:pt x="1268011" y="67619"/>
                  </a:lnTo>
                  <a:lnTo>
                    <a:pt x="1276349" y="109537"/>
                  </a:lnTo>
                  <a:lnTo>
                    <a:pt x="1275828" y="120327"/>
                  </a:lnTo>
                  <a:lnTo>
                    <a:pt x="1263400" y="161225"/>
                  </a:lnTo>
                  <a:lnTo>
                    <a:pt x="1236268" y="194253"/>
                  </a:lnTo>
                  <a:lnTo>
                    <a:pt x="1218500" y="206126"/>
                  </a:lnTo>
                  <a:lnTo>
                    <a:pt x="1211245" y="209549"/>
                  </a:lnTo>
                  <a:close/>
                </a:path>
              </a:pathLst>
            </a:custGeom>
            <a:solidFill>
              <a:srgbClr val="008159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96899" y="532449"/>
            <a:ext cx="259461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25905" algn="l"/>
              </a:tabLst>
            </a:pPr>
            <a:r>
              <a:rPr dirty="0" baseline="3472" sz="1200" spc="-89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baseline="3472" sz="1200" spc="-11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82" b="1">
                <a:solidFill>
                  <a:srgbClr val="C87D09"/>
                </a:solidFill>
                <a:latin typeface="Verdana"/>
                <a:cs typeface="Verdana"/>
              </a:rPr>
              <a:t>C</a:t>
            </a:r>
            <a:r>
              <a:rPr dirty="0" baseline="3472" sz="12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165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baseline="3472" sz="1200" spc="-60" b="1">
                <a:solidFill>
                  <a:srgbClr val="C87D09"/>
                </a:solidFill>
                <a:latin typeface="Verdana"/>
                <a:cs typeface="Verdana"/>
              </a:rPr>
              <a:t> N 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baseline="3472" sz="1200" spc="-15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75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baseline="3472" sz="12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375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baseline="3472" sz="1200" spc="7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baseline="3472" sz="1200" spc="47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104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baseline="3472" sz="1200" spc="-112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142" b="1">
                <a:solidFill>
                  <a:srgbClr val="C87D09"/>
                </a:solidFill>
                <a:latin typeface="Verdana"/>
                <a:cs typeface="Verdana"/>
              </a:rPr>
              <a:t>H</a:t>
            </a:r>
            <a:r>
              <a:rPr dirty="0" baseline="3472" sz="1200" spc="-44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75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baseline="3472" sz="1200" spc="-1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165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baseline="3472" sz="1200" spc="-6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baseline="3472" sz="1200" spc="-75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baseline="3472" sz="1200" b="1">
                <a:solidFill>
                  <a:srgbClr val="C87D09"/>
                </a:solidFill>
                <a:latin typeface="Verdana"/>
                <a:cs typeface="Verdana"/>
              </a:rPr>
              <a:t>	</a:t>
            </a:r>
            <a:r>
              <a:rPr dirty="0" sz="750">
                <a:solidFill>
                  <a:srgbClr val="098F60"/>
                </a:solidFill>
                <a:latin typeface="Arial MT"/>
                <a:cs typeface="Arial MT"/>
              </a:rPr>
              <a:t></a:t>
            </a:r>
            <a:r>
              <a:rPr dirty="0" sz="750" spc="295">
                <a:solidFill>
                  <a:srgbClr val="098F60"/>
                </a:solidFill>
                <a:latin typeface="Arial MT"/>
                <a:cs typeface="Arial MT"/>
              </a:rPr>
              <a:t> </a:t>
            </a:r>
            <a:r>
              <a:rPr dirty="0" baseline="3703" sz="1125" spc="-104" b="1">
                <a:solidFill>
                  <a:srgbClr val="098F60"/>
                </a:solidFill>
                <a:latin typeface="Arial"/>
                <a:cs typeface="Arial"/>
              </a:rPr>
              <a:t>B</a:t>
            </a:r>
            <a:r>
              <a:rPr dirty="0" baseline="3703" sz="1125" spc="-157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baseline="3703" sz="1125" spc="-112" b="1">
                <a:solidFill>
                  <a:srgbClr val="098F60"/>
                </a:solidFill>
                <a:latin typeface="Arial"/>
                <a:cs typeface="Arial"/>
              </a:rPr>
              <a:t>E</a:t>
            </a:r>
            <a:r>
              <a:rPr dirty="0" baseline="3703" sz="1125" spc="-127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baseline="3703" sz="1125" spc="-75" b="1">
                <a:solidFill>
                  <a:srgbClr val="098F60"/>
                </a:solidFill>
                <a:latin typeface="Arial"/>
                <a:cs typeface="Arial"/>
              </a:rPr>
              <a:t>S</a:t>
            </a:r>
            <a:r>
              <a:rPr dirty="0" baseline="3703" sz="1125" spc="-157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baseline="3703" sz="1125" b="1">
                <a:solidFill>
                  <a:srgbClr val="098F60"/>
                </a:solidFill>
                <a:latin typeface="Arial"/>
                <a:cs typeface="Arial"/>
              </a:rPr>
              <a:t>T</a:t>
            </a:r>
            <a:r>
              <a:rPr dirty="0" baseline="3703" sz="1125" spc="284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baseline="3703" sz="1125" spc="-75" b="1">
                <a:solidFill>
                  <a:srgbClr val="098F60"/>
                </a:solidFill>
                <a:latin typeface="Arial"/>
                <a:cs typeface="Arial"/>
              </a:rPr>
              <a:t>S</a:t>
            </a:r>
            <a:r>
              <a:rPr dirty="0" baseline="3703" sz="1125" spc="-142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baseline="3703" sz="1125" b="1">
                <a:solidFill>
                  <a:srgbClr val="098F60"/>
                </a:solidFill>
                <a:latin typeface="Arial"/>
                <a:cs typeface="Arial"/>
              </a:rPr>
              <a:t>C</a:t>
            </a:r>
            <a:r>
              <a:rPr dirty="0" baseline="3703" sz="1125" spc="-16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baseline="3703" sz="1125" spc="-112" b="1">
                <a:solidFill>
                  <a:srgbClr val="098F60"/>
                </a:solidFill>
                <a:latin typeface="Arial"/>
                <a:cs typeface="Arial"/>
              </a:rPr>
              <a:t>E</a:t>
            </a:r>
            <a:r>
              <a:rPr dirty="0" baseline="3703" sz="1125" spc="-127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baseline="3703" sz="1125" spc="-30" b="1">
                <a:solidFill>
                  <a:srgbClr val="098F60"/>
                </a:solidFill>
                <a:latin typeface="Arial"/>
                <a:cs typeface="Arial"/>
              </a:rPr>
              <a:t>N</a:t>
            </a:r>
            <a:r>
              <a:rPr dirty="0" baseline="3703" sz="1125" spc="-127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baseline="3703" sz="1125" b="1">
                <a:solidFill>
                  <a:srgbClr val="098F60"/>
                </a:solidFill>
                <a:latin typeface="Arial"/>
                <a:cs typeface="Arial"/>
              </a:rPr>
              <a:t>AR</a:t>
            </a:r>
            <a:r>
              <a:rPr dirty="0" baseline="3703" sz="1125" spc="-142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baseline="3703" sz="1125" spc="-104" b="1">
                <a:solidFill>
                  <a:srgbClr val="098F60"/>
                </a:solidFill>
                <a:latin typeface="Arial"/>
                <a:cs typeface="Arial"/>
              </a:rPr>
              <a:t>I</a:t>
            </a:r>
            <a:r>
              <a:rPr dirty="0" baseline="3703" sz="1125" spc="-75" b="1">
                <a:solidFill>
                  <a:srgbClr val="098F60"/>
                </a:solidFill>
                <a:latin typeface="Arial"/>
                <a:cs typeface="Arial"/>
              </a:rPr>
              <a:t> O</a:t>
            </a:r>
            <a:endParaRPr baseline="3703" sz="1125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96899" y="505074"/>
            <a:ext cx="10538460" cy="876935"/>
          </a:xfrm>
          <a:prstGeom prst="rect"/>
        </p:spPr>
        <p:txBody>
          <a:bodyPr wrap="square" lIns="0" tIns="196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2950" spc="-365"/>
              <a:t>Q3:</a:t>
            </a:r>
            <a:r>
              <a:rPr dirty="0" sz="2950" spc="-370"/>
              <a:t> </a:t>
            </a:r>
            <a:r>
              <a:rPr dirty="0" sz="2950" spc="-275"/>
              <a:t>Rela</a:t>
            </a:r>
            <a:r>
              <a:rPr dirty="0" sz="2900" spc="-275"/>
              <a:t>x</a:t>
            </a:r>
            <a:r>
              <a:rPr dirty="0" sz="2950" spc="-275"/>
              <a:t>ed</a:t>
            </a:r>
            <a:r>
              <a:rPr dirty="0" sz="2950" spc="-409"/>
              <a:t> </a:t>
            </a:r>
            <a:r>
              <a:rPr dirty="0" sz="2950" spc="-250"/>
              <a:t>Deli</a:t>
            </a:r>
            <a:r>
              <a:rPr dirty="0" sz="2900" spc="-250"/>
              <a:t>v</a:t>
            </a:r>
            <a:r>
              <a:rPr dirty="0" sz="2950" spc="-250"/>
              <a:t>er</a:t>
            </a:r>
            <a:r>
              <a:rPr dirty="0" sz="2900" spc="-250"/>
              <a:t>y</a:t>
            </a:r>
            <a:r>
              <a:rPr dirty="0" sz="2900" spc="-555"/>
              <a:t> </a:t>
            </a:r>
            <a:r>
              <a:rPr dirty="0" sz="2950" spc="-90"/>
              <a:t>Sched</a:t>
            </a:r>
            <a:r>
              <a:rPr dirty="0" sz="2900" spc="-90"/>
              <a:t>u</a:t>
            </a:r>
            <a:r>
              <a:rPr dirty="0" sz="2950" spc="-90"/>
              <a:t>le</a:t>
            </a:r>
            <a:endParaRPr sz="2950"/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Stores</a:t>
            </a:r>
            <a:r>
              <a:rPr dirty="0" sz="100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may</a:t>
            </a:r>
            <a:r>
              <a:rPr dirty="0" sz="100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shift</a:t>
            </a:r>
            <a:r>
              <a:rPr dirty="0" sz="1000" spc="2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between</a:t>
            </a:r>
            <a:r>
              <a:rPr dirty="0" sz="100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weekdays</a:t>
            </a:r>
            <a:r>
              <a:rPr dirty="0" sz="100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while</a:t>
            </a:r>
            <a:r>
              <a:rPr dirty="0" sz="1000" spc="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maintaining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frequency.</a:t>
            </a:r>
            <a:r>
              <a:rPr dirty="0" sz="1000" spc="4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Nearby</a:t>
            </a:r>
            <a:r>
              <a:rPr dirty="0" sz="100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stores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are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clustered</a:t>
            </a:r>
            <a:r>
              <a:rPr dirty="0" sz="100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onto</a:t>
            </a:r>
            <a:r>
              <a:rPr dirty="0" sz="1000" spc="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the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same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day</a:t>
            </a:r>
            <a:r>
              <a:rPr dirty="0" sz="100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220" b="0">
                <a:solidFill>
                  <a:srgbClr val="6E7D93"/>
                </a:solidFill>
                <a:latin typeface="Microsoft Sans Serif"/>
                <a:cs typeface="Microsoft Sans Serif"/>
              </a:rPr>
              <a:t>—</a:t>
            </a:r>
            <a:r>
              <a:rPr dirty="0" sz="1000" spc="-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enabling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geographic</a:t>
            </a:r>
            <a:r>
              <a:rPr dirty="0" sz="1000" spc="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route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consolidation</a:t>
            </a:r>
            <a:r>
              <a:rPr dirty="0" sz="100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and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dramatic</a:t>
            </a:r>
            <a:r>
              <a:rPr dirty="0" sz="1000" spc="1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mileage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savings.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9599" y="1571625"/>
            <a:ext cx="2647950" cy="762000"/>
            <a:chOff x="609599" y="1571625"/>
            <a:chExt cx="2647950" cy="762000"/>
          </a:xfrm>
        </p:grpSpPr>
        <p:sp>
          <p:nvSpPr>
            <p:cNvPr id="11" name="object 11"/>
            <p:cNvSpPr/>
            <p:nvPr/>
          </p:nvSpPr>
          <p:spPr>
            <a:xfrm>
              <a:off x="609599" y="1571625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700"/>
                  </a:lnTo>
                  <a:lnTo>
                    <a:pt x="2614472" y="33477"/>
                  </a:lnTo>
                  <a:lnTo>
                    <a:pt x="2639248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39248" y="691440"/>
                  </a:lnTo>
                  <a:lnTo>
                    <a:pt x="2614472" y="728522"/>
                  </a:lnTo>
                  <a:lnTo>
                    <a:pt x="2577390" y="753299"/>
                  </a:lnTo>
                  <a:lnTo>
                    <a:pt x="2533649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9599" y="1571625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700"/>
                  </a:lnTo>
                  <a:lnTo>
                    <a:pt x="257913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79136" y="752474"/>
                  </a:lnTo>
                  <a:lnTo>
                    <a:pt x="2577390" y="753299"/>
                  </a:lnTo>
                  <a:lnTo>
                    <a:pt x="2566779" y="757105"/>
                  </a:lnTo>
                  <a:lnTo>
                    <a:pt x="2555952" y="759824"/>
                  </a:lnTo>
                  <a:lnTo>
                    <a:pt x="2544909" y="761456"/>
                  </a:lnTo>
                  <a:lnTo>
                    <a:pt x="2533649" y="761999"/>
                  </a:lnTo>
                  <a:close/>
                </a:path>
                <a:path w="2647950" h="762000">
                  <a:moveTo>
                    <a:pt x="2579136" y="752474"/>
                  </a:moveTo>
                  <a:lnTo>
                    <a:pt x="2540529" y="752474"/>
                  </a:lnTo>
                  <a:lnTo>
                    <a:pt x="2547343" y="751803"/>
                  </a:lnTo>
                  <a:lnTo>
                    <a:pt x="2560837" y="749119"/>
                  </a:lnTo>
                  <a:lnTo>
                    <a:pt x="2597579" y="730994"/>
                  </a:lnTo>
                  <a:lnTo>
                    <a:pt x="2624589" y="700189"/>
                  </a:lnTo>
                  <a:lnTo>
                    <a:pt x="2637753" y="661393"/>
                  </a:lnTo>
                  <a:lnTo>
                    <a:pt x="2638424" y="654579"/>
                  </a:lnTo>
                  <a:lnTo>
                    <a:pt x="2638424" y="107420"/>
                  </a:lnTo>
                  <a:lnTo>
                    <a:pt x="2627816" y="67848"/>
                  </a:lnTo>
                  <a:lnTo>
                    <a:pt x="2602872" y="35348"/>
                  </a:lnTo>
                  <a:lnTo>
                    <a:pt x="2567389" y="14867"/>
                  </a:lnTo>
                  <a:lnTo>
                    <a:pt x="2540529" y="9524"/>
                  </a:lnTo>
                  <a:lnTo>
                    <a:pt x="2579137" y="9524"/>
                  </a:lnTo>
                  <a:lnTo>
                    <a:pt x="2614472" y="33477"/>
                  </a:lnTo>
                  <a:lnTo>
                    <a:pt x="2639248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47405" y="658959"/>
                  </a:lnTo>
                  <a:lnTo>
                    <a:pt x="2634437" y="701634"/>
                  </a:lnTo>
                  <a:lnTo>
                    <a:pt x="2606125" y="736099"/>
                  </a:lnTo>
                  <a:lnTo>
                    <a:pt x="2587584" y="748487"/>
                  </a:lnTo>
                  <a:lnTo>
                    <a:pt x="2579136" y="752474"/>
                  </a:lnTo>
                  <a:close/>
                </a:path>
              </a:pathLst>
            </a:custGeom>
            <a:solidFill>
              <a:srgbClr val="33D39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96925" y="1581632"/>
            <a:ext cx="897890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265" b="1">
                <a:solidFill>
                  <a:srgbClr val="098F60"/>
                </a:solidFill>
                <a:latin typeface="Verdana"/>
                <a:cs typeface="Verdana"/>
              </a:rPr>
              <a:t>4,793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KLY</a:t>
            </a:r>
            <a:r>
              <a:rPr dirty="0" sz="850" spc="18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6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>
                <a:solidFill>
                  <a:srgbClr val="8490A3"/>
                </a:solidFill>
                <a:latin typeface="Microsoft Sans Serif"/>
                <a:cs typeface="Microsoft Sans Serif"/>
              </a:rPr>
              <a:t>L</a:t>
            </a:r>
            <a:r>
              <a:rPr dirty="0" sz="850" spc="-1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90899" y="1571625"/>
            <a:ext cx="2638425" cy="762000"/>
            <a:chOff x="3390899" y="1571625"/>
            <a:chExt cx="2638425" cy="762000"/>
          </a:xfrm>
        </p:grpSpPr>
        <p:sp>
          <p:nvSpPr>
            <p:cNvPr id="15" name="object 15"/>
            <p:cNvSpPr/>
            <p:nvPr/>
          </p:nvSpPr>
          <p:spPr>
            <a:xfrm>
              <a:off x="3390899" y="1571625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5" y="8700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29723" y="691440"/>
                  </a:lnTo>
                  <a:lnTo>
                    <a:pt x="2604946" y="728522"/>
                  </a:lnTo>
                  <a:lnTo>
                    <a:pt x="2567864" y="753299"/>
                  </a:lnTo>
                  <a:lnTo>
                    <a:pt x="2524124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90899" y="1571625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900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5" y="8700"/>
                  </a:lnTo>
                  <a:lnTo>
                    <a:pt x="256961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69611" y="752474"/>
                  </a:lnTo>
                  <a:lnTo>
                    <a:pt x="2567864" y="753299"/>
                  </a:lnTo>
                  <a:lnTo>
                    <a:pt x="2557254" y="757105"/>
                  </a:lnTo>
                  <a:lnTo>
                    <a:pt x="2546427" y="759824"/>
                  </a:lnTo>
                  <a:lnTo>
                    <a:pt x="2535384" y="761456"/>
                  </a:lnTo>
                  <a:lnTo>
                    <a:pt x="2524124" y="761999"/>
                  </a:lnTo>
                  <a:close/>
                </a:path>
                <a:path w="2638425" h="762000">
                  <a:moveTo>
                    <a:pt x="2569611" y="752474"/>
                  </a:moveTo>
                  <a:lnTo>
                    <a:pt x="2531004" y="752474"/>
                  </a:lnTo>
                  <a:lnTo>
                    <a:pt x="2537817" y="751803"/>
                  </a:lnTo>
                  <a:lnTo>
                    <a:pt x="2551312" y="749119"/>
                  </a:lnTo>
                  <a:lnTo>
                    <a:pt x="2588054" y="730994"/>
                  </a:lnTo>
                  <a:lnTo>
                    <a:pt x="2615063" y="700189"/>
                  </a:lnTo>
                  <a:lnTo>
                    <a:pt x="2628228" y="661393"/>
                  </a:lnTo>
                  <a:lnTo>
                    <a:pt x="2628899" y="654579"/>
                  </a:lnTo>
                  <a:lnTo>
                    <a:pt x="2628899" y="107420"/>
                  </a:lnTo>
                  <a:lnTo>
                    <a:pt x="2618291" y="67848"/>
                  </a:lnTo>
                  <a:lnTo>
                    <a:pt x="2593347" y="35348"/>
                  </a:lnTo>
                  <a:lnTo>
                    <a:pt x="2557864" y="14867"/>
                  </a:lnTo>
                  <a:lnTo>
                    <a:pt x="2531004" y="9524"/>
                  </a:lnTo>
                  <a:lnTo>
                    <a:pt x="2569612" y="9524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37880" y="658959"/>
                  </a:lnTo>
                  <a:lnTo>
                    <a:pt x="2624912" y="701634"/>
                  </a:lnTo>
                  <a:lnTo>
                    <a:pt x="2596600" y="736099"/>
                  </a:lnTo>
                  <a:lnTo>
                    <a:pt x="2578059" y="748487"/>
                  </a:lnTo>
                  <a:lnTo>
                    <a:pt x="2569611" y="752474"/>
                  </a:lnTo>
                  <a:close/>
                </a:path>
              </a:pathLst>
            </a:custGeom>
            <a:solidFill>
              <a:srgbClr val="33D39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573462" y="1581632"/>
            <a:ext cx="1054735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445" b="1">
                <a:solidFill>
                  <a:srgbClr val="098F60"/>
                </a:solidFill>
                <a:latin typeface="Verdana"/>
                <a:cs typeface="Verdana"/>
              </a:rPr>
              <a:t>−</a:t>
            </a:r>
            <a:r>
              <a:rPr dirty="0" sz="2250" spc="-445" b="1">
                <a:solidFill>
                  <a:srgbClr val="098F60"/>
                </a:solidFill>
                <a:latin typeface="Verdana"/>
                <a:cs typeface="Verdana"/>
              </a:rPr>
              <a:t>2</a:t>
            </a:r>
            <a:r>
              <a:rPr dirty="0" sz="2300" spc="-445" b="1">
                <a:solidFill>
                  <a:srgbClr val="098F60"/>
                </a:solidFill>
                <a:latin typeface="Verdana"/>
                <a:cs typeface="Verdana"/>
              </a:rPr>
              <a:t>8.6%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>
                <a:solidFill>
                  <a:srgbClr val="098F60"/>
                </a:solidFill>
                <a:latin typeface="Microsoft Sans Serif"/>
                <a:cs typeface="Microsoft Sans Serif"/>
              </a:rPr>
              <a:t>VS</a:t>
            </a:r>
            <a:r>
              <a:rPr dirty="0" sz="850" spc="220">
                <a:solidFill>
                  <a:srgbClr val="098F6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098F60"/>
                </a:solidFill>
                <a:latin typeface="Microsoft Sans Serif"/>
                <a:cs typeface="Microsoft Sans Serif"/>
              </a:rPr>
              <a:t>Q</a:t>
            </a:r>
            <a:r>
              <a:rPr dirty="0" sz="850" spc="-130">
                <a:solidFill>
                  <a:srgbClr val="098F6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4">
                <a:solidFill>
                  <a:srgbClr val="098F60"/>
                </a:solidFill>
                <a:latin typeface="Microsoft Sans Serif"/>
                <a:cs typeface="Microsoft Sans Serif"/>
              </a:rPr>
              <a:t>1</a:t>
            </a:r>
            <a:r>
              <a:rPr dirty="0" sz="850" spc="270">
                <a:solidFill>
                  <a:srgbClr val="098F60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098F60"/>
                </a:solidFill>
                <a:latin typeface="Microsoft Sans Serif"/>
                <a:cs typeface="Microsoft Sans Serif"/>
              </a:rPr>
              <a:t>BAS</a:t>
            </a:r>
            <a:r>
              <a:rPr dirty="0" sz="850" spc="-114">
                <a:solidFill>
                  <a:srgbClr val="098F6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098F60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0">
                <a:solidFill>
                  <a:srgbClr val="098F6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>
                <a:solidFill>
                  <a:srgbClr val="098F60"/>
                </a:solidFill>
                <a:latin typeface="Microsoft Sans Serif"/>
                <a:cs typeface="Microsoft Sans Serif"/>
              </a:rPr>
              <a:t>L</a:t>
            </a:r>
            <a:r>
              <a:rPr dirty="0" sz="850" spc="-110">
                <a:solidFill>
                  <a:srgbClr val="098F6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098F60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60">
                <a:solidFill>
                  <a:srgbClr val="098F6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5">
                <a:solidFill>
                  <a:srgbClr val="098F60"/>
                </a:solidFill>
                <a:latin typeface="Microsoft Sans Serif"/>
                <a:cs typeface="Microsoft Sans Serif"/>
              </a:rPr>
              <a:t>N</a:t>
            </a:r>
            <a:r>
              <a:rPr dirty="0" sz="850" spc="-95">
                <a:solidFill>
                  <a:srgbClr val="098F6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098F60"/>
                </a:solidFill>
                <a:latin typeface="Microsoft Sans Serif"/>
                <a:cs typeface="Microsoft Sans Serif"/>
              </a:rPr>
              <a:t>E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62674" y="1571625"/>
            <a:ext cx="2647950" cy="762000"/>
            <a:chOff x="6162674" y="1571625"/>
            <a:chExt cx="2647950" cy="762000"/>
          </a:xfrm>
        </p:grpSpPr>
        <p:sp>
          <p:nvSpPr>
            <p:cNvPr id="19" name="object 19"/>
            <p:cNvSpPr/>
            <p:nvPr/>
          </p:nvSpPr>
          <p:spPr>
            <a:xfrm>
              <a:off x="6162674" y="1571625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89" y="8700"/>
                  </a:lnTo>
                  <a:lnTo>
                    <a:pt x="2614471" y="33477"/>
                  </a:lnTo>
                  <a:lnTo>
                    <a:pt x="2639247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39247" y="691440"/>
                  </a:lnTo>
                  <a:lnTo>
                    <a:pt x="2614471" y="728522"/>
                  </a:lnTo>
                  <a:lnTo>
                    <a:pt x="2577388" y="753299"/>
                  </a:lnTo>
                  <a:lnTo>
                    <a:pt x="2533649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62674" y="1571625"/>
              <a:ext cx="2647950" cy="762000"/>
            </a:xfrm>
            <a:custGeom>
              <a:avLst/>
              <a:gdLst/>
              <a:ahLst/>
              <a:cxnLst/>
              <a:rect l="l" t="t" r="r" b="b"/>
              <a:pathLst>
                <a:path w="2647950" h="762000">
                  <a:moveTo>
                    <a:pt x="2533649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4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89" y="8700"/>
                  </a:lnTo>
                  <a:lnTo>
                    <a:pt x="257913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79135" y="752474"/>
                  </a:lnTo>
                  <a:lnTo>
                    <a:pt x="2577389" y="753299"/>
                  </a:lnTo>
                  <a:lnTo>
                    <a:pt x="2566778" y="757105"/>
                  </a:lnTo>
                  <a:lnTo>
                    <a:pt x="2555951" y="759824"/>
                  </a:lnTo>
                  <a:lnTo>
                    <a:pt x="2544908" y="761456"/>
                  </a:lnTo>
                  <a:lnTo>
                    <a:pt x="2533649" y="761999"/>
                  </a:lnTo>
                  <a:close/>
                </a:path>
                <a:path w="2647950" h="762000">
                  <a:moveTo>
                    <a:pt x="2579135" y="752474"/>
                  </a:moveTo>
                  <a:lnTo>
                    <a:pt x="2540529" y="752474"/>
                  </a:lnTo>
                  <a:lnTo>
                    <a:pt x="2547342" y="751803"/>
                  </a:lnTo>
                  <a:lnTo>
                    <a:pt x="2560837" y="749119"/>
                  </a:lnTo>
                  <a:lnTo>
                    <a:pt x="2597579" y="730994"/>
                  </a:lnTo>
                  <a:lnTo>
                    <a:pt x="2624588" y="700189"/>
                  </a:lnTo>
                  <a:lnTo>
                    <a:pt x="2637753" y="661393"/>
                  </a:lnTo>
                  <a:lnTo>
                    <a:pt x="2638424" y="654579"/>
                  </a:lnTo>
                  <a:lnTo>
                    <a:pt x="2638424" y="107420"/>
                  </a:lnTo>
                  <a:lnTo>
                    <a:pt x="2627816" y="67848"/>
                  </a:lnTo>
                  <a:lnTo>
                    <a:pt x="2602872" y="35348"/>
                  </a:lnTo>
                  <a:lnTo>
                    <a:pt x="2567389" y="14867"/>
                  </a:lnTo>
                  <a:lnTo>
                    <a:pt x="2540529" y="9524"/>
                  </a:lnTo>
                  <a:lnTo>
                    <a:pt x="2579136" y="9524"/>
                  </a:lnTo>
                  <a:lnTo>
                    <a:pt x="2614471" y="33477"/>
                  </a:lnTo>
                  <a:lnTo>
                    <a:pt x="2639247" y="70559"/>
                  </a:lnTo>
                  <a:lnTo>
                    <a:pt x="2647949" y="114299"/>
                  </a:lnTo>
                  <a:lnTo>
                    <a:pt x="2647949" y="647699"/>
                  </a:lnTo>
                  <a:lnTo>
                    <a:pt x="2647405" y="658959"/>
                  </a:lnTo>
                  <a:lnTo>
                    <a:pt x="2634436" y="701634"/>
                  </a:lnTo>
                  <a:lnTo>
                    <a:pt x="2606125" y="736099"/>
                  </a:lnTo>
                  <a:lnTo>
                    <a:pt x="2587583" y="748487"/>
                  </a:lnTo>
                  <a:lnTo>
                    <a:pt x="2579135" y="7524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350000" y="1581632"/>
            <a:ext cx="1404620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250" spc="-25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r>
              <a:rPr dirty="0" sz="2300" spc="-25" b="1">
                <a:solidFill>
                  <a:srgbClr val="C87D09"/>
                </a:solidFill>
                <a:latin typeface="Verdana"/>
                <a:cs typeface="Verdana"/>
              </a:rPr>
              <a:t>6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TOTAL</a:t>
            </a:r>
            <a:r>
              <a:rPr dirty="0" sz="850" spc="229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5">
                <a:solidFill>
                  <a:srgbClr val="8490A3"/>
                </a:solidFill>
                <a:latin typeface="Microsoft Sans Serif"/>
                <a:cs typeface="Microsoft Sans Serif"/>
              </a:rPr>
              <a:t>R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OU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35">
                <a:solidFill>
                  <a:srgbClr val="8490A3"/>
                </a:solidFill>
                <a:latin typeface="Microsoft Sans Serif"/>
                <a:cs typeface="Microsoft Sans Serif"/>
              </a:rPr>
              <a:t>TE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r>
              <a:rPr dirty="0" sz="850" spc="229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8490A3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22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K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943974" y="1571625"/>
            <a:ext cx="2638425" cy="762000"/>
            <a:chOff x="8943974" y="1571625"/>
            <a:chExt cx="2638425" cy="762000"/>
          </a:xfrm>
        </p:grpSpPr>
        <p:sp>
          <p:nvSpPr>
            <p:cNvPr id="23" name="object 23"/>
            <p:cNvSpPr/>
            <p:nvPr/>
          </p:nvSpPr>
          <p:spPr>
            <a:xfrm>
              <a:off x="8943974" y="1571625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3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4" y="8700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29723" y="691440"/>
                  </a:lnTo>
                  <a:lnTo>
                    <a:pt x="2604946" y="728522"/>
                  </a:lnTo>
                  <a:lnTo>
                    <a:pt x="2567864" y="753299"/>
                  </a:lnTo>
                  <a:lnTo>
                    <a:pt x="2524124" y="7619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943974" y="1571625"/>
              <a:ext cx="2638425" cy="762000"/>
            </a:xfrm>
            <a:custGeom>
              <a:avLst/>
              <a:gdLst/>
              <a:ahLst/>
              <a:cxnLst/>
              <a:rect l="l" t="t" r="r" b="b"/>
              <a:pathLst>
                <a:path w="2638425" h="762000">
                  <a:moveTo>
                    <a:pt x="2524124" y="761999"/>
                  </a:moveTo>
                  <a:lnTo>
                    <a:pt x="114299" y="761999"/>
                  </a:lnTo>
                  <a:lnTo>
                    <a:pt x="103040" y="761456"/>
                  </a:lnTo>
                  <a:lnTo>
                    <a:pt x="60363" y="748487"/>
                  </a:lnTo>
                  <a:lnTo>
                    <a:pt x="25899" y="720175"/>
                  </a:lnTo>
                  <a:lnTo>
                    <a:pt x="4893" y="680829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5" y="8700"/>
                  </a:lnTo>
                  <a:lnTo>
                    <a:pt x="25696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54579"/>
                  </a:lnTo>
                  <a:lnTo>
                    <a:pt x="20133" y="694151"/>
                  </a:lnTo>
                  <a:lnTo>
                    <a:pt x="45077" y="726651"/>
                  </a:lnTo>
                  <a:lnTo>
                    <a:pt x="80560" y="747132"/>
                  </a:lnTo>
                  <a:lnTo>
                    <a:pt x="107420" y="752474"/>
                  </a:lnTo>
                  <a:lnTo>
                    <a:pt x="2569611" y="752474"/>
                  </a:lnTo>
                  <a:lnTo>
                    <a:pt x="2567864" y="753299"/>
                  </a:lnTo>
                  <a:lnTo>
                    <a:pt x="2557253" y="757105"/>
                  </a:lnTo>
                  <a:lnTo>
                    <a:pt x="2546426" y="759824"/>
                  </a:lnTo>
                  <a:lnTo>
                    <a:pt x="2535383" y="761456"/>
                  </a:lnTo>
                  <a:lnTo>
                    <a:pt x="2524124" y="761999"/>
                  </a:lnTo>
                  <a:close/>
                </a:path>
                <a:path w="2638425" h="762000">
                  <a:moveTo>
                    <a:pt x="2569611" y="752474"/>
                  </a:moveTo>
                  <a:lnTo>
                    <a:pt x="2531004" y="752474"/>
                  </a:lnTo>
                  <a:lnTo>
                    <a:pt x="2537817" y="751803"/>
                  </a:lnTo>
                  <a:lnTo>
                    <a:pt x="2551312" y="749119"/>
                  </a:lnTo>
                  <a:lnTo>
                    <a:pt x="2588054" y="730994"/>
                  </a:lnTo>
                  <a:lnTo>
                    <a:pt x="2615063" y="700189"/>
                  </a:lnTo>
                  <a:lnTo>
                    <a:pt x="2628228" y="661393"/>
                  </a:lnTo>
                  <a:lnTo>
                    <a:pt x="2628899" y="654579"/>
                  </a:lnTo>
                  <a:lnTo>
                    <a:pt x="2628899" y="107420"/>
                  </a:lnTo>
                  <a:lnTo>
                    <a:pt x="2618291" y="67848"/>
                  </a:lnTo>
                  <a:lnTo>
                    <a:pt x="2593347" y="35348"/>
                  </a:lnTo>
                  <a:lnTo>
                    <a:pt x="2557864" y="14867"/>
                  </a:lnTo>
                  <a:lnTo>
                    <a:pt x="2531004" y="9524"/>
                  </a:lnTo>
                  <a:lnTo>
                    <a:pt x="2569611" y="9524"/>
                  </a:lnTo>
                  <a:lnTo>
                    <a:pt x="2604946" y="33477"/>
                  </a:lnTo>
                  <a:lnTo>
                    <a:pt x="2629723" y="70559"/>
                  </a:lnTo>
                  <a:lnTo>
                    <a:pt x="2638424" y="114299"/>
                  </a:lnTo>
                  <a:lnTo>
                    <a:pt x="2638424" y="647699"/>
                  </a:lnTo>
                  <a:lnTo>
                    <a:pt x="2637880" y="658959"/>
                  </a:lnTo>
                  <a:lnTo>
                    <a:pt x="2624912" y="701634"/>
                  </a:lnTo>
                  <a:lnTo>
                    <a:pt x="2596600" y="736099"/>
                  </a:lnTo>
                  <a:lnTo>
                    <a:pt x="2578059" y="748487"/>
                  </a:lnTo>
                  <a:lnTo>
                    <a:pt x="2569611" y="7524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126536" y="1581632"/>
            <a:ext cx="1337310" cy="5962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300" spc="-470" b="1">
                <a:solidFill>
                  <a:srgbClr val="C87D09"/>
                </a:solidFill>
                <a:latin typeface="Verdana"/>
                <a:cs typeface="Verdana"/>
              </a:rPr>
              <a:t>1,9</a:t>
            </a:r>
            <a:r>
              <a:rPr dirty="0" sz="2250" spc="-470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r>
              <a:rPr dirty="0" sz="2300" spc="-470" b="1">
                <a:solidFill>
                  <a:srgbClr val="C87D09"/>
                </a:solidFill>
                <a:latin typeface="Verdana"/>
                <a:cs typeface="Verdana"/>
              </a:rPr>
              <a:t>1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KLY</a:t>
            </a:r>
            <a:r>
              <a:rPr dirty="0" sz="850" spc="12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6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>
                <a:solidFill>
                  <a:srgbClr val="8490A3"/>
                </a:solidFill>
                <a:latin typeface="Microsoft Sans Serif"/>
                <a:cs typeface="Microsoft Sans Serif"/>
              </a:rPr>
              <a:t>L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r>
              <a:rPr dirty="0" sz="850" spc="19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AVE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D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9599" y="2505075"/>
            <a:ext cx="5391150" cy="3857625"/>
            <a:chOff x="609599" y="2505075"/>
            <a:chExt cx="5391150" cy="3857625"/>
          </a:xfrm>
        </p:grpSpPr>
        <p:sp>
          <p:nvSpPr>
            <p:cNvPr id="27" name="object 27"/>
            <p:cNvSpPr/>
            <p:nvPr/>
          </p:nvSpPr>
          <p:spPr>
            <a:xfrm>
              <a:off x="609599" y="2505075"/>
              <a:ext cx="5391150" cy="3857625"/>
            </a:xfrm>
            <a:custGeom>
              <a:avLst/>
              <a:gdLst/>
              <a:ahLst/>
              <a:cxnLst/>
              <a:rect l="l" t="t" r="r" b="b"/>
              <a:pathLst>
                <a:path w="5391150" h="3857625">
                  <a:moveTo>
                    <a:pt x="5257799" y="3857624"/>
                  </a:moveTo>
                  <a:lnTo>
                    <a:pt x="133349" y="3857624"/>
                  </a:lnTo>
                  <a:lnTo>
                    <a:pt x="120213" y="3856989"/>
                  </a:lnTo>
                  <a:lnTo>
                    <a:pt x="82319" y="3847473"/>
                  </a:lnTo>
                  <a:lnTo>
                    <a:pt x="48794" y="3827407"/>
                  </a:lnTo>
                  <a:lnTo>
                    <a:pt x="22452" y="3798373"/>
                  </a:lnTo>
                  <a:lnTo>
                    <a:pt x="5709" y="3762925"/>
                  </a:lnTo>
                  <a:lnTo>
                    <a:pt x="0" y="372427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50" y="5709"/>
                  </a:lnTo>
                  <a:lnTo>
                    <a:pt x="5331898" y="22452"/>
                  </a:lnTo>
                  <a:lnTo>
                    <a:pt x="5360931" y="48794"/>
                  </a:lnTo>
                  <a:lnTo>
                    <a:pt x="5380998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3724274"/>
                  </a:lnTo>
                  <a:lnTo>
                    <a:pt x="5385438" y="3762925"/>
                  </a:lnTo>
                  <a:lnTo>
                    <a:pt x="5368696" y="3798373"/>
                  </a:lnTo>
                  <a:lnTo>
                    <a:pt x="5342354" y="3827407"/>
                  </a:lnTo>
                  <a:lnTo>
                    <a:pt x="5308829" y="3847473"/>
                  </a:lnTo>
                  <a:lnTo>
                    <a:pt x="5270935" y="3856989"/>
                  </a:lnTo>
                  <a:lnTo>
                    <a:pt x="5257799" y="385762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09599" y="2505075"/>
              <a:ext cx="5391150" cy="3857625"/>
            </a:xfrm>
            <a:custGeom>
              <a:avLst/>
              <a:gdLst/>
              <a:ahLst/>
              <a:cxnLst/>
              <a:rect l="l" t="t" r="r" b="b"/>
              <a:pathLst>
                <a:path w="5391150" h="3857625">
                  <a:moveTo>
                    <a:pt x="5257799" y="3857624"/>
                  </a:moveTo>
                  <a:lnTo>
                    <a:pt x="133349" y="3857624"/>
                  </a:lnTo>
                  <a:lnTo>
                    <a:pt x="120213" y="3856990"/>
                  </a:lnTo>
                  <a:lnTo>
                    <a:pt x="82319" y="3847473"/>
                  </a:lnTo>
                  <a:lnTo>
                    <a:pt x="48794" y="3827407"/>
                  </a:lnTo>
                  <a:lnTo>
                    <a:pt x="22452" y="3798373"/>
                  </a:lnTo>
                  <a:lnTo>
                    <a:pt x="5709" y="3762926"/>
                  </a:lnTo>
                  <a:lnTo>
                    <a:pt x="0" y="372427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9" y="2537"/>
                  </a:lnTo>
                  <a:lnTo>
                    <a:pt x="5296450" y="5709"/>
                  </a:lnTo>
                  <a:lnTo>
                    <a:pt x="5307086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3732404"/>
                  </a:lnTo>
                  <a:lnTo>
                    <a:pt x="22061" y="3779171"/>
                  </a:lnTo>
                  <a:lnTo>
                    <a:pt x="51541" y="3817581"/>
                  </a:lnTo>
                  <a:lnTo>
                    <a:pt x="93475" y="3841785"/>
                  </a:lnTo>
                  <a:lnTo>
                    <a:pt x="125219" y="3848099"/>
                  </a:lnTo>
                  <a:lnTo>
                    <a:pt x="5307083" y="3848099"/>
                  </a:lnTo>
                  <a:lnTo>
                    <a:pt x="5296450" y="3851914"/>
                  </a:lnTo>
                  <a:lnTo>
                    <a:pt x="5283819" y="3855086"/>
                  </a:lnTo>
                  <a:lnTo>
                    <a:pt x="5270935" y="3856990"/>
                  </a:lnTo>
                  <a:lnTo>
                    <a:pt x="5257799" y="3857624"/>
                  </a:lnTo>
                  <a:close/>
                </a:path>
                <a:path w="5391150" h="3857625">
                  <a:moveTo>
                    <a:pt x="5307083" y="3848099"/>
                  </a:moveTo>
                  <a:lnTo>
                    <a:pt x="5265930" y="3848099"/>
                  </a:lnTo>
                  <a:lnTo>
                    <a:pt x="5273982" y="3847306"/>
                  </a:lnTo>
                  <a:lnTo>
                    <a:pt x="5289930" y="3844133"/>
                  </a:lnTo>
                  <a:lnTo>
                    <a:pt x="5333352" y="3822714"/>
                  </a:lnTo>
                  <a:lnTo>
                    <a:pt x="5365273" y="3786307"/>
                  </a:lnTo>
                  <a:lnTo>
                    <a:pt x="5380831" y="3740457"/>
                  </a:lnTo>
                  <a:lnTo>
                    <a:pt x="5381624" y="3732404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3" y="15763"/>
                  </a:lnTo>
                  <a:lnTo>
                    <a:pt x="5265930" y="9524"/>
                  </a:lnTo>
                  <a:lnTo>
                    <a:pt x="5307086" y="9524"/>
                  </a:lnTo>
                  <a:lnTo>
                    <a:pt x="5342354" y="30216"/>
                  </a:lnTo>
                  <a:lnTo>
                    <a:pt x="5368696" y="59250"/>
                  </a:lnTo>
                  <a:lnTo>
                    <a:pt x="5385439" y="94697"/>
                  </a:lnTo>
                  <a:lnTo>
                    <a:pt x="5391149" y="133349"/>
                  </a:lnTo>
                  <a:lnTo>
                    <a:pt x="5391149" y="3724274"/>
                  </a:lnTo>
                  <a:lnTo>
                    <a:pt x="5390515" y="3737410"/>
                  </a:lnTo>
                  <a:lnTo>
                    <a:pt x="5380998" y="3775305"/>
                  </a:lnTo>
                  <a:lnTo>
                    <a:pt x="5360932" y="3808829"/>
                  </a:lnTo>
                  <a:lnTo>
                    <a:pt x="5331898" y="3835171"/>
                  </a:lnTo>
                  <a:lnTo>
                    <a:pt x="5308829" y="3847473"/>
                  </a:lnTo>
                  <a:lnTo>
                    <a:pt x="5307083" y="384809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09612" y="2905124"/>
              <a:ext cx="4991100" cy="314325"/>
            </a:xfrm>
            <a:custGeom>
              <a:avLst/>
              <a:gdLst/>
              <a:ahLst/>
              <a:cxnLst/>
              <a:rect l="l" t="t" r="r" b="b"/>
              <a:pathLst>
                <a:path w="4991100" h="314325">
                  <a:moveTo>
                    <a:pt x="4991100" y="0"/>
                  </a:moveTo>
                  <a:lnTo>
                    <a:pt x="4991100" y="0"/>
                  </a:lnTo>
                  <a:lnTo>
                    <a:pt x="0" y="0"/>
                  </a:lnTo>
                  <a:lnTo>
                    <a:pt x="0" y="314325"/>
                  </a:lnTo>
                  <a:lnTo>
                    <a:pt x="4991100" y="314325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162E52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09612" y="5029200"/>
              <a:ext cx="4991100" cy="361950"/>
            </a:xfrm>
            <a:custGeom>
              <a:avLst/>
              <a:gdLst/>
              <a:ahLst/>
              <a:cxnLst/>
              <a:rect l="l" t="t" r="r" b="b"/>
              <a:pathLst>
                <a:path w="4991100" h="361950">
                  <a:moveTo>
                    <a:pt x="4991100" y="0"/>
                  </a:moveTo>
                  <a:lnTo>
                    <a:pt x="499110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4991100" y="361950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F5A623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09612" y="502920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4991100" y="0"/>
                  </a:moveTo>
                  <a:lnTo>
                    <a:pt x="49911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4991100" y="9525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162E52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96925" y="2646999"/>
            <a:ext cx="127444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LY</a:t>
            </a:r>
            <a:r>
              <a:rPr dirty="0" sz="800" spc="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0" b="1">
                <a:solidFill>
                  <a:srgbClr val="798FAC"/>
                </a:solidFill>
                <a:latin typeface="Verdana"/>
                <a:cs typeface="Verdana"/>
              </a:rPr>
              <a:t>B</a:t>
            </a:r>
            <a:r>
              <a:rPr dirty="0" sz="80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KD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O</a:t>
            </a:r>
            <a:r>
              <a:rPr dirty="0" sz="800" spc="-1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" b="1">
                <a:solidFill>
                  <a:srgbClr val="798FAC"/>
                </a:solidFill>
                <a:latin typeface="Verdana"/>
                <a:cs typeface="Verdana"/>
              </a:rPr>
              <a:t>WN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0274" y="2980374"/>
            <a:ext cx="26162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 b="1">
                <a:solidFill>
                  <a:srgbClr val="798FAC"/>
                </a:solidFill>
                <a:latin typeface="Verdana"/>
                <a:cs typeface="Verdana"/>
              </a:rPr>
              <a:t>DAY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49313" y="2980374"/>
            <a:ext cx="50292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ROU</a:t>
            </a:r>
            <a:r>
              <a:rPr dirty="0" sz="800" spc="-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TE</a:t>
            </a:r>
            <a:r>
              <a:rPr dirty="0" sz="80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45110" y="2980374"/>
            <a:ext cx="514984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ORDE</a:t>
            </a:r>
            <a:r>
              <a:rPr dirty="0" sz="80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35" b="1">
                <a:solidFill>
                  <a:srgbClr val="798FAC"/>
                </a:solidFill>
                <a:latin typeface="Verdana"/>
                <a:cs typeface="Verdana"/>
              </a:rPr>
              <a:t>RS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55342" y="2980374"/>
            <a:ext cx="85090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VOLU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35" b="1">
                <a:solidFill>
                  <a:srgbClr val="798FAC"/>
                </a:solidFill>
                <a:latin typeface="Verdana"/>
                <a:cs typeface="Verdana"/>
              </a:rPr>
              <a:t>(</a:t>
            </a:r>
            <a:r>
              <a:rPr dirty="0" sz="800" spc="-18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5" b="1">
                <a:solidFill>
                  <a:srgbClr val="798FAC"/>
                </a:solidFill>
                <a:latin typeface="Verdana"/>
                <a:cs typeface="Verdana"/>
              </a:rPr>
              <a:t>F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95" b="1">
                <a:solidFill>
                  <a:srgbClr val="798FAC"/>
                </a:solidFill>
                <a:latin typeface="Verdana"/>
                <a:cs typeface="Verdana"/>
              </a:rPr>
              <a:t>T³</a:t>
            </a:r>
            <a:r>
              <a:rPr dirty="0" sz="800" spc="-1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)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68304" y="2980374"/>
            <a:ext cx="38227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10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5" b="1">
                <a:solidFill>
                  <a:srgbClr val="798FAC"/>
                </a:solidFill>
                <a:latin typeface="Verdana"/>
                <a:cs typeface="Verdana"/>
              </a:rPr>
              <a:t>LE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809624" y="3219447"/>
          <a:ext cx="5067300" cy="1697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144"/>
                <a:gridCol w="705484"/>
                <a:gridCol w="941069"/>
                <a:gridCol w="1229995"/>
                <a:gridCol w="1079500"/>
              </a:tblGrid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Monday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9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89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24,485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1,674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Tuesday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5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54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11,069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1,350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Wednesday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3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33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8,167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475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Thursday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6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68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16,017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649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  <a:lnB w="9525">
                      <a:solidFill>
                        <a:srgbClr val="162E52"/>
                      </a:solidFill>
                      <a:prstDash val="solid"/>
                    </a:lnB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13271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Friday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5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3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17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10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5,691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ts val="1125"/>
                        </a:lnSpc>
                        <a:spcBef>
                          <a:spcPts val="760"/>
                        </a:spcBef>
                      </a:pPr>
                      <a:r>
                        <a:rPr dirty="0" sz="1000" spc="-25">
                          <a:solidFill>
                            <a:srgbClr val="324767"/>
                          </a:solidFill>
                          <a:latin typeface="Microsoft Sans Serif"/>
                          <a:cs typeface="Microsoft Sans Serif"/>
                        </a:rPr>
                        <a:t>645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6520">
                    <a:lnT w="9525">
                      <a:solidFill>
                        <a:srgbClr val="162E52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809624" y="5117164"/>
            <a:ext cx="49911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105"/>
              </a:spcBef>
              <a:tabLst>
                <a:tab pos="1252220" algn="l"/>
                <a:tab pos="2147570" algn="l"/>
                <a:tab pos="3058160" algn="l"/>
                <a:tab pos="4370705" algn="l"/>
              </a:tabLst>
            </a:pPr>
            <a:r>
              <a:rPr dirty="0" sz="1000" spc="-10" b="1">
                <a:solidFill>
                  <a:srgbClr val="C87D09"/>
                </a:solidFill>
                <a:latin typeface="Arial"/>
                <a:cs typeface="Arial"/>
              </a:rPr>
              <a:t>TOTAL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-25" b="1">
                <a:solidFill>
                  <a:srgbClr val="C87D09"/>
                </a:solidFill>
                <a:latin typeface="Arial"/>
                <a:cs typeface="Arial"/>
              </a:rPr>
              <a:t>26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-25" b="1">
                <a:solidFill>
                  <a:srgbClr val="C87D09"/>
                </a:solidFill>
                <a:latin typeface="Arial"/>
                <a:cs typeface="Arial"/>
              </a:rPr>
              <a:t>261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-10" b="1">
                <a:solidFill>
                  <a:srgbClr val="C87D09"/>
                </a:solidFill>
                <a:latin typeface="Arial"/>
                <a:cs typeface="Arial"/>
              </a:rPr>
              <a:t>65,429</a:t>
            </a:r>
            <a:r>
              <a:rPr dirty="0" sz="1000" b="1">
                <a:solidFill>
                  <a:srgbClr val="C87D09"/>
                </a:solidFill>
                <a:latin typeface="Arial"/>
                <a:cs typeface="Arial"/>
              </a:rPr>
              <a:t>	</a:t>
            </a:r>
            <a:r>
              <a:rPr dirty="0" sz="1000" spc="-10" b="1">
                <a:solidFill>
                  <a:srgbClr val="C87D09"/>
                </a:solidFill>
                <a:latin typeface="Arial"/>
                <a:cs typeface="Arial"/>
              </a:rPr>
              <a:t>4,793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191249" y="2505075"/>
            <a:ext cx="5391150" cy="3076575"/>
            <a:chOff x="6191249" y="2505075"/>
            <a:chExt cx="5391150" cy="3076575"/>
          </a:xfrm>
        </p:grpSpPr>
        <p:sp>
          <p:nvSpPr>
            <p:cNvPr id="41" name="object 41"/>
            <p:cNvSpPr/>
            <p:nvPr/>
          </p:nvSpPr>
          <p:spPr>
            <a:xfrm>
              <a:off x="6191249" y="2505075"/>
              <a:ext cx="5391150" cy="3076575"/>
            </a:xfrm>
            <a:custGeom>
              <a:avLst/>
              <a:gdLst/>
              <a:ahLst/>
              <a:cxnLst/>
              <a:rect l="l" t="t" r="r" b="b"/>
              <a:pathLst>
                <a:path w="5391150" h="3076575">
                  <a:moveTo>
                    <a:pt x="5257799" y="3076574"/>
                  </a:moveTo>
                  <a:lnTo>
                    <a:pt x="133349" y="3076574"/>
                  </a:lnTo>
                  <a:lnTo>
                    <a:pt x="120213" y="3075940"/>
                  </a:lnTo>
                  <a:lnTo>
                    <a:pt x="82318" y="3066423"/>
                  </a:lnTo>
                  <a:lnTo>
                    <a:pt x="48793" y="3046356"/>
                  </a:lnTo>
                  <a:lnTo>
                    <a:pt x="22451" y="3017323"/>
                  </a:lnTo>
                  <a:lnTo>
                    <a:pt x="5709" y="2981875"/>
                  </a:lnTo>
                  <a:lnTo>
                    <a:pt x="0" y="29432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1" y="59250"/>
                  </a:lnTo>
                  <a:lnTo>
                    <a:pt x="48793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49" y="5709"/>
                  </a:lnTo>
                  <a:lnTo>
                    <a:pt x="5331897" y="22452"/>
                  </a:lnTo>
                  <a:lnTo>
                    <a:pt x="5360931" y="48794"/>
                  </a:lnTo>
                  <a:lnTo>
                    <a:pt x="5380997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2943224"/>
                  </a:lnTo>
                  <a:lnTo>
                    <a:pt x="5385438" y="2981875"/>
                  </a:lnTo>
                  <a:lnTo>
                    <a:pt x="5368695" y="3017323"/>
                  </a:lnTo>
                  <a:lnTo>
                    <a:pt x="5342354" y="3046356"/>
                  </a:lnTo>
                  <a:lnTo>
                    <a:pt x="5308828" y="3066423"/>
                  </a:lnTo>
                  <a:lnTo>
                    <a:pt x="5270935" y="3075940"/>
                  </a:lnTo>
                  <a:lnTo>
                    <a:pt x="5257799" y="307657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191249" y="2505075"/>
              <a:ext cx="5391150" cy="3076575"/>
            </a:xfrm>
            <a:custGeom>
              <a:avLst/>
              <a:gdLst/>
              <a:ahLst/>
              <a:cxnLst/>
              <a:rect l="l" t="t" r="r" b="b"/>
              <a:pathLst>
                <a:path w="5391150" h="3076575">
                  <a:moveTo>
                    <a:pt x="5257799" y="3076574"/>
                  </a:moveTo>
                  <a:lnTo>
                    <a:pt x="133349" y="3076574"/>
                  </a:lnTo>
                  <a:lnTo>
                    <a:pt x="120213" y="3075940"/>
                  </a:lnTo>
                  <a:lnTo>
                    <a:pt x="82318" y="3066423"/>
                  </a:lnTo>
                  <a:lnTo>
                    <a:pt x="48793" y="3046357"/>
                  </a:lnTo>
                  <a:lnTo>
                    <a:pt x="22451" y="3017323"/>
                  </a:lnTo>
                  <a:lnTo>
                    <a:pt x="5709" y="2981876"/>
                  </a:lnTo>
                  <a:lnTo>
                    <a:pt x="0" y="29432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1" y="59250"/>
                  </a:lnTo>
                  <a:lnTo>
                    <a:pt x="48793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8" y="2537"/>
                  </a:lnTo>
                  <a:lnTo>
                    <a:pt x="5296449" y="5709"/>
                  </a:lnTo>
                  <a:lnTo>
                    <a:pt x="5307085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951355"/>
                  </a:lnTo>
                  <a:lnTo>
                    <a:pt x="22061" y="2998121"/>
                  </a:lnTo>
                  <a:lnTo>
                    <a:pt x="51541" y="3036531"/>
                  </a:lnTo>
                  <a:lnTo>
                    <a:pt x="93475" y="3060735"/>
                  </a:lnTo>
                  <a:lnTo>
                    <a:pt x="125219" y="3067049"/>
                  </a:lnTo>
                  <a:lnTo>
                    <a:pt x="5307084" y="3067049"/>
                  </a:lnTo>
                  <a:lnTo>
                    <a:pt x="5296449" y="3070864"/>
                  </a:lnTo>
                  <a:lnTo>
                    <a:pt x="5283818" y="3074036"/>
                  </a:lnTo>
                  <a:lnTo>
                    <a:pt x="5270935" y="3075940"/>
                  </a:lnTo>
                  <a:lnTo>
                    <a:pt x="5257799" y="3076574"/>
                  </a:lnTo>
                  <a:close/>
                </a:path>
                <a:path w="5391150" h="3076575">
                  <a:moveTo>
                    <a:pt x="5307084" y="3067049"/>
                  </a:moveTo>
                  <a:lnTo>
                    <a:pt x="5265930" y="3067049"/>
                  </a:lnTo>
                  <a:lnTo>
                    <a:pt x="5273982" y="3066256"/>
                  </a:lnTo>
                  <a:lnTo>
                    <a:pt x="5289930" y="3063083"/>
                  </a:lnTo>
                  <a:lnTo>
                    <a:pt x="5333352" y="3041664"/>
                  </a:lnTo>
                  <a:lnTo>
                    <a:pt x="5365273" y="3005257"/>
                  </a:lnTo>
                  <a:lnTo>
                    <a:pt x="5380831" y="2959407"/>
                  </a:lnTo>
                  <a:lnTo>
                    <a:pt x="5381624" y="2951355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3" y="15763"/>
                  </a:lnTo>
                  <a:lnTo>
                    <a:pt x="5265930" y="9524"/>
                  </a:lnTo>
                  <a:lnTo>
                    <a:pt x="5307085" y="9524"/>
                  </a:lnTo>
                  <a:lnTo>
                    <a:pt x="5342354" y="30216"/>
                  </a:lnTo>
                  <a:lnTo>
                    <a:pt x="5368695" y="59250"/>
                  </a:lnTo>
                  <a:lnTo>
                    <a:pt x="5385438" y="94697"/>
                  </a:lnTo>
                  <a:lnTo>
                    <a:pt x="5391149" y="133349"/>
                  </a:lnTo>
                  <a:lnTo>
                    <a:pt x="5391149" y="2943224"/>
                  </a:lnTo>
                  <a:lnTo>
                    <a:pt x="5390515" y="2956360"/>
                  </a:lnTo>
                  <a:lnTo>
                    <a:pt x="5380997" y="2994255"/>
                  </a:lnTo>
                  <a:lnTo>
                    <a:pt x="5360931" y="3027779"/>
                  </a:lnTo>
                  <a:lnTo>
                    <a:pt x="5331898" y="3054121"/>
                  </a:lnTo>
                  <a:lnTo>
                    <a:pt x="5308829" y="3066423"/>
                  </a:lnTo>
                  <a:lnTo>
                    <a:pt x="5307084" y="306704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6359525" y="2627949"/>
            <a:ext cx="158686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LY</a:t>
            </a:r>
            <a:r>
              <a:rPr dirty="0" sz="800" spc="-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798FAC"/>
                </a:solidFill>
                <a:latin typeface="Verdana"/>
                <a:cs typeface="Verdana"/>
              </a:rPr>
              <a:t>L</a:t>
            </a:r>
            <a:r>
              <a:rPr dirty="0" sz="80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13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—</a:t>
            </a:r>
            <a:r>
              <a:rPr dirty="0" sz="800" spc="9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Q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3</a:t>
            </a:r>
            <a:r>
              <a:rPr dirty="0" sz="800" spc="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30" b="1">
                <a:solidFill>
                  <a:srgbClr val="798FAC"/>
                </a:solidFill>
                <a:latin typeface="Verdana"/>
                <a:cs typeface="Verdana"/>
              </a:rPr>
              <a:t>V</a:t>
            </a:r>
            <a:r>
              <a:rPr dirty="0" sz="800" spc="-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Q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350" b="1">
                <a:solidFill>
                  <a:srgbClr val="798FAC"/>
                </a:solidFill>
                <a:latin typeface="Verdana"/>
                <a:cs typeface="Verdana"/>
              </a:rPr>
              <a:t>1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191249" y="5714999"/>
            <a:ext cx="5391150" cy="647700"/>
            <a:chOff x="6191249" y="5714999"/>
            <a:chExt cx="5391150" cy="647700"/>
          </a:xfrm>
        </p:grpSpPr>
        <p:sp>
          <p:nvSpPr>
            <p:cNvPr id="45" name="object 45"/>
            <p:cNvSpPr/>
            <p:nvPr/>
          </p:nvSpPr>
          <p:spPr>
            <a:xfrm>
              <a:off x="6191249" y="5714999"/>
              <a:ext cx="5391150" cy="647700"/>
            </a:xfrm>
            <a:custGeom>
              <a:avLst/>
              <a:gdLst/>
              <a:ahLst/>
              <a:cxnLst/>
              <a:rect l="l" t="t" r="r" b="b"/>
              <a:pathLst>
                <a:path w="5391150" h="647700">
                  <a:moveTo>
                    <a:pt x="5276849" y="647699"/>
                  </a:moveTo>
                  <a:lnTo>
                    <a:pt x="114299" y="647699"/>
                  </a:lnTo>
                  <a:lnTo>
                    <a:pt x="103040" y="647155"/>
                  </a:lnTo>
                  <a:lnTo>
                    <a:pt x="60363" y="634187"/>
                  </a:lnTo>
                  <a:lnTo>
                    <a:pt x="25899" y="605875"/>
                  </a:lnTo>
                  <a:lnTo>
                    <a:pt x="4893" y="566529"/>
                  </a:lnTo>
                  <a:lnTo>
                    <a:pt x="0" y="5333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276849" y="0"/>
                  </a:lnTo>
                  <a:lnTo>
                    <a:pt x="5320589" y="8700"/>
                  </a:lnTo>
                  <a:lnTo>
                    <a:pt x="5357671" y="33477"/>
                  </a:lnTo>
                  <a:lnTo>
                    <a:pt x="5382448" y="70558"/>
                  </a:lnTo>
                  <a:lnTo>
                    <a:pt x="5391149" y="114299"/>
                  </a:lnTo>
                  <a:lnTo>
                    <a:pt x="5391149" y="533399"/>
                  </a:lnTo>
                  <a:lnTo>
                    <a:pt x="5382448" y="577140"/>
                  </a:lnTo>
                  <a:lnTo>
                    <a:pt x="5357671" y="614221"/>
                  </a:lnTo>
                  <a:lnTo>
                    <a:pt x="5320589" y="638998"/>
                  </a:lnTo>
                  <a:lnTo>
                    <a:pt x="5276849" y="647699"/>
                  </a:lnTo>
                  <a:close/>
                </a:path>
              </a:pathLst>
            </a:custGeom>
            <a:solidFill>
              <a:srgbClr val="33D399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191249" y="5714999"/>
              <a:ext cx="5391150" cy="647700"/>
            </a:xfrm>
            <a:custGeom>
              <a:avLst/>
              <a:gdLst/>
              <a:ahLst/>
              <a:cxnLst/>
              <a:rect l="l" t="t" r="r" b="b"/>
              <a:pathLst>
                <a:path w="5391150" h="647700">
                  <a:moveTo>
                    <a:pt x="5276849" y="647699"/>
                  </a:moveTo>
                  <a:lnTo>
                    <a:pt x="114299" y="647699"/>
                  </a:lnTo>
                  <a:lnTo>
                    <a:pt x="103040" y="647155"/>
                  </a:lnTo>
                  <a:lnTo>
                    <a:pt x="60363" y="634187"/>
                  </a:lnTo>
                  <a:lnTo>
                    <a:pt x="25899" y="605875"/>
                  </a:lnTo>
                  <a:lnTo>
                    <a:pt x="4893" y="566529"/>
                  </a:lnTo>
                  <a:lnTo>
                    <a:pt x="0" y="5333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276849" y="0"/>
                  </a:lnTo>
                  <a:lnTo>
                    <a:pt x="5320589" y="8700"/>
                  </a:lnTo>
                  <a:lnTo>
                    <a:pt x="5322337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540279"/>
                  </a:lnTo>
                  <a:lnTo>
                    <a:pt x="20133" y="579851"/>
                  </a:lnTo>
                  <a:lnTo>
                    <a:pt x="45077" y="612351"/>
                  </a:lnTo>
                  <a:lnTo>
                    <a:pt x="80560" y="632831"/>
                  </a:lnTo>
                  <a:lnTo>
                    <a:pt x="107420" y="638174"/>
                  </a:lnTo>
                  <a:lnTo>
                    <a:pt x="5322335" y="638174"/>
                  </a:lnTo>
                  <a:lnTo>
                    <a:pt x="5320589" y="638998"/>
                  </a:lnTo>
                  <a:lnTo>
                    <a:pt x="5309978" y="642805"/>
                  </a:lnTo>
                  <a:lnTo>
                    <a:pt x="5299151" y="645524"/>
                  </a:lnTo>
                  <a:lnTo>
                    <a:pt x="5288108" y="647155"/>
                  </a:lnTo>
                  <a:lnTo>
                    <a:pt x="5276849" y="647699"/>
                  </a:lnTo>
                  <a:close/>
                </a:path>
                <a:path w="5391150" h="647700">
                  <a:moveTo>
                    <a:pt x="5322335" y="638174"/>
                  </a:moveTo>
                  <a:lnTo>
                    <a:pt x="5283729" y="638174"/>
                  </a:lnTo>
                  <a:lnTo>
                    <a:pt x="5290542" y="637503"/>
                  </a:lnTo>
                  <a:lnTo>
                    <a:pt x="5304037" y="634819"/>
                  </a:lnTo>
                  <a:lnTo>
                    <a:pt x="5340778" y="616694"/>
                  </a:lnTo>
                  <a:lnTo>
                    <a:pt x="5367787" y="585889"/>
                  </a:lnTo>
                  <a:lnTo>
                    <a:pt x="5380952" y="547092"/>
                  </a:lnTo>
                  <a:lnTo>
                    <a:pt x="5381624" y="540279"/>
                  </a:lnTo>
                  <a:lnTo>
                    <a:pt x="5381624" y="107420"/>
                  </a:lnTo>
                  <a:lnTo>
                    <a:pt x="5371015" y="67848"/>
                  </a:lnTo>
                  <a:lnTo>
                    <a:pt x="5346071" y="35348"/>
                  </a:lnTo>
                  <a:lnTo>
                    <a:pt x="5310588" y="14867"/>
                  </a:lnTo>
                  <a:lnTo>
                    <a:pt x="5283729" y="9524"/>
                  </a:lnTo>
                  <a:lnTo>
                    <a:pt x="5322337" y="9524"/>
                  </a:lnTo>
                  <a:lnTo>
                    <a:pt x="5357671" y="33477"/>
                  </a:lnTo>
                  <a:lnTo>
                    <a:pt x="5382448" y="70558"/>
                  </a:lnTo>
                  <a:lnTo>
                    <a:pt x="5391149" y="114299"/>
                  </a:lnTo>
                  <a:lnTo>
                    <a:pt x="5391149" y="533399"/>
                  </a:lnTo>
                  <a:lnTo>
                    <a:pt x="5390605" y="544659"/>
                  </a:lnTo>
                  <a:lnTo>
                    <a:pt x="5377637" y="587334"/>
                  </a:lnTo>
                  <a:lnTo>
                    <a:pt x="5349325" y="621799"/>
                  </a:lnTo>
                  <a:lnTo>
                    <a:pt x="5330784" y="634187"/>
                  </a:lnTo>
                  <a:lnTo>
                    <a:pt x="5322335" y="638174"/>
                  </a:lnTo>
                  <a:close/>
                </a:path>
              </a:pathLst>
            </a:custGeom>
            <a:solidFill>
              <a:srgbClr val="33D39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6359525" y="5793947"/>
            <a:ext cx="1160780" cy="42989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325"/>
              </a:spcBef>
            </a:pPr>
            <a:r>
              <a:rPr dirty="0" sz="1600" spc="-10" b="1">
                <a:solidFill>
                  <a:srgbClr val="098F60"/>
                </a:solidFill>
                <a:latin typeface="Verdana"/>
                <a:cs typeface="Verdana"/>
              </a:rPr>
              <a:t>99,892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ANNUAL</a:t>
            </a:r>
            <a:r>
              <a:rPr dirty="0" sz="750" spc="24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798FAC"/>
                </a:solidFill>
                <a:latin typeface="Microsoft Sans Serif"/>
                <a:cs typeface="Microsoft Sans Serif"/>
              </a:rPr>
              <a:t>MI</a:t>
            </a:r>
            <a:r>
              <a:rPr dirty="0" sz="750" spc="-4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LES</a:t>
            </a:r>
            <a:r>
              <a:rPr dirty="0" sz="750" spc="23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0">
                <a:solidFill>
                  <a:srgbClr val="798FAC"/>
                </a:solidFill>
                <a:latin typeface="Microsoft Sans Serif"/>
                <a:cs typeface="Microsoft Sans Serif"/>
              </a:rPr>
              <a:t>SAVED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372225" y="2867025"/>
            <a:ext cx="5029200" cy="3352800"/>
            <a:chOff x="6372225" y="2867025"/>
            <a:chExt cx="5029200" cy="3352800"/>
          </a:xfrm>
        </p:grpSpPr>
        <p:sp>
          <p:nvSpPr>
            <p:cNvPr id="49" name="object 49"/>
            <p:cNvSpPr/>
            <p:nvPr/>
          </p:nvSpPr>
          <p:spPr>
            <a:xfrm>
              <a:off x="7705712" y="5857875"/>
              <a:ext cx="1438275" cy="361950"/>
            </a:xfrm>
            <a:custGeom>
              <a:avLst/>
              <a:gdLst/>
              <a:ahLst/>
              <a:cxnLst/>
              <a:rect l="l" t="t" r="r" b="b"/>
              <a:pathLst>
                <a:path w="1438275" h="361950">
                  <a:moveTo>
                    <a:pt x="952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9525" y="361950"/>
                  </a:lnTo>
                  <a:lnTo>
                    <a:pt x="9525" y="0"/>
                  </a:lnTo>
                  <a:close/>
                </a:path>
                <a:path w="1438275" h="361950">
                  <a:moveTo>
                    <a:pt x="1438275" y="0"/>
                  </a:moveTo>
                  <a:lnTo>
                    <a:pt x="1428750" y="0"/>
                  </a:lnTo>
                  <a:lnTo>
                    <a:pt x="1428750" y="361950"/>
                  </a:lnTo>
                  <a:lnTo>
                    <a:pt x="1438275" y="361950"/>
                  </a:lnTo>
                  <a:lnTo>
                    <a:pt x="1438275" y="0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2225" y="2867025"/>
              <a:ext cx="5029199" cy="1714499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7894091" y="5793947"/>
            <a:ext cx="1050925" cy="42989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 marL="16510">
              <a:lnSpc>
                <a:spcPct val="100000"/>
              </a:lnSpc>
              <a:spcBef>
                <a:spcPts val="325"/>
              </a:spcBef>
            </a:pPr>
            <a:r>
              <a:rPr dirty="0" sz="1600" spc="-10" b="1">
                <a:solidFill>
                  <a:srgbClr val="098F60"/>
                </a:solidFill>
                <a:latin typeface="Verdana"/>
                <a:cs typeface="Verdana"/>
              </a:rPr>
              <a:t>249,236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ANNUAL</a:t>
            </a:r>
            <a:r>
              <a:rPr dirty="0" sz="750" spc="28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798FAC"/>
                </a:solidFill>
                <a:latin typeface="Microsoft Sans Serif"/>
                <a:cs typeface="Microsoft Sans Serif"/>
              </a:rPr>
              <a:t>MI</a:t>
            </a:r>
            <a:r>
              <a:rPr dirty="0" sz="750" spc="-2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LES</a:t>
            </a:r>
            <a:r>
              <a:rPr dirty="0" sz="750" spc="27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(Q3</a:t>
            </a:r>
            <a:r>
              <a:rPr dirty="0" sz="750" spc="-8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50">
                <a:solidFill>
                  <a:srgbClr val="798FAC"/>
                </a:solidFill>
                <a:latin typeface="Microsoft Sans Serif"/>
                <a:cs typeface="Microsoft Sans Serif"/>
              </a:rPr>
              <a:t>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222483" y="6501570"/>
            <a:ext cx="374650" cy="128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850" spc="-30" b="1">
                <a:solidFill>
                  <a:srgbClr val="B3BAC6"/>
                </a:solidFill>
                <a:latin typeface="Verdana"/>
                <a:cs typeface="Verdana"/>
              </a:rPr>
              <a:t>09</a:t>
            </a:r>
            <a:r>
              <a:rPr dirty="0" sz="850" spc="-110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260" b="1">
                <a:solidFill>
                  <a:srgbClr val="B3BAC6"/>
                </a:solidFill>
                <a:latin typeface="Verdana"/>
                <a:cs typeface="Verdana"/>
              </a:rPr>
              <a:t>/</a:t>
            </a:r>
            <a:r>
              <a:rPr dirty="0" sz="850" spc="-120" b="1">
                <a:solidFill>
                  <a:srgbClr val="B3BAC6"/>
                </a:solidFill>
                <a:latin typeface="Verdana"/>
                <a:cs typeface="Verdana"/>
              </a:rPr>
              <a:t> </a:t>
            </a:r>
            <a:r>
              <a:rPr dirty="0" sz="850" spc="-114" b="1">
                <a:solidFill>
                  <a:srgbClr val="B3BAC6"/>
                </a:solidFill>
                <a:latin typeface="Verdana"/>
                <a:cs typeface="Verdana"/>
              </a:rPr>
              <a:t>15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9321501" y="5793947"/>
            <a:ext cx="1116330" cy="42989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325"/>
              </a:spcBef>
            </a:pPr>
            <a:r>
              <a:rPr dirty="0" sz="1600" spc="-25" b="1">
                <a:solidFill>
                  <a:srgbClr val="098F60"/>
                </a:solidFill>
                <a:latin typeface="Verdana"/>
                <a:cs typeface="Verdana"/>
              </a:rPr>
              <a:t>Wed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MOST</a:t>
            </a:r>
            <a:r>
              <a:rPr dirty="0" sz="750" spc="19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798FAC"/>
                </a:solidFill>
                <a:latin typeface="Microsoft Sans Serif"/>
                <a:cs typeface="Microsoft Sans Serif"/>
              </a:rPr>
              <a:t>EFFI</a:t>
            </a:r>
            <a:r>
              <a:rPr dirty="0" sz="750" spc="-5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798FAC"/>
                </a:solidFill>
                <a:latin typeface="Microsoft Sans Serif"/>
                <a:cs typeface="Microsoft Sans Serif"/>
              </a:rPr>
              <a:t>CI</a:t>
            </a:r>
            <a:r>
              <a:rPr dirty="0" sz="750" spc="-5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ENT</a:t>
            </a:r>
            <a:r>
              <a:rPr dirty="0" sz="750" spc="19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798FAC"/>
                </a:solidFill>
                <a:latin typeface="Microsoft Sans Serif"/>
                <a:cs typeface="Microsoft Sans Serif"/>
              </a:rPr>
              <a:t>DAY</a:t>
            </a:r>
            <a:endParaRPr sz="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1408749"/>
            <a:ext cx="131826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95" b="1">
                <a:solidFill>
                  <a:srgbClr val="C87D09"/>
                </a:solidFill>
                <a:latin typeface="Verdana"/>
                <a:cs typeface="Verdana"/>
              </a:rPr>
              <a:t>H</a:t>
            </a:r>
            <a:r>
              <a:rPr dirty="0" sz="800" spc="-3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2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B</a:t>
            </a: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sz="800" spc="-9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9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M</a:t>
            </a:r>
            <a:r>
              <a:rPr dirty="0" sz="800" spc="3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L</a:t>
            </a:r>
            <a:r>
              <a:rPr dirty="0" sz="800" spc="-6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N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899" y="1559283"/>
            <a:ext cx="2770505" cy="99885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just" marL="12700" marR="5080">
              <a:lnSpc>
                <a:spcPct val="88300"/>
              </a:lnSpc>
              <a:spcBef>
                <a:spcPts val="445"/>
              </a:spcBef>
            </a:pPr>
            <a:r>
              <a:rPr dirty="0" sz="2300" spc="-245" b="1">
                <a:solidFill>
                  <a:srgbClr val="1B3258"/>
                </a:solidFill>
                <a:latin typeface="Verdana"/>
                <a:cs typeface="Verdana"/>
              </a:rPr>
              <a:t>Sched</a:t>
            </a:r>
            <a:r>
              <a:rPr dirty="0" sz="2250" spc="-245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2300" spc="-245" b="1">
                <a:solidFill>
                  <a:srgbClr val="1B3258"/>
                </a:solidFill>
                <a:latin typeface="Verdana"/>
                <a:cs typeface="Verdana"/>
              </a:rPr>
              <a:t>le</a:t>
            </a:r>
            <a:r>
              <a:rPr dirty="0" sz="2300" spc="5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2300" spc="-105" b="1">
                <a:solidFill>
                  <a:srgbClr val="1B3258"/>
                </a:solidFill>
                <a:latin typeface="Verdana"/>
                <a:cs typeface="Verdana"/>
              </a:rPr>
              <a:t>fle</a:t>
            </a:r>
            <a:r>
              <a:rPr dirty="0" sz="2250" spc="-105" b="1">
                <a:solidFill>
                  <a:srgbClr val="1B3258"/>
                </a:solidFill>
                <a:latin typeface="Verdana"/>
                <a:cs typeface="Verdana"/>
              </a:rPr>
              <a:t>x</a:t>
            </a:r>
            <a:r>
              <a:rPr dirty="0" sz="2300" spc="-105" b="1">
                <a:solidFill>
                  <a:srgbClr val="1B3258"/>
                </a:solidFill>
                <a:latin typeface="Verdana"/>
                <a:cs typeface="Verdana"/>
              </a:rPr>
              <a:t>ibilit</a:t>
            </a:r>
            <a:r>
              <a:rPr dirty="0" sz="2250" spc="-105" b="1">
                <a:solidFill>
                  <a:srgbClr val="1B3258"/>
                </a:solidFill>
                <a:latin typeface="Verdana"/>
                <a:cs typeface="Verdana"/>
              </a:rPr>
              <a:t>y </a:t>
            </a:r>
            <a:r>
              <a:rPr dirty="0" sz="2300" spc="-330" b="1">
                <a:solidFill>
                  <a:srgbClr val="1B3258"/>
                </a:solidFill>
                <a:latin typeface="Verdana"/>
                <a:cs typeface="Verdana"/>
              </a:rPr>
              <a:t>sa</a:t>
            </a:r>
            <a:r>
              <a:rPr dirty="0" sz="2250" spc="-330" b="1">
                <a:solidFill>
                  <a:srgbClr val="1B3258"/>
                </a:solidFill>
                <a:latin typeface="Verdana"/>
                <a:cs typeface="Verdana"/>
              </a:rPr>
              <a:t>v</a:t>
            </a:r>
            <a:r>
              <a:rPr dirty="0" sz="2300" spc="-330" b="1">
                <a:solidFill>
                  <a:srgbClr val="1B3258"/>
                </a:solidFill>
                <a:latin typeface="Verdana"/>
                <a:cs typeface="Verdana"/>
              </a:rPr>
              <a:t>es</a:t>
            </a:r>
            <a:r>
              <a:rPr dirty="0" sz="2300" spc="13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2300" spc="-470" b="1">
                <a:solidFill>
                  <a:srgbClr val="098F60"/>
                </a:solidFill>
                <a:latin typeface="Verdana"/>
                <a:cs typeface="Verdana"/>
              </a:rPr>
              <a:t>~1</a:t>
            </a:r>
            <a:r>
              <a:rPr dirty="0" sz="2250" spc="-470" b="1">
                <a:solidFill>
                  <a:srgbClr val="098F60"/>
                </a:solidFill>
                <a:latin typeface="Verdana"/>
                <a:cs typeface="Verdana"/>
              </a:rPr>
              <a:t>00</a:t>
            </a:r>
            <a:r>
              <a:rPr dirty="0" sz="2300" spc="-470" b="1">
                <a:solidFill>
                  <a:srgbClr val="098F60"/>
                </a:solidFill>
                <a:latin typeface="Verdana"/>
                <a:cs typeface="Verdana"/>
              </a:rPr>
              <a:t>K</a:t>
            </a:r>
            <a:r>
              <a:rPr dirty="0" sz="2300" spc="275" b="1">
                <a:solidFill>
                  <a:srgbClr val="098F60"/>
                </a:solidFill>
                <a:latin typeface="Verdana"/>
                <a:cs typeface="Verdana"/>
              </a:rPr>
              <a:t> </a:t>
            </a:r>
            <a:r>
              <a:rPr dirty="0" sz="2300" spc="-295" b="1">
                <a:solidFill>
                  <a:srgbClr val="098F60"/>
                </a:solidFill>
                <a:latin typeface="Verdana"/>
                <a:cs typeface="Verdana"/>
              </a:rPr>
              <a:t>miles</a:t>
            </a:r>
            <a:r>
              <a:rPr dirty="0" sz="2300" spc="140" b="1">
                <a:solidFill>
                  <a:srgbClr val="098F60"/>
                </a:solidFill>
                <a:latin typeface="Verdana"/>
                <a:cs typeface="Verdana"/>
              </a:rPr>
              <a:t> </a:t>
            </a:r>
            <a:r>
              <a:rPr dirty="0" sz="2300" spc="-345" b="1">
                <a:solidFill>
                  <a:srgbClr val="1B3258"/>
                </a:solidFill>
                <a:latin typeface="Verdana"/>
                <a:cs typeface="Verdana"/>
              </a:rPr>
              <a:t>a </a:t>
            </a:r>
            <a:r>
              <a:rPr dirty="0" sz="2250" spc="-310" b="1">
                <a:solidFill>
                  <a:srgbClr val="1B3258"/>
                </a:solidFill>
                <a:latin typeface="Verdana"/>
                <a:cs typeface="Verdana"/>
              </a:rPr>
              <a:t>y</a:t>
            </a:r>
            <a:r>
              <a:rPr dirty="0" sz="2300" spc="-310" b="1">
                <a:solidFill>
                  <a:srgbClr val="1B3258"/>
                </a:solidFill>
                <a:latin typeface="Verdana"/>
                <a:cs typeface="Verdana"/>
              </a:rPr>
              <a:t>ear.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9599" y="2838447"/>
            <a:ext cx="2752725" cy="1266825"/>
            <a:chOff x="609599" y="2838447"/>
            <a:chExt cx="2752725" cy="1266825"/>
          </a:xfrm>
        </p:grpSpPr>
        <p:sp>
          <p:nvSpPr>
            <p:cNvPr id="5" name="object 5"/>
            <p:cNvSpPr/>
            <p:nvPr/>
          </p:nvSpPr>
          <p:spPr>
            <a:xfrm>
              <a:off x="609599" y="2838447"/>
              <a:ext cx="38100" cy="495300"/>
            </a:xfrm>
            <a:custGeom>
              <a:avLst/>
              <a:gdLst/>
              <a:ahLst/>
              <a:cxnLst/>
              <a:rect l="l" t="t" r="r" b="b"/>
              <a:pathLst>
                <a:path w="38100" h="495300">
                  <a:moveTo>
                    <a:pt x="21576" y="495295"/>
                  </a:moveTo>
                  <a:lnTo>
                    <a:pt x="16523" y="495295"/>
                  </a:lnTo>
                  <a:lnTo>
                    <a:pt x="14093" y="494811"/>
                  </a:lnTo>
                  <a:lnTo>
                    <a:pt x="0" y="478766"/>
                  </a:lnTo>
                  <a:lnTo>
                    <a:pt x="0" y="476249"/>
                  </a:lnTo>
                  <a:lnTo>
                    <a:pt x="0" y="16520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099" y="16520"/>
                  </a:lnTo>
                  <a:lnTo>
                    <a:pt x="38099" y="478766"/>
                  </a:lnTo>
                  <a:lnTo>
                    <a:pt x="24006" y="494811"/>
                  </a:lnTo>
                  <a:lnTo>
                    <a:pt x="21576" y="495295"/>
                  </a:lnTo>
                  <a:close/>
                </a:path>
              </a:pathLst>
            </a:custGeom>
            <a:solidFill>
              <a:srgbClr val="0086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9599" y="3609972"/>
              <a:ext cx="38100" cy="495300"/>
            </a:xfrm>
            <a:custGeom>
              <a:avLst/>
              <a:gdLst/>
              <a:ahLst/>
              <a:cxnLst/>
              <a:rect l="l" t="t" r="r" b="b"/>
              <a:pathLst>
                <a:path w="38100" h="495300">
                  <a:moveTo>
                    <a:pt x="21576" y="495295"/>
                  </a:moveTo>
                  <a:lnTo>
                    <a:pt x="16523" y="495295"/>
                  </a:lnTo>
                  <a:lnTo>
                    <a:pt x="14093" y="494811"/>
                  </a:lnTo>
                  <a:lnTo>
                    <a:pt x="0" y="478770"/>
                  </a:lnTo>
                  <a:lnTo>
                    <a:pt x="0" y="476249"/>
                  </a:lnTo>
                  <a:lnTo>
                    <a:pt x="0" y="16520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099" y="16520"/>
                  </a:lnTo>
                  <a:lnTo>
                    <a:pt x="38099" y="478770"/>
                  </a:lnTo>
                  <a:lnTo>
                    <a:pt x="24006" y="494811"/>
                  </a:lnTo>
                  <a:lnTo>
                    <a:pt x="21576" y="495295"/>
                  </a:lnTo>
                  <a:close/>
                </a:path>
              </a:pathLst>
            </a:custGeom>
            <a:solidFill>
              <a:srgbClr val="C87D0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867024" y="3743325"/>
              <a:ext cx="495300" cy="219075"/>
            </a:xfrm>
            <a:custGeom>
              <a:avLst/>
              <a:gdLst/>
              <a:ahLst/>
              <a:cxnLst/>
              <a:rect l="l" t="t" r="r" b="b"/>
              <a:pathLst>
                <a:path w="495300" h="219075">
                  <a:moveTo>
                    <a:pt x="38576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5"/>
                  </a:lnTo>
                  <a:lnTo>
                    <a:pt x="24821" y="178993"/>
                  </a:lnTo>
                  <a:lnTo>
                    <a:pt x="4689" y="141286"/>
                  </a:lnTo>
                  <a:lnTo>
                    <a:pt x="0" y="109537"/>
                  </a:lnTo>
                  <a:lnTo>
                    <a:pt x="521" y="98746"/>
                  </a:lnTo>
                  <a:lnTo>
                    <a:pt x="12948" y="57848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385762" y="0"/>
                  </a:lnTo>
                  <a:lnTo>
                    <a:pt x="427680" y="8337"/>
                  </a:lnTo>
                  <a:lnTo>
                    <a:pt x="463216" y="32082"/>
                  </a:lnTo>
                  <a:lnTo>
                    <a:pt x="486961" y="67618"/>
                  </a:lnTo>
                  <a:lnTo>
                    <a:pt x="495299" y="109537"/>
                  </a:lnTo>
                  <a:lnTo>
                    <a:pt x="494778" y="120327"/>
                  </a:lnTo>
                  <a:lnTo>
                    <a:pt x="482350" y="161224"/>
                  </a:lnTo>
                  <a:lnTo>
                    <a:pt x="455218" y="194253"/>
                  </a:lnTo>
                  <a:lnTo>
                    <a:pt x="417511" y="214384"/>
                  </a:lnTo>
                  <a:lnTo>
                    <a:pt x="385762" y="219074"/>
                  </a:lnTo>
                  <a:close/>
                </a:path>
              </a:pathLst>
            </a:custGeom>
            <a:solidFill>
              <a:srgbClr val="B41D1D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867024" y="3743325"/>
              <a:ext cx="495300" cy="219075"/>
            </a:xfrm>
            <a:custGeom>
              <a:avLst/>
              <a:gdLst/>
              <a:ahLst/>
              <a:cxnLst/>
              <a:rect l="l" t="t" r="r" b="b"/>
              <a:pathLst>
                <a:path w="495300" h="219075">
                  <a:moveTo>
                    <a:pt x="38576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5"/>
                  </a:lnTo>
                  <a:lnTo>
                    <a:pt x="24821" y="178993"/>
                  </a:lnTo>
                  <a:lnTo>
                    <a:pt x="18560" y="170561"/>
                  </a:lnTo>
                  <a:lnTo>
                    <a:pt x="18443" y="170404"/>
                  </a:lnTo>
                  <a:lnTo>
                    <a:pt x="2084" y="130910"/>
                  </a:lnTo>
                  <a:lnTo>
                    <a:pt x="0" y="109537"/>
                  </a:lnTo>
                  <a:lnTo>
                    <a:pt x="521" y="98746"/>
                  </a:lnTo>
                  <a:lnTo>
                    <a:pt x="12948" y="57848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385762" y="0"/>
                  </a:lnTo>
                  <a:lnTo>
                    <a:pt x="427680" y="8337"/>
                  </a:lnTo>
                  <a:lnTo>
                    <a:pt x="430195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0" y="153877"/>
                  </a:lnTo>
                  <a:lnTo>
                    <a:pt x="43461" y="184900"/>
                  </a:lnTo>
                  <a:lnTo>
                    <a:pt x="77331" y="204449"/>
                  </a:lnTo>
                  <a:lnTo>
                    <a:pt x="102970" y="209549"/>
                  </a:lnTo>
                  <a:lnTo>
                    <a:pt x="430193" y="209549"/>
                  </a:lnTo>
                  <a:lnTo>
                    <a:pt x="427680" y="210736"/>
                  </a:lnTo>
                  <a:lnTo>
                    <a:pt x="417511" y="214384"/>
                  </a:lnTo>
                  <a:lnTo>
                    <a:pt x="407135" y="216990"/>
                  </a:lnTo>
                  <a:lnTo>
                    <a:pt x="396552" y="218553"/>
                  </a:lnTo>
                  <a:lnTo>
                    <a:pt x="385762" y="219074"/>
                  </a:lnTo>
                  <a:close/>
                </a:path>
                <a:path w="495300" h="219075">
                  <a:moveTo>
                    <a:pt x="430193" y="209549"/>
                  </a:moveTo>
                  <a:lnTo>
                    <a:pt x="392329" y="209549"/>
                  </a:lnTo>
                  <a:lnTo>
                    <a:pt x="398833" y="208909"/>
                  </a:lnTo>
                  <a:lnTo>
                    <a:pt x="411714" y="206347"/>
                  </a:lnTo>
                  <a:lnTo>
                    <a:pt x="446786" y="189046"/>
                  </a:lnTo>
                  <a:lnTo>
                    <a:pt x="472568" y="159641"/>
                  </a:lnTo>
                  <a:lnTo>
                    <a:pt x="485134" y="122608"/>
                  </a:lnTo>
                  <a:lnTo>
                    <a:pt x="485774" y="116104"/>
                  </a:lnTo>
                  <a:lnTo>
                    <a:pt x="485774" y="102970"/>
                  </a:lnTo>
                  <a:lnTo>
                    <a:pt x="475648" y="65197"/>
                  </a:lnTo>
                  <a:lnTo>
                    <a:pt x="465375" y="48669"/>
                  </a:lnTo>
                  <a:lnTo>
                    <a:pt x="465271" y="48513"/>
                  </a:lnTo>
                  <a:lnTo>
                    <a:pt x="435866" y="22731"/>
                  </a:lnTo>
                  <a:lnTo>
                    <a:pt x="398833" y="10165"/>
                  </a:lnTo>
                  <a:lnTo>
                    <a:pt x="392329" y="9524"/>
                  </a:lnTo>
                  <a:lnTo>
                    <a:pt x="430195" y="9524"/>
                  </a:lnTo>
                  <a:lnTo>
                    <a:pt x="463216" y="32082"/>
                  </a:lnTo>
                  <a:lnTo>
                    <a:pt x="486961" y="67618"/>
                  </a:lnTo>
                  <a:lnTo>
                    <a:pt x="495299" y="109537"/>
                  </a:lnTo>
                  <a:lnTo>
                    <a:pt x="494778" y="120327"/>
                  </a:lnTo>
                  <a:lnTo>
                    <a:pt x="482350" y="161224"/>
                  </a:lnTo>
                  <a:lnTo>
                    <a:pt x="455218" y="194253"/>
                  </a:lnTo>
                  <a:lnTo>
                    <a:pt x="437450" y="206125"/>
                  </a:lnTo>
                  <a:lnTo>
                    <a:pt x="430193" y="209549"/>
                  </a:lnTo>
                  <a:close/>
                </a:path>
              </a:pathLst>
            </a:custGeom>
            <a:solidFill>
              <a:srgbClr val="B41D1D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87400" y="2803537"/>
            <a:ext cx="1898650" cy="556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750"/>
              </a:lnSpc>
              <a:spcBef>
                <a:spcPts val="125"/>
              </a:spcBef>
            </a:pPr>
            <a:r>
              <a:rPr dirty="0" sz="750" b="1">
                <a:solidFill>
                  <a:srgbClr val="0086A7"/>
                </a:solidFill>
                <a:latin typeface="Arial"/>
                <a:cs typeface="Arial"/>
              </a:rPr>
              <a:t>Q</a:t>
            </a:r>
            <a:r>
              <a:rPr dirty="0" sz="750" spc="-8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0086A7"/>
                </a:solidFill>
                <a:latin typeface="Arial"/>
                <a:cs typeface="Arial"/>
              </a:rPr>
              <a:t>1</a:t>
            </a:r>
            <a:r>
              <a:rPr dirty="0" sz="750" spc="15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086A7"/>
                </a:solidFill>
                <a:latin typeface="Arial"/>
                <a:cs typeface="Arial"/>
              </a:rPr>
              <a:t>—</a:t>
            </a:r>
            <a:r>
              <a:rPr dirty="0" sz="750" spc="235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0086A7"/>
                </a:solidFill>
                <a:latin typeface="Arial"/>
                <a:cs typeface="Arial"/>
              </a:rPr>
              <a:t>B </a:t>
            </a:r>
            <a:r>
              <a:rPr dirty="0" sz="750" b="1">
                <a:solidFill>
                  <a:srgbClr val="0086A7"/>
                </a:solidFill>
                <a:latin typeface="Arial"/>
                <a:cs typeface="Arial"/>
              </a:rPr>
              <a:t>A</a:t>
            </a:r>
            <a:r>
              <a:rPr dirty="0" sz="750" spc="-9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0086A7"/>
                </a:solidFill>
                <a:latin typeface="Arial"/>
                <a:cs typeface="Arial"/>
              </a:rPr>
              <a:t>S</a:t>
            </a:r>
            <a:r>
              <a:rPr dirty="0" sz="750" spc="-65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0086A7"/>
                </a:solidFill>
                <a:latin typeface="Arial"/>
                <a:cs typeface="Arial"/>
              </a:rPr>
              <a:t>E</a:t>
            </a:r>
            <a:r>
              <a:rPr dirty="0" sz="750" spc="-55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65" b="1">
                <a:solidFill>
                  <a:srgbClr val="0086A7"/>
                </a:solidFill>
                <a:latin typeface="Arial"/>
                <a:cs typeface="Arial"/>
              </a:rPr>
              <a:t>L</a:t>
            </a:r>
            <a:r>
              <a:rPr dirty="0" sz="750" spc="-6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0086A7"/>
                </a:solidFill>
                <a:latin typeface="Arial"/>
                <a:cs typeface="Arial"/>
              </a:rPr>
              <a:t>I</a:t>
            </a:r>
            <a:r>
              <a:rPr dirty="0" sz="750" spc="-15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20" b="1">
                <a:solidFill>
                  <a:srgbClr val="0086A7"/>
                </a:solidFill>
                <a:latin typeface="Arial"/>
                <a:cs typeface="Arial"/>
              </a:rPr>
              <a:t>N</a:t>
            </a:r>
            <a:r>
              <a:rPr dirty="0" sz="750" spc="-50" b="1">
                <a:solidFill>
                  <a:srgbClr val="0086A7"/>
                </a:solidFill>
                <a:latin typeface="Arial"/>
                <a:cs typeface="Arial"/>
              </a:rPr>
              <a:t> E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2350"/>
              </a:lnSpc>
            </a:pPr>
            <a:r>
              <a:rPr dirty="0" sz="2100" spc="-285" b="1">
                <a:solidFill>
                  <a:srgbClr val="1B3258"/>
                </a:solidFill>
                <a:latin typeface="Verdana"/>
                <a:cs typeface="Verdana"/>
              </a:rPr>
              <a:t>6,714</a:t>
            </a:r>
            <a:r>
              <a:rPr dirty="0" sz="2100" spc="-39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00" spc="-50">
                <a:solidFill>
                  <a:srgbClr val="798FAC"/>
                </a:solidFill>
                <a:latin typeface="Verdana"/>
                <a:cs typeface="Verdana"/>
              </a:rPr>
              <a:t>mi</a:t>
            </a:r>
            <a:r>
              <a:rPr dirty="0" sz="1000" spc="-45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1000" spc="-130">
                <a:solidFill>
                  <a:srgbClr val="798FAC"/>
                </a:solidFill>
                <a:latin typeface="Verdana"/>
                <a:cs typeface="Verdana"/>
              </a:rPr>
              <a:t>/</a:t>
            </a:r>
            <a:r>
              <a:rPr dirty="0" sz="1000" spc="-125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1000" spc="-20">
                <a:solidFill>
                  <a:srgbClr val="798FAC"/>
                </a:solidFill>
                <a:latin typeface="Verdana"/>
                <a:cs typeface="Verdana"/>
              </a:rPr>
              <a:t>week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ts val="1055"/>
              </a:lnSpc>
            </a:pPr>
            <a:r>
              <a:rPr dirty="0" sz="900" spc="-25">
                <a:solidFill>
                  <a:srgbClr val="8F9BAC"/>
                </a:solidFill>
                <a:latin typeface="Microsoft Sans Serif"/>
                <a:cs typeface="Microsoft Sans Serif"/>
              </a:rPr>
              <a:t>Fixed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schedule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14">
                <a:solidFill>
                  <a:srgbClr val="8F9BAC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vans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only</a:t>
            </a:r>
            <a:r>
              <a:rPr dirty="0" sz="900" spc="-4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14">
                <a:solidFill>
                  <a:srgbClr val="8F9BAC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28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 routes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400" y="3498862"/>
            <a:ext cx="1162050" cy="143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Q</a:t>
            </a:r>
            <a:r>
              <a:rPr dirty="0" sz="750" spc="-8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2</a:t>
            </a:r>
            <a:r>
              <a:rPr dirty="0" sz="750" spc="27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—</a:t>
            </a:r>
            <a:r>
              <a:rPr dirty="0" sz="750" spc="28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M</a:t>
            </a:r>
            <a:r>
              <a:rPr dirty="0" sz="750" spc="-6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C87D09"/>
                </a:solidFill>
                <a:latin typeface="Arial"/>
                <a:cs typeface="Arial"/>
              </a:rPr>
              <a:t>I</a:t>
            </a:r>
            <a:r>
              <a:rPr dirty="0" sz="750" spc="-1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X</a:t>
            </a:r>
            <a:r>
              <a:rPr dirty="0" sz="750" spc="-75" b="1">
                <a:solidFill>
                  <a:srgbClr val="C87D09"/>
                </a:solidFill>
                <a:latin typeface="Arial"/>
                <a:cs typeface="Arial"/>
              </a:rPr>
              <a:t> E</a:t>
            </a:r>
            <a:r>
              <a:rPr dirty="0" sz="750" spc="-5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D</a:t>
            </a:r>
            <a:r>
              <a:rPr dirty="0" sz="750" spc="26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C87D09"/>
                </a:solidFill>
                <a:latin typeface="Arial"/>
                <a:cs typeface="Arial"/>
              </a:rPr>
              <a:t>F</a:t>
            </a:r>
            <a:r>
              <a:rPr dirty="0" sz="750" spc="-65" b="1">
                <a:solidFill>
                  <a:srgbClr val="C87D09"/>
                </a:solidFill>
                <a:latin typeface="Arial"/>
                <a:cs typeface="Arial"/>
              </a:rPr>
              <a:t> L</a:t>
            </a:r>
            <a:r>
              <a:rPr dirty="0" sz="750" spc="-6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C87D09"/>
                </a:solidFill>
                <a:latin typeface="Arial"/>
                <a:cs typeface="Arial"/>
              </a:rPr>
              <a:t>E</a:t>
            </a:r>
            <a:r>
              <a:rPr dirty="0" sz="750" spc="-5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C87D09"/>
                </a:solidFill>
                <a:latin typeface="Arial"/>
                <a:cs typeface="Arial"/>
              </a:rPr>
              <a:t>E</a:t>
            </a:r>
            <a:r>
              <a:rPr dirty="0" sz="750" spc="-5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C87D09"/>
                </a:solidFill>
                <a:latin typeface="Arial"/>
                <a:cs typeface="Arial"/>
              </a:rPr>
              <a:t>T</a:t>
            </a:r>
            <a:endParaRPr sz="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7400" y="3578156"/>
            <a:ext cx="1598930" cy="620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495"/>
              </a:lnSpc>
              <a:spcBef>
                <a:spcPts val="100"/>
              </a:spcBef>
            </a:pPr>
            <a:r>
              <a:rPr dirty="0" sz="2100" spc="-210" b="1">
                <a:solidFill>
                  <a:srgbClr val="1B3258"/>
                </a:solidFill>
                <a:latin typeface="Verdana"/>
                <a:cs typeface="Verdana"/>
              </a:rPr>
              <a:t>7,584</a:t>
            </a:r>
            <a:r>
              <a:rPr dirty="0" sz="2100" spc="-39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00" spc="-50">
                <a:solidFill>
                  <a:srgbClr val="798FAC"/>
                </a:solidFill>
                <a:latin typeface="Verdana"/>
                <a:cs typeface="Verdana"/>
              </a:rPr>
              <a:t>mi</a:t>
            </a:r>
            <a:r>
              <a:rPr dirty="0" sz="1000" spc="-35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1000" spc="-130">
                <a:solidFill>
                  <a:srgbClr val="798FAC"/>
                </a:solidFill>
                <a:latin typeface="Verdana"/>
                <a:cs typeface="Verdana"/>
              </a:rPr>
              <a:t>/</a:t>
            </a:r>
            <a:r>
              <a:rPr dirty="0" sz="1000" spc="-120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1000" spc="-20">
                <a:solidFill>
                  <a:srgbClr val="798FAC"/>
                </a:solidFill>
                <a:latin typeface="Verdana"/>
                <a:cs typeface="Verdana"/>
              </a:rPr>
              <a:t>week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ts val="1060"/>
              </a:lnSpc>
            </a:pPr>
            <a:r>
              <a:rPr dirty="0" sz="900" spc="-110">
                <a:solidFill>
                  <a:srgbClr val="8F9BAC"/>
                </a:solidFill>
                <a:latin typeface="Microsoft Sans Serif"/>
                <a:cs typeface="Microsoft Sans Serif"/>
              </a:rPr>
              <a:t>+13%</a:t>
            </a:r>
            <a:r>
              <a:rPr dirty="0" sz="900" spc="-3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14">
                <a:solidFill>
                  <a:srgbClr val="8F9BAC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Straight </a:t>
            </a:r>
            <a:r>
              <a:rPr dirty="0" sz="900" spc="-25">
                <a:solidFill>
                  <a:srgbClr val="8F9BAC"/>
                </a:solidFill>
                <a:latin typeface="Microsoft Sans Serif"/>
                <a:cs typeface="Microsoft Sans Serif"/>
              </a:rPr>
              <a:t>Trucks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fragment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routes</a:t>
            </a:r>
            <a:r>
              <a:rPr dirty="0" sz="900" spc="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14">
                <a:solidFill>
                  <a:srgbClr val="8F9BAC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3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34</a:t>
            </a:r>
            <a:r>
              <a:rPr dirty="0" sz="900" spc="-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routes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61183" y="3775087"/>
            <a:ext cx="298450" cy="143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spc="-10" b="1">
                <a:solidFill>
                  <a:srgbClr val="CC2121"/>
                </a:solidFill>
                <a:latin typeface="Arial"/>
                <a:cs typeface="Arial"/>
              </a:rPr>
              <a:t>+</a:t>
            </a:r>
            <a:r>
              <a:rPr dirty="0" sz="750" spc="-95" b="1">
                <a:solidFill>
                  <a:srgbClr val="CC2121"/>
                </a:solidFill>
                <a:latin typeface="Arial"/>
                <a:cs typeface="Arial"/>
              </a:rPr>
              <a:t> </a:t>
            </a:r>
            <a:r>
              <a:rPr dirty="0" sz="750" spc="-195" b="1">
                <a:solidFill>
                  <a:srgbClr val="CC2121"/>
                </a:solidFill>
                <a:latin typeface="Arial"/>
                <a:cs typeface="Arial"/>
              </a:rPr>
              <a:t>1</a:t>
            </a:r>
            <a:r>
              <a:rPr dirty="0" sz="750" spc="-50" b="1">
                <a:solidFill>
                  <a:srgbClr val="CC2121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C2121"/>
                </a:solidFill>
                <a:latin typeface="Arial"/>
                <a:cs typeface="Arial"/>
              </a:rPr>
              <a:t>3</a:t>
            </a:r>
            <a:r>
              <a:rPr dirty="0" sz="750" spc="-85" b="1">
                <a:solidFill>
                  <a:srgbClr val="CC2121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CC2121"/>
                </a:solidFill>
                <a:latin typeface="Arial"/>
                <a:cs typeface="Arial"/>
              </a:rPr>
              <a:t>%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599" y="4352925"/>
            <a:ext cx="2752725" cy="1076325"/>
            <a:chOff x="609599" y="4352925"/>
            <a:chExt cx="2752725" cy="1076325"/>
          </a:xfrm>
        </p:grpSpPr>
        <p:sp>
          <p:nvSpPr>
            <p:cNvPr id="14" name="object 14"/>
            <p:cNvSpPr/>
            <p:nvPr/>
          </p:nvSpPr>
          <p:spPr>
            <a:xfrm>
              <a:off x="609599" y="4352925"/>
              <a:ext cx="2752725" cy="1076325"/>
            </a:xfrm>
            <a:custGeom>
              <a:avLst/>
              <a:gdLst/>
              <a:ahLst/>
              <a:cxnLst/>
              <a:rect l="l" t="t" r="r" b="b"/>
              <a:pathLst>
                <a:path w="2752725" h="1076325">
                  <a:moveTo>
                    <a:pt x="2657474" y="1076324"/>
                  </a:moveTo>
                  <a:lnTo>
                    <a:pt x="95249" y="1076324"/>
                  </a:lnTo>
                  <a:lnTo>
                    <a:pt x="85866" y="1075871"/>
                  </a:lnTo>
                  <a:lnTo>
                    <a:pt x="42321" y="1060286"/>
                  </a:lnTo>
                  <a:lnTo>
                    <a:pt x="11259" y="1026020"/>
                  </a:lnTo>
                  <a:lnTo>
                    <a:pt x="0" y="981074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2657474" y="0"/>
                  </a:lnTo>
                  <a:lnTo>
                    <a:pt x="2702420" y="11259"/>
                  </a:lnTo>
                  <a:lnTo>
                    <a:pt x="2736686" y="42321"/>
                  </a:lnTo>
                  <a:lnTo>
                    <a:pt x="2752271" y="85866"/>
                  </a:lnTo>
                  <a:lnTo>
                    <a:pt x="2752724" y="95249"/>
                  </a:lnTo>
                  <a:lnTo>
                    <a:pt x="2752724" y="981074"/>
                  </a:lnTo>
                  <a:lnTo>
                    <a:pt x="2741464" y="1026020"/>
                  </a:lnTo>
                  <a:lnTo>
                    <a:pt x="2710402" y="1060286"/>
                  </a:lnTo>
                  <a:lnTo>
                    <a:pt x="2666857" y="1075871"/>
                  </a:lnTo>
                  <a:lnTo>
                    <a:pt x="2657474" y="1076324"/>
                  </a:lnTo>
                  <a:close/>
                </a:path>
              </a:pathLst>
            </a:custGeom>
            <a:solidFill>
              <a:srgbClr val="33D399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09599" y="4352925"/>
              <a:ext cx="2752725" cy="1076325"/>
            </a:xfrm>
            <a:custGeom>
              <a:avLst/>
              <a:gdLst/>
              <a:ahLst/>
              <a:cxnLst/>
              <a:rect l="l" t="t" r="r" b="b"/>
              <a:pathLst>
                <a:path w="2752725" h="1076325">
                  <a:moveTo>
                    <a:pt x="2657474" y="1076324"/>
                  </a:moveTo>
                  <a:lnTo>
                    <a:pt x="95249" y="1076324"/>
                  </a:lnTo>
                  <a:lnTo>
                    <a:pt x="85866" y="1075871"/>
                  </a:lnTo>
                  <a:lnTo>
                    <a:pt x="42321" y="1060286"/>
                  </a:lnTo>
                  <a:lnTo>
                    <a:pt x="11259" y="1026020"/>
                  </a:lnTo>
                  <a:lnTo>
                    <a:pt x="0" y="981074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2657474" y="0"/>
                  </a:lnTo>
                  <a:lnTo>
                    <a:pt x="2698744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986703"/>
                  </a:lnTo>
                  <a:lnTo>
                    <a:pt x="20845" y="1024020"/>
                  </a:lnTo>
                  <a:lnTo>
                    <a:pt x="52303" y="1055479"/>
                  </a:lnTo>
                  <a:lnTo>
                    <a:pt x="89621" y="1066799"/>
                  </a:lnTo>
                  <a:lnTo>
                    <a:pt x="2698743" y="1066799"/>
                  </a:lnTo>
                  <a:lnTo>
                    <a:pt x="2693924" y="1069074"/>
                  </a:lnTo>
                  <a:lnTo>
                    <a:pt x="2685082" y="1072246"/>
                  </a:lnTo>
                  <a:lnTo>
                    <a:pt x="2676060" y="1074511"/>
                  </a:lnTo>
                  <a:lnTo>
                    <a:pt x="2666857" y="1075871"/>
                  </a:lnTo>
                  <a:lnTo>
                    <a:pt x="2657474" y="1076324"/>
                  </a:lnTo>
                  <a:close/>
                </a:path>
                <a:path w="2752725" h="1076325">
                  <a:moveTo>
                    <a:pt x="2698743" y="1066799"/>
                  </a:moveTo>
                  <a:lnTo>
                    <a:pt x="2663103" y="1066799"/>
                  </a:lnTo>
                  <a:lnTo>
                    <a:pt x="2668678" y="1066250"/>
                  </a:lnTo>
                  <a:lnTo>
                    <a:pt x="2679719" y="1064054"/>
                  </a:lnTo>
                  <a:lnTo>
                    <a:pt x="2714111" y="1045671"/>
                  </a:lnTo>
                  <a:lnTo>
                    <a:pt x="2738828" y="1008680"/>
                  </a:lnTo>
                  <a:lnTo>
                    <a:pt x="2743199" y="986703"/>
                  </a:lnTo>
                  <a:lnTo>
                    <a:pt x="2743199" y="89621"/>
                  </a:lnTo>
                  <a:lnTo>
                    <a:pt x="2731879" y="52303"/>
                  </a:lnTo>
                  <a:lnTo>
                    <a:pt x="2700420" y="20844"/>
                  </a:lnTo>
                  <a:lnTo>
                    <a:pt x="2663103" y="9524"/>
                  </a:lnTo>
                  <a:lnTo>
                    <a:pt x="2698744" y="9524"/>
                  </a:lnTo>
                  <a:lnTo>
                    <a:pt x="2731140" y="34852"/>
                  </a:lnTo>
                  <a:lnTo>
                    <a:pt x="2750911" y="76663"/>
                  </a:lnTo>
                  <a:lnTo>
                    <a:pt x="2752724" y="981074"/>
                  </a:lnTo>
                  <a:lnTo>
                    <a:pt x="2752271" y="990457"/>
                  </a:lnTo>
                  <a:lnTo>
                    <a:pt x="2736686" y="1034002"/>
                  </a:lnTo>
                  <a:lnTo>
                    <a:pt x="2702420" y="1065064"/>
                  </a:lnTo>
                  <a:lnTo>
                    <a:pt x="2698743" y="1066799"/>
                  </a:lnTo>
                  <a:close/>
                </a:path>
              </a:pathLst>
            </a:custGeom>
            <a:solidFill>
              <a:srgbClr val="33D399">
                <a:alpha val="180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52474" y="4638672"/>
              <a:ext cx="38100" cy="495300"/>
            </a:xfrm>
            <a:custGeom>
              <a:avLst/>
              <a:gdLst/>
              <a:ahLst/>
              <a:cxnLst/>
              <a:rect l="l" t="t" r="r" b="b"/>
              <a:pathLst>
                <a:path w="38100" h="495300">
                  <a:moveTo>
                    <a:pt x="21576" y="495295"/>
                  </a:moveTo>
                  <a:lnTo>
                    <a:pt x="16523" y="495295"/>
                  </a:lnTo>
                  <a:lnTo>
                    <a:pt x="14093" y="494811"/>
                  </a:lnTo>
                  <a:lnTo>
                    <a:pt x="0" y="478770"/>
                  </a:lnTo>
                  <a:lnTo>
                    <a:pt x="0" y="476249"/>
                  </a:lnTo>
                  <a:lnTo>
                    <a:pt x="0" y="16520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099" y="16520"/>
                  </a:lnTo>
                  <a:lnTo>
                    <a:pt x="38099" y="478770"/>
                  </a:lnTo>
                  <a:lnTo>
                    <a:pt x="24006" y="494811"/>
                  </a:lnTo>
                  <a:lnTo>
                    <a:pt x="21576" y="495295"/>
                  </a:lnTo>
                  <a:close/>
                </a:path>
              </a:pathLst>
            </a:custGeom>
            <a:solidFill>
              <a:srgbClr val="098F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30274" y="4453496"/>
            <a:ext cx="916940" cy="28575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80"/>
              </a:spcBef>
            </a:pP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Q</a:t>
            </a:r>
            <a:r>
              <a:rPr dirty="0" sz="750" spc="-8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3</a:t>
            </a:r>
            <a:r>
              <a:rPr dirty="0" sz="750" spc="27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—</a:t>
            </a:r>
            <a:r>
              <a:rPr dirty="0" sz="750" spc="27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098F60"/>
                </a:solidFill>
                <a:latin typeface="Arial"/>
                <a:cs typeface="Arial"/>
              </a:rPr>
              <a:t>R</a:t>
            </a:r>
            <a:r>
              <a:rPr dirty="0" sz="750" spc="-6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098F60"/>
                </a:solidFill>
                <a:latin typeface="Arial"/>
                <a:cs typeface="Arial"/>
              </a:rPr>
              <a:t>E</a:t>
            </a:r>
            <a:r>
              <a:rPr dirty="0" sz="750" spc="-5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65" b="1">
                <a:solidFill>
                  <a:srgbClr val="098F60"/>
                </a:solidFill>
                <a:latin typeface="Arial"/>
                <a:cs typeface="Arial"/>
              </a:rPr>
              <a:t>L</a:t>
            </a:r>
            <a:r>
              <a:rPr dirty="0" sz="750" spc="-6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A</a:t>
            </a:r>
            <a:r>
              <a:rPr dirty="0" sz="750" spc="-9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X</a:t>
            </a:r>
            <a:r>
              <a:rPr dirty="0" sz="750" spc="-8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098F60"/>
                </a:solidFill>
                <a:latin typeface="Arial"/>
                <a:cs typeface="Arial"/>
              </a:rPr>
              <a:t>E</a:t>
            </a:r>
            <a:r>
              <a:rPr dirty="0" sz="750" spc="-5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098F60"/>
                </a:solidFill>
                <a:latin typeface="Arial"/>
                <a:cs typeface="Arial"/>
              </a:rPr>
              <a:t>D</a:t>
            </a:r>
            <a:r>
              <a:rPr dirty="0" sz="750" spc="50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098F60"/>
                </a:solidFill>
                <a:latin typeface="Arial"/>
                <a:cs typeface="Arial"/>
              </a:rPr>
              <a:t>S</a:t>
            </a:r>
            <a:r>
              <a:rPr dirty="0" sz="750" spc="-6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C</a:t>
            </a:r>
            <a:r>
              <a:rPr dirty="0" sz="750" spc="-7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25" b="1">
                <a:solidFill>
                  <a:srgbClr val="098F60"/>
                </a:solidFill>
                <a:latin typeface="Arial"/>
                <a:cs typeface="Arial"/>
              </a:rPr>
              <a:t>H</a:t>
            </a:r>
            <a:r>
              <a:rPr dirty="0" sz="750" spc="-5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098F60"/>
                </a:solidFill>
                <a:latin typeface="Arial"/>
                <a:cs typeface="Arial"/>
              </a:rPr>
              <a:t>E</a:t>
            </a:r>
            <a:r>
              <a:rPr dirty="0" sz="750" spc="-5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098F60"/>
                </a:solidFill>
                <a:latin typeface="Arial"/>
                <a:cs typeface="Arial"/>
              </a:rPr>
              <a:t>D</a:t>
            </a:r>
            <a:r>
              <a:rPr dirty="0" sz="750" spc="-7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45" b="1">
                <a:solidFill>
                  <a:srgbClr val="098F60"/>
                </a:solidFill>
                <a:latin typeface="Arial"/>
                <a:cs typeface="Arial"/>
              </a:rPr>
              <a:t>U</a:t>
            </a:r>
            <a:r>
              <a:rPr dirty="0" sz="750" spc="-5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65" b="1">
                <a:solidFill>
                  <a:srgbClr val="098F60"/>
                </a:solidFill>
                <a:latin typeface="Arial"/>
                <a:cs typeface="Arial"/>
              </a:rPr>
              <a:t>L</a:t>
            </a:r>
            <a:r>
              <a:rPr dirty="0" sz="750" spc="-6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E</a:t>
            </a:r>
            <a:r>
              <a:rPr dirty="0" sz="750" spc="25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800" spc="-60" b="1">
                <a:solidFill>
                  <a:srgbClr val="098F60"/>
                </a:solidFill>
                <a:latin typeface="Malgun Gothic"/>
                <a:cs typeface="Malgun Gothic"/>
              </a:rPr>
              <a:t>★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0274" y="4683056"/>
            <a:ext cx="1386205" cy="620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495"/>
              </a:lnSpc>
              <a:spcBef>
                <a:spcPts val="100"/>
              </a:spcBef>
            </a:pPr>
            <a:r>
              <a:rPr dirty="0" sz="2100" spc="-220" b="1">
                <a:solidFill>
                  <a:srgbClr val="1B3258"/>
                </a:solidFill>
                <a:latin typeface="Verdana"/>
                <a:cs typeface="Verdana"/>
              </a:rPr>
              <a:t>4,793</a:t>
            </a:r>
            <a:r>
              <a:rPr dirty="0" sz="2100" spc="-33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00" spc="-50">
                <a:solidFill>
                  <a:srgbClr val="798FAC"/>
                </a:solidFill>
                <a:latin typeface="Verdana"/>
                <a:cs typeface="Verdana"/>
              </a:rPr>
              <a:t>mi</a:t>
            </a:r>
            <a:r>
              <a:rPr dirty="0" sz="1000" spc="-35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1000" spc="-130">
                <a:solidFill>
                  <a:srgbClr val="798FAC"/>
                </a:solidFill>
                <a:latin typeface="Verdana"/>
                <a:cs typeface="Verdana"/>
              </a:rPr>
              <a:t>/</a:t>
            </a:r>
            <a:r>
              <a:rPr dirty="0" sz="1000" spc="-120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1000" spc="-20">
                <a:solidFill>
                  <a:srgbClr val="798FAC"/>
                </a:solidFill>
                <a:latin typeface="Verdana"/>
                <a:cs typeface="Verdana"/>
              </a:rPr>
              <a:t>week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ts val="1060"/>
              </a:lnSpc>
            </a:pPr>
            <a:r>
              <a:rPr dirty="0" sz="900" spc="-45">
                <a:solidFill>
                  <a:srgbClr val="8F9BAC"/>
                </a:solidFill>
                <a:latin typeface="Microsoft Sans Serif"/>
                <a:cs typeface="Microsoft Sans Serif"/>
              </a:rPr>
              <a:t>−28.6%</a:t>
            </a:r>
            <a:r>
              <a:rPr dirty="0" sz="900" spc="-3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14">
                <a:solidFill>
                  <a:srgbClr val="8F9BAC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2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geographic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clustering</a:t>
            </a:r>
            <a:r>
              <a:rPr dirty="0" sz="900" spc="-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14">
                <a:solidFill>
                  <a:srgbClr val="8F9BAC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2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8F9BAC"/>
                </a:solidFill>
                <a:latin typeface="Microsoft Sans Serif"/>
                <a:cs typeface="Microsoft Sans Serif"/>
              </a:rPr>
              <a:t>26</a:t>
            </a:r>
            <a:r>
              <a:rPr dirty="0" sz="900" spc="1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8F9BAC"/>
                </a:solidFill>
                <a:latin typeface="Microsoft Sans Serif"/>
                <a:cs typeface="Microsoft Sans Serif"/>
              </a:rPr>
              <a:t>routes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90799" y="4781550"/>
            <a:ext cx="628650" cy="219075"/>
            <a:chOff x="2590799" y="4781550"/>
            <a:chExt cx="628650" cy="219075"/>
          </a:xfrm>
        </p:grpSpPr>
        <p:sp>
          <p:nvSpPr>
            <p:cNvPr id="20" name="object 20"/>
            <p:cNvSpPr/>
            <p:nvPr/>
          </p:nvSpPr>
          <p:spPr>
            <a:xfrm>
              <a:off x="2590799" y="4781550"/>
              <a:ext cx="628650" cy="219075"/>
            </a:xfrm>
            <a:custGeom>
              <a:avLst/>
              <a:gdLst/>
              <a:ahLst/>
              <a:cxnLst/>
              <a:rect l="l" t="t" r="r" b="b"/>
              <a:pathLst>
                <a:path w="628650" h="219075">
                  <a:moveTo>
                    <a:pt x="5191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5"/>
                  </a:lnTo>
                  <a:lnTo>
                    <a:pt x="24820" y="178993"/>
                  </a:lnTo>
                  <a:lnTo>
                    <a:pt x="4689" y="141286"/>
                  </a:lnTo>
                  <a:lnTo>
                    <a:pt x="0" y="109537"/>
                  </a:lnTo>
                  <a:lnTo>
                    <a:pt x="521" y="98746"/>
                  </a:lnTo>
                  <a:lnTo>
                    <a:pt x="12948" y="57849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519112" y="0"/>
                  </a:lnTo>
                  <a:lnTo>
                    <a:pt x="561031" y="8338"/>
                  </a:lnTo>
                  <a:lnTo>
                    <a:pt x="596567" y="32082"/>
                  </a:lnTo>
                  <a:lnTo>
                    <a:pt x="620311" y="67619"/>
                  </a:lnTo>
                  <a:lnTo>
                    <a:pt x="628649" y="109537"/>
                  </a:lnTo>
                  <a:lnTo>
                    <a:pt x="628128" y="120327"/>
                  </a:lnTo>
                  <a:lnTo>
                    <a:pt x="615700" y="161225"/>
                  </a:lnTo>
                  <a:lnTo>
                    <a:pt x="588568" y="194253"/>
                  </a:lnTo>
                  <a:lnTo>
                    <a:pt x="550861" y="214384"/>
                  </a:lnTo>
                  <a:lnTo>
                    <a:pt x="519112" y="219074"/>
                  </a:lnTo>
                  <a:close/>
                </a:path>
              </a:pathLst>
            </a:custGeom>
            <a:solidFill>
              <a:srgbClr val="008159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590799" y="4781550"/>
              <a:ext cx="628650" cy="219075"/>
            </a:xfrm>
            <a:custGeom>
              <a:avLst/>
              <a:gdLst/>
              <a:ahLst/>
              <a:cxnLst/>
              <a:rect l="l" t="t" r="r" b="b"/>
              <a:pathLst>
                <a:path w="628650" h="219075">
                  <a:moveTo>
                    <a:pt x="5191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9" y="206125"/>
                  </a:lnTo>
                  <a:lnTo>
                    <a:pt x="24820" y="178993"/>
                  </a:lnTo>
                  <a:lnTo>
                    <a:pt x="18559" y="170561"/>
                  </a:lnTo>
                  <a:lnTo>
                    <a:pt x="18442" y="170404"/>
                  </a:lnTo>
                  <a:lnTo>
                    <a:pt x="2084" y="130910"/>
                  </a:lnTo>
                  <a:lnTo>
                    <a:pt x="0" y="109537"/>
                  </a:lnTo>
                  <a:lnTo>
                    <a:pt x="521" y="98746"/>
                  </a:lnTo>
                  <a:lnTo>
                    <a:pt x="12948" y="57849"/>
                  </a:lnTo>
                  <a:lnTo>
                    <a:pt x="40081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519112" y="0"/>
                  </a:lnTo>
                  <a:lnTo>
                    <a:pt x="561031" y="8338"/>
                  </a:lnTo>
                  <a:lnTo>
                    <a:pt x="563546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0" y="153877"/>
                  </a:lnTo>
                  <a:lnTo>
                    <a:pt x="43461" y="184900"/>
                  </a:lnTo>
                  <a:lnTo>
                    <a:pt x="77331" y="204449"/>
                  </a:lnTo>
                  <a:lnTo>
                    <a:pt x="102970" y="209549"/>
                  </a:lnTo>
                  <a:lnTo>
                    <a:pt x="563544" y="209549"/>
                  </a:lnTo>
                  <a:lnTo>
                    <a:pt x="561030" y="210736"/>
                  </a:lnTo>
                  <a:lnTo>
                    <a:pt x="550861" y="214384"/>
                  </a:lnTo>
                  <a:lnTo>
                    <a:pt x="540485" y="216990"/>
                  </a:lnTo>
                  <a:lnTo>
                    <a:pt x="529902" y="218553"/>
                  </a:lnTo>
                  <a:lnTo>
                    <a:pt x="519112" y="219074"/>
                  </a:lnTo>
                  <a:close/>
                </a:path>
                <a:path w="628650" h="219075">
                  <a:moveTo>
                    <a:pt x="563544" y="209549"/>
                  </a:moveTo>
                  <a:lnTo>
                    <a:pt x="525679" y="209549"/>
                  </a:lnTo>
                  <a:lnTo>
                    <a:pt x="532183" y="208909"/>
                  </a:lnTo>
                  <a:lnTo>
                    <a:pt x="545064" y="206347"/>
                  </a:lnTo>
                  <a:lnTo>
                    <a:pt x="580136" y="189046"/>
                  </a:lnTo>
                  <a:lnTo>
                    <a:pt x="605918" y="159641"/>
                  </a:lnTo>
                  <a:lnTo>
                    <a:pt x="618484" y="122608"/>
                  </a:lnTo>
                  <a:lnTo>
                    <a:pt x="619124" y="116104"/>
                  </a:lnTo>
                  <a:lnTo>
                    <a:pt x="619124" y="102970"/>
                  </a:lnTo>
                  <a:lnTo>
                    <a:pt x="608998" y="65197"/>
                  </a:lnTo>
                  <a:lnTo>
                    <a:pt x="585188" y="34174"/>
                  </a:lnTo>
                  <a:lnTo>
                    <a:pt x="551318" y="14624"/>
                  </a:lnTo>
                  <a:lnTo>
                    <a:pt x="525679" y="9524"/>
                  </a:lnTo>
                  <a:lnTo>
                    <a:pt x="563546" y="9524"/>
                  </a:lnTo>
                  <a:lnTo>
                    <a:pt x="596567" y="32082"/>
                  </a:lnTo>
                  <a:lnTo>
                    <a:pt x="610089" y="48513"/>
                  </a:lnTo>
                  <a:lnTo>
                    <a:pt x="610206" y="48670"/>
                  </a:lnTo>
                  <a:lnTo>
                    <a:pt x="626565" y="88163"/>
                  </a:lnTo>
                  <a:lnTo>
                    <a:pt x="628649" y="109537"/>
                  </a:lnTo>
                  <a:lnTo>
                    <a:pt x="628128" y="120327"/>
                  </a:lnTo>
                  <a:lnTo>
                    <a:pt x="615700" y="161225"/>
                  </a:lnTo>
                  <a:lnTo>
                    <a:pt x="588568" y="194253"/>
                  </a:lnTo>
                  <a:lnTo>
                    <a:pt x="570800" y="206125"/>
                  </a:lnTo>
                  <a:lnTo>
                    <a:pt x="563544" y="209549"/>
                  </a:lnTo>
                  <a:close/>
                </a:path>
              </a:pathLst>
            </a:custGeom>
            <a:solidFill>
              <a:srgbClr val="008159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686744" y="4813312"/>
            <a:ext cx="429895" cy="143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spc="-45" b="1">
                <a:solidFill>
                  <a:srgbClr val="098F60"/>
                </a:solidFill>
                <a:latin typeface="Arial"/>
                <a:cs typeface="Arial"/>
              </a:rPr>
              <a:t>−</a:t>
            </a:r>
            <a:r>
              <a:rPr dirty="0" sz="750" spc="-6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80" b="1">
                <a:solidFill>
                  <a:srgbClr val="098F60"/>
                </a:solidFill>
                <a:latin typeface="Arial"/>
                <a:cs typeface="Arial"/>
              </a:rPr>
              <a:t>28</a:t>
            </a:r>
            <a:r>
              <a:rPr dirty="0" sz="750" spc="-8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65" b="1">
                <a:solidFill>
                  <a:srgbClr val="098F60"/>
                </a:solidFill>
                <a:latin typeface="Arial"/>
                <a:cs typeface="Arial"/>
              </a:rPr>
              <a:t>.</a:t>
            </a:r>
            <a:r>
              <a:rPr dirty="0" sz="750" spc="-9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50" b="1">
                <a:solidFill>
                  <a:srgbClr val="098F60"/>
                </a:solidFill>
                <a:latin typeface="Arial"/>
                <a:cs typeface="Arial"/>
              </a:rPr>
              <a:t>6</a:t>
            </a:r>
            <a:r>
              <a:rPr dirty="0" sz="750" spc="-9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098F60"/>
                </a:solidFill>
                <a:latin typeface="Arial"/>
                <a:cs typeface="Arial"/>
              </a:rPr>
              <a:t>%</a:t>
            </a:r>
            <a:endParaRPr sz="7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21149" y="470793"/>
            <a:ext cx="251333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 b="1">
                <a:solidFill>
                  <a:srgbClr val="9DA7B6"/>
                </a:solidFill>
                <a:latin typeface="Verdana"/>
                <a:cs typeface="Verdana"/>
              </a:rPr>
              <a:t>WHAT</a:t>
            </a:r>
            <a:r>
              <a:rPr dirty="0" sz="1050" spc="-25" b="1">
                <a:solidFill>
                  <a:srgbClr val="9DA7B6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9DA7B6"/>
                </a:solidFill>
                <a:latin typeface="Verdana"/>
                <a:cs typeface="Verdana"/>
              </a:rPr>
              <a:t>EACH</a:t>
            </a:r>
            <a:r>
              <a:rPr dirty="0" sz="1050" spc="35" b="1">
                <a:solidFill>
                  <a:srgbClr val="9DA7B6"/>
                </a:solidFill>
                <a:latin typeface="Verdana"/>
                <a:cs typeface="Verdana"/>
              </a:rPr>
              <a:t> </a:t>
            </a:r>
            <a:r>
              <a:rPr dirty="0" sz="1050" spc="-20" b="1">
                <a:solidFill>
                  <a:srgbClr val="9DA7B6"/>
                </a:solidFill>
                <a:latin typeface="Verdana"/>
                <a:cs typeface="Verdana"/>
              </a:rPr>
              <a:t>SCENARI</a:t>
            </a:r>
            <a:r>
              <a:rPr dirty="0" sz="1050" spc="-185" b="1">
                <a:solidFill>
                  <a:srgbClr val="9DA7B6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9DA7B6"/>
                </a:solidFill>
                <a:latin typeface="Verdana"/>
                <a:cs typeface="Verdana"/>
              </a:rPr>
              <a:t>O</a:t>
            </a:r>
            <a:r>
              <a:rPr dirty="0" sz="1050" spc="-5" b="1">
                <a:solidFill>
                  <a:srgbClr val="9DA7B6"/>
                </a:solidFill>
                <a:latin typeface="Verdana"/>
                <a:cs typeface="Verdana"/>
              </a:rPr>
              <a:t> </a:t>
            </a:r>
            <a:r>
              <a:rPr dirty="0" sz="1050" spc="-10" b="1">
                <a:solidFill>
                  <a:srgbClr val="9DA7B6"/>
                </a:solidFill>
                <a:latin typeface="Verdana"/>
                <a:cs typeface="Verdana"/>
              </a:rPr>
              <a:t>TELLS</a:t>
            </a:r>
            <a:r>
              <a:rPr dirty="0" sz="1050" spc="-5" b="1">
                <a:solidFill>
                  <a:srgbClr val="9DA7B6"/>
                </a:solidFill>
                <a:latin typeface="Verdana"/>
                <a:cs typeface="Verdana"/>
              </a:rPr>
              <a:t> </a:t>
            </a:r>
            <a:r>
              <a:rPr dirty="0" sz="1050" spc="-25" b="1">
                <a:solidFill>
                  <a:srgbClr val="9DA7B6"/>
                </a:solidFill>
                <a:latin typeface="Verdana"/>
                <a:cs typeface="Verdana"/>
              </a:rPr>
              <a:t>US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33849" y="809622"/>
            <a:ext cx="7562850" cy="904875"/>
            <a:chOff x="4133849" y="809622"/>
            <a:chExt cx="7562850" cy="904875"/>
          </a:xfrm>
        </p:grpSpPr>
        <p:sp>
          <p:nvSpPr>
            <p:cNvPr id="25" name="object 25"/>
            <p:cNvSpPr/>
            <p:nvPr/>
          </p:nvSpPr>
          <p:spPr>
            <a:xfrm>
              <a:off x="4148137" y="809622"/>
              <a:ext cx="7548880" cy="904875"/>
            </a:xfrm>
            <a:custGeom>
              <a:avLst/>
              <a:gdLst/>
              <a:ahLst/>
              <a:cxnLst/>
              <a:rect l="l" t="t" r="r" b="b"/>
              <a:pathLst>
                <a:path w="7548880" h="904875">
                  <a:moveTo>
                    <a:pt x="7459566" y="904870"/>
                  </a:moveTo>
                  <a:lnTo>
                    <a:pt x="75646" y="904870"/>
                  </a:lnTo>
                  <a:lnTo>
                    <a:pt x="70381" y="904260"/>
                  </a:lnTo>
                  <a:lnTo>
                    <a:pt x="31561" y="885341"/>
                  </a:lnTo>
                  <a:lnTo>
                    <a:pt x="8197" y="851845"/>
                  </a:lnTo>
                  <a:lnTo>
                    <a:pt x="0" y="815876"/>
                  </a:lnTo>
                  <a:lnTo>
                    <a:pt x="0" y="809624"/>
                  </a:lnTo>
                  <a:lnTo>
                    <a:pt x="0" y="88994"/>
                  </a:lnTo>
                  <a:lnTo>
                    <a:pt x="10690" y="47523"/>
                  </a:lnTo>
                  <a:lnTo>
                    <a:pt x="40402" y="12575"/>
                  </a:lnTo>
                  <a:lnTo>
                    <a:pt x="75646" y="0"/>
                  </a:lnTo>
                  <a:lnTo>
                    <a:pt x="7459566" y="0"/>
                  </a:lnTo>
                  <a:lnTo>
                    <a:pt x="7501029" y="12575"/>
                  </a:lnTo>
                  <a:lnTo>
                    <a:pt x="7535983" y="47523"/>
                  </a:lnTo>
                  <a:lnTo>
                    <a:pt x="7548562" y="88994"/>
                  </a:lnTo>
                  <a:lnTo>
                    <a:pt x="7548562" y="815876"/>
                  </a:lnTo>
                  <a:lnTo>
                    <a:pt x="7535983" y="857328"/>
                  </a:lnTo>
                  <a:lnTo>
                    <a:pt x="7501029" y="892294"/>
                  </a:lnTo>
                  <a:lnTo>
                    <a:pt x="7465760" y="904260"/>
                  </a:lnTo>
                  <a:lnTo>
                    <a:pt x="7459566" y="904870"/>
                  </a:lnTo>
                  <a:close/>
                </a:path>
              </a:pathLst>
            </a:custGeom>
            <a:solidFill>
              <a:srgbClr val="0086A7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133849" y="809623"/>
              <a:ext cx="95250" cy="904875"/>
            </a:xfrm>
            <a:custGeom>
              <a:avLst/>
              <a:gdLst/>
              <a:ahLst/>
              <a:cxnLst/>
              <a:rect l="l" t="t" r="r" b="b"/>
              <a:pathLst>
                <a:path w="95250" h="904875">
                  <a:moveTo>
                    <a:pt x="95250" y="904874"/>
                  </a:moveTo>
                  <a:lnTo>
                    <a:pt x="50303" y="893617"/>
                  </a:lnTo>
                  <a:lnTo>
                    <a:pt x="16037" y="862555"/>
                  </a:lnTo>
                  <a:lnTo>
                    <a:pt x="453" y="819010"/>
                  </a:lnTo>
                  <a:lnTo>
                    <a:pt x="0" y="809627"/>
                  </a:lnTo>
                  <a:lnTo>
                    <a:pt x="0" y="95252"/>
                  </a:lnTo>
                  <a:lnTo>
                    <a:pt x="11259" y="50306"/>
                  </a:lnTo>
                  <a:lnTo>
                    <a:pt x="42321" y="16039"/>
                  </a:lnTo>
                  <a:lnTo>
                    <a:pt x="85866" y="455"/>
                  </a:lnTo>
                  <a:lnTo>
                    <a:pt x="95250" y="0"/>
                  </a:lnTo>
                  <a:lnTo>
                    <a:pt x="88681" y="455"/>
                  </a:lnTo>
                  <a:lnTo>
                    <a:pt x="82239" y="1814"/>
                  </a:lnTo>
                  <a:lnTo>
                    <a:pt x="48103" y="27900"/>
                  </a:lnTo>
                  <a:lnTo>
                    <a:pt x="31429" y="67643"/>
                  </a:lnTo>
                  <a:lnTo>
                    <a:pt x="28575" y="95252"/>
                  </a:lnTo>
                  <a:lnTo>
                    <a:pt x="28575" y="809627"/>
                  </a:lnTo>
                  <a:lnTo>
                    <a:pt x="36456" y="854573"/>
                  </a:lnTo>
                  <a:lnTo>
                    <a:pt x="58200" y="888839"/>
                  </a:lnTo>
                  <a:lnTo>
                    <a:pt x="88681" y="904424"/>
                  </a:lnTo>
                  <a:lnTo>
                    <a:pt x="95250" y="904874"/>
                  </a:lnTo>
                  <a:close/>
                </a:path>
              </a:pathLst>
            </a:custGeom>
            <a:solidFill>
              <a:srgbClr val="0086A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340225" y="877934"/>
            <a:ext cx="7092950" cy="66675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050" spc="-235" b="1">
                <a:solidFill>
                  <a:srgbClr val="1B3258"/>
                </a:solidFill>
                <a:latin typeface="Verdana"/>
                <a:cs typeface="Verdana"/>
              </a:rPr>
              <a:t>Q1</a:t>
            </a:r>
            <a:r>
              <a:rPr dirty="0" sz="1050" spc="-8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75" b="1">
                <a:solidFill>
                  <a:srgbClr val="1B3258"/>
                </a:solidFill>
                <a:latin typeface="Verdana"/>
                <a:cs typeface="Verdana"/>
              </a:rPr>
              <a:t>sets</a:t>
            </a:r>
            <a:r>
              <a:rPr dirty="0" sz="10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90" b="1">
                <a:solidFill>
                  <a:srgbClr val="1B3258"/>
                </a:solidFill>
                <a:latin typeface="Verdana"/>
                <a:cs typeface="Verdana"/>
              </a:rPr>
              <a:t>the</a:t>
            </a:r>
            <a:r>
              <a:rPr dirty="0" sz="10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100" b="1">
                <a:solidFill>
                  <a:srgbClr val="1B3258"/>
                </a:solidFill>
                <a:latin typeface="Verdana"/>
                <a:cs typeface="Verdana"/>
              </a:rPr>
              <a:t>bar</a:t>
            </a:r>
            <a:r>
              <a:rPr dirty="0" sz="10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85" b="1">
                <a:solidFill>
                  <a:srgbClr val="1B3258"/>
                </a:solidFill>
                <a:latin typeface="Verdana"/>
                <a:cs typeface="Verdana"/>
              </a:rPr>
              <a:t>for</a:t>
            </a:r>
            <a:r>
              <a:rPr dirty="0" sz="10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70" b="1">
                <a:solidFill>
                  <a:srgbClr val="1B3258"/>
                </a:solidFill>
                <a:latin typeface="Verdana"/>
                <a:cs typeface="Verdana"/>
              </a:rPr>
              <a:t>MAD</a:t>
            </a:r>
            <a:r>
              <a:rPr dirty="0" sz="1050" spc="-17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10" b="1">
                <a:solidFill>
                  <a:srgbClr val="1B3258"/>
                </a:solidFill>
                <a:latin typeface="Verdana"/>
                <a:cs typeface="Verdana"/>
              </a:rPr>
              <a:t>negotiations</a:t>
            </a:r>
            <a:endParaRPr sz="105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150"/>
              </a:spcBef>
            </a:pP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90">
                <a:solidFill>
                  <a:srgbClr val="768499"/>
                </a:solidFill>
                <a:latin typeface="Microsoft Sans Serif"/>
                <a:cs typeface="Microsoft Sans Serif"/>
              </a:rPr>
              <a:t>349,128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annual</a:t>
            </a:r>
            <a:r>
              <a:rPr dirty="0" sz="1050" spc="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miles,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what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768499"/>
                </a:solidFill>
                <a:latin typeface="Microsoft Sans Serif"/>
                <a:cs typeface="Microsoft Sans Serif"/>
              </a:rPr>
              <a:t>NHG's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current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operation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actually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costs.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Any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third-party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should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be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measured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against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this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number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not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inflated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estimate.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133849" y="1847848"/>
            <a:ext cx="7562850" cy="914400"/>
            <a:chOff x="4133849" y="1847848"/>
            <a:chExt cx="7562850" cy="914400"/>
          </a:xfrm>
        </p:grpSpPr>
        <p:sp>
          <p:nvSpPr>
            <p:cNvPr id="29" name="object 29"/>
            <p:cNvSpPr/>
            <p:nvPr/>
          </p:nvSpPr>
          <p:spPr>
            <a:xfrm>
              <a:off x="4148137" y="1847852"/>
              <a:ext cx="7548880" cy="914400"/>
            </a:xfrm>
            <a:custGeom>
              <a:avLst/>
              <a:gdLst/>
              <a:ahLst/>
              <a:cxnLst/>
              <a:rect l="l" t="t" r="r" b="b"/>
              <a:pathLst>
                <a:path w="7548880" h="914400">
                  <a:moveTo>
                    <a:pt x="7459566" y="914390"/>
                  </a:moveTo>
                  <a:lnTo>
                    <a:pt x="75646" y="914390"/>
                  </a:lnTo>
                  <a:lnTo>
                    <a:pt x="70381" y="913780"/>
                  </a:lnTo>
                  <a:lnTo>
                    <a:pt x="31561" y="894861"/>
                  </a:lnTo>
                  <a:lnTo>
                    <a:pt x="8197" y="861370"/>
                  </a:lnTo>
                  <a:lnTo>
                    <a:pt x="0" y="825396"/>
                  </a:lnTo>
                  <a:lnTo>
                    <a:pt x="0" y="819145"/>
                  </a:lnTo>
                  <a:lnTo>
                    <a:pt x="0" y="88990"/>
                  </a:lnTo>
                  <a:lnTo>
                    <a:pt x="10690" y="47518"/>
                  </a:lnTo>
                  <a:lnTo>
                    <a:pt x="40402" y="12566"/>
                  </a:lnTo>
                  <a:lnTo>
                    <a:pt x="75646" y="0"/>
                  </a:lnTo>
                  <a:lnTo>
                    <a:pt x="7459566" y="0"/>
                  </a:lnTo>
                  <a:lnTo>
                    <a:pt x="7501029" y="12566"/>
                  </a:lnTo>
                  <a:lnTo>
                    <a:pt x="7535983" y="47518"/>
                  </a:lnTo>
                  <a:lnTo>
                    <a:pt x="7548562" y="88990"/>
                  </a:lnTo>
                  <a:lnTo>
                    <a:pt x="7548562" y="825396"/>
                  </a:lnTo>
                  <a:lnTo>
                    <a:pt x="7535983" y="866853"/>
                  </a:lnTo>
                  <a:lnTo>
                    <a:pt x="7501029" y="901809"/>
                  </a:lnTo>
                  <a:lnTo>
                    <a:pt x="7465760" y="913780"/>
                  </a:lnTo>
                  <a:lnTo>
                    <a:pt x="7459566" y="914390"/>
                  </a:lnTo>
                  <a:close/>
                </a:path>
              </a:pathLst>
            </a:custGeom>
            <a:solidFill>
              <a:srgbClr val="F5A623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133849" y="1847848"/>
              <a:ext cx="95250" cy="914400"/>
            </a:xfrm>
            <a:custGeom>
              <a:avLst/>
              <a:gdLst/>
              <a:ahLst/>
              <a:cxnLst/>
              <a:rect l="l" t="t" r="r" b="b"/>
              <a:pathLst>
                <a:path w="95250" h="914400">
                  <a:moveTo>
                    <a:pt x="95250" y="914399"/>
                  </a:moveTo>
                  <a:lnTo>
                    <a:pt x="50303" y="903142"/>
                  </a:lnTo>
                  <a:lnTo>
                    <a:pt x="16037" y="872080"/>
                  </a:lnTo>
                  <a:lnTo>
                    <a:pt x="453" y="828535"/>
                  </a:lnTo>
                  <a:lnTo>
                    <a:pt x="0" y="819152"/>
                  </a:lnTo>
                  <a:lnTo>
                    <a:pt x="0" y="95252"/>
                  </a:lnTo>
                  <a:lnTo>
                    <a:pt x="11259" y="50306"/>
                  </a:lnTo>
                  <a:lnTo>
                    <a:pt x="42321" y="16040"/>
                  </a:lnTo>
                  <a:lnTo>
                    <a:pt x="85866" y="455"/>
                  </a:lnTo>
                  <a:lnTo>
                    <a:pt x="95250" y="0"/>
                  </a:lnTo>
                  <a:lnTo>
                    <a:pt x="88681" y="455"/>
                  </a:lnTo>
                  <a:lnTo>
                    <a:pt x="82239" y="1815"/>
                  </a:lnTo>
                  <a:lnTo>
                    <a:pt x="48103" y="27900"/>
                  </a:lnTo>
                  <a:lnTo>
                    <a:pt x="31429" y="67643"/>
                  </a:lnTo>
                  <a:lnTo>
                    <a:pt x="28575" y="95252"/>
                  </a:lnTo>
                  <a:lnTo>
                    <a:pt x="28575" y="819152"/>
                  </a:lnTo>
                  <a:lnTo>
                    <a:pt x="36456" y="864098"/>
                  </a:lnTo>
                  <a:lnTo>
                    <a:pt x="58200" y="898364"/>
                  </a:lnTo>
                  <a:lnTo>
                    <a:pt x="88681" y="913949"/>
                  </a:lnTo>
                  <a:lnTo>
                    <a:pt x="95250" y="914399"/>
                  </a:lnTo>
                  <a:close/>
                </a:path>
              </a:pathLst>
            </a:custGeom>
            <a:solidFill>
              <a:srgbClr val="C87D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340225" y="1916159"/>
            <a:ext cx="7002145" cy="66675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050" spc="-105" b="1">
                <a:solidFill>
                  <a:srgbClr val="1B3258"/>
                </a:solidFill>
                <a:latin typeface="Verdana"/>
                <a:cs typeface="Verdana"/>
              </a:rPr>
              <a:t>Q2</a:t>
            </a:r>
            <a:r>
              <a:rPr dirty="0" sz="1050" spc="-13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105" b="1">
                <a:solidFill>
                  <a:srgbClr val="1B3258"/>
                </a:solidFill>
                <a:latin typeface="Verdana"/>
                <a:cs typeface="Verdana"/>
              </a:rPr>
              <a:t>shows</a:t>
            </a:r>
            <a:r>
              <a:rPr dirty="0" sz="1050" spc="-15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100" b="1">
                <a:solidFill>
                  <a:srgbClr val="1B3258"/>
                </a:solidFill>
                <a:latin typeface="Verdana"/>
                <a:cs typeface="Verdana"/>
              </a:rPr>
              <a:t>that</a:t>
            </a:r>
            <a:r>
              <a:rPr dirty="0" sz="1050" spc="-13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80" b="1">
                <a:solidFill>
                  <a:srgbClr val="1B3258"/>
                </a:solidFill>
                <a:latin typeface="Verdana"/>
                <a:cs typeface="Verdana"/>
              </a:rPr>
              <a:t>vehicle</a:t>
            </a:r>
            <a:r>
              <a:rPr dirty="0" sz="1050" spc="-15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100" b="1">
                <a:solidFill>
                  <a:srgbClr val="1B3258"/>
                </a:solidFill>
                <a:latin typeface="Verdana"/>
                <a:cs typeface="Verdana"/>
              </a:rPr>
              <a:t>mix</a:t>
            </a:r>
            <a:r>
              <a:rPr dirty="0" sz="1050" spc="-18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105" b="1">
                <a:solidFill>
                  <a:srgbClr val="1B3258"/>
                </a:solidFill>
                <a:latin typeface="Verdana"/>
                <a:cs typeface="Verdana"/>
              </a:rPr>
              <a:t>matters</a:t>
            </a:r>
            <a:r>
              <a:rPr dirty="0" sz="1050" spc="-15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100" b="1">
                <a:solidFill>
                  <a:srgbClr val="1B3258"/>
                </a:solidFill>
                <a:latin typeface="Verdana"/>
                <a:cs typeface="Verdana"/>
              </a:rPr>
              <a:t>—</a:t>
            </a:r>
            <a:r>
              <a:rPr dirty="0" sz="1050" spc="-20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140" b="1">
                <a:solidFill>
                  <a:srgbClr val="1B3258"/>
                </a:solidFill>
                <a:latin typeface="Verdana"/>
                <a:cs typeface="Verdana"/>
              </a:rPr>
              <a:t>a</a:t>
            </a:r>
            <a:r>
              <a:rPr dirty="0" sz="1050" spc="-114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25" b="1">
                <a:solidFill>
                  <a:srgbClr val="1B3258"/>
                </a:solidFill>
                <a:latin typeface="Verdana"/>
                <a:cs typeface="Verdana"/>
              </a:rPr>
              <a:t>lot</a:t>
            </a:r>
            <a:endParaRPr sz="105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150"/>
              </a:spcBef>
            </a:pP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60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Straight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Truck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orders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add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870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 miles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per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week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and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require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2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extra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vehicles.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If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85">
                <a:solidFill>
                  <a:srgbClr val="768499"/>
                </a:solidFill>
                <a:latin typeface="Microsoft Sans Serif"/>
                <a:cs typeface="Microsoft Sans Serif"/>
              </a:rPr>
              <a:t>MAD's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contract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covers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35">
                <a:solidFill>
                  <a:srgbClr val="768499"/>
                </a:solidFill>
                <a:latin typeface="Microsoft Sans Serif"/>
                <a:cs typeface="Microsoft Sans Serif"/>
              </a:rPr>
              <a:t>ST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routes,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cost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premium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needs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to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be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explicit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otherwise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25">
                <a:solidFill>
                  <a:srgbClr val="768499"/>
                </a:solidFill>
                <a:latin typeface="Microsoft Sans Serif"/>
                <a:cs typeface="Microsoft Sans Serif"/>
              </a:rPr>
              <a:t>NHG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absorbs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it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silently.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133849" y="2895597"/>
            <a:ext cx="7562850" cy="904875"/>
            <a:chOff x="4133849" y="2895597"/>
            <a:chExt cx="7562850" cy="904875"/>
          </a:xfrm>
        </p:grpSpPr>
        <p:sp>
          <p:nvSpPr>
            <p:cNvPr id="33" name="object 33"/>
            <p:cNvSpPr/>
            <p:nvPr/>
          </p:nvSpPr>
          <p:spPr>
            <a:xfrm>
              <a:off x="4148137" y="2895597"/>
              <a:ext cx="7548880" cy="904875"/>
            </a:xfrm>
            <a:custGeom>
              <a:avLst/>
              <a:gdLst/>
              <a:ahLst/>
              <a:cxnLst/>
              <a:rect l="l" t="t" r="r" b="b"/>
              <a:pathLst>
                <a:path w="7548880" h="904875">
                  <a:moveTo>
                    <a:pt x="7459566" y="904874"/>
                  </a:moveTo>
                  <a:lnTo>
                    <a:pt x="75646" y="904874"/>
                  </a:lnTo>
                  <a:lnTo>
                    <a:pt x="70381" y="904265"/>
                  </a:lnTo>
                  <a:lnTo>
                    <a:pt x="31561" y="885341"/>
                  </a:lnTo>
                  <a:lnTo>
                    <a:pt x="8197" y="851840"/>
                  </a:lnTo>
                  <a:lnTo>
                    <a:pt x="0" y="815880"/>
                  </a:lnTo>
                  <a:lnTo>
                    <a:pt x="0" y="809624"/>
                  </a:lnTo>
                  <a:lnTo>
                    <a:pt x="0" y="88994"/>
                  </a:lnTo>
                  <a:lnTo>
                    <a:pt x="10690" y="47518"/>
                  </a:lnTo>
                  <a:lnTo>
                    <a:pt x="40402" y="12571"/>
                  </a:lnTo>
                  <a:lnTo>
                    <a:pt x="75646" y="0"/>
                  </a:lnTo>
                  <a:lnTo>
                    <a:pt x="7459566" y="0"/>
                  </a:lnTo>
                  <a:lnTo>
                    <a:pt x="7501029" y="12566"/>
                  </a:lnTo>
                  <a:lnTo>
                    <a:pt x="7535983" y="47523"/>
                  </a:lnTo>
                  <a:lnTo>
                    <a:pt x="7548562" y="88994"/>
                  </a:lnTo>
                  <a:lnTo>
                    <a:pt x="7548562" y="815880"/>
                  </a:lnTo>
                  <a:lnTo>
                    <a:pt x="7535983" y="857328"/>
                  </a:lnTo>
                  <a:lnTo>
                    <a:pt x="7501029" y="892289"/>
                  </a:lnTo>
                  <a:lnTo>
                    <a:pt x="7465760" y="904260"/>
                  </a:lnTo>
                  <a:lnTo>
                    <a:pt x="7459566" y="904874"/>
                  </a:lnTo>
                  <a:close/>
                </a:path>
              </a:pathLst>
            </a:custGeom>
            <a:solidFill>
              <a:srgbClr val="33D399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133849" y="2895597"/>
              <a:ext cx="95250" cy="904875"/>
            </a:xfrm>
            <a:custGeom>
              <a:avLst/>
              <a:gdLst/>
              <a:ahLst/>
              <a:cxnLst/>
              <a:rect l="l" t="t" r="r" b="b"/>
              <a:pathLst>
                <a:path w="95250" h="904875">
                  <a:moveTo>
                    <a:pt x="95250" y="904874"/>
                  </a:moveTo>
                  <a:lnTo>
                    <a:pt x="50303" y="893617"/>
                  </a:lnTo>
                  <a:lnTo>
                    <a:pt x="16037" y="862555"/>
                  </a:lnTo>
                  <a:lnTo>
                    <a:pt x="453" y="819010"/>
                  </a:lnTo>
                  <a:lnTo>
                    <a:pt x="0" y="809627"/>
                  </a:lnTo>
                  <a:lnTo>
                    <a:pt x="0" y="95252"/>
                  </a:lnTo>
                  <a:lnTo>
                    <a:pt x="11259" y="50306"/>
                  </a:lnTo>
                  <a:lnTo>
                    <a:pt x="42321" y="16039"/>
                  </a:lnTo>
                  <a:lnTo>
                    <a:pt x="85866" y="455"/>
                  </a:lnTo>
                  <a:lnTo>
                    <a:pt x="95250" y="0"/>
                  </a:lnTo>
                  <a:lnTo>
                    <a:pt x="88681" y="455"/>
                  </a:lnTo>
                  <a:lnTo>
                    <a:pt x="82239" y="1815"/>
                  </a:lnTo>
                  <a:lnTo>
                    <a:pt x="48103" y="27900"/>
                  </a:lnTo>
                  <a:lnTo>
                    <a:pt x="31429" y="67643"/>
                  </a:lnTo>
                  <a:lnTo>
                    <a:pt x="28575" y="95252"/>
                  </a:lnTo>
                  <a:lnTo>
                    <a:pt x="28575" y="809627"/>
                  </a:lnTo>
                  <a:lnTo>
                    <a:pt x="36456" y="854573"/>
                  </a:lnTo>
                  <a:lnTo>
                    <a:pt x="58200" y="888839"/>
                  </a:lnTo>
                  <a:lnTo>
                    <a:pt x="88681" y="904424"/>
                  </a:lnTo>
                  <a:lnTo>
                    <a:pt x="95250" y="904874"/>
                  </a:lnTo>
                  <a:close/>
                </a:path>
              </a:pathLst>
            </a:custGeom>
            <a:solidFill>
              <a:srgbClr val="098F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340225" y="2963909"/>
            <a:ext cx="6846570" cy="65722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050" spc="-100" b="1">
                <a:solidFill>
                  <a:srgbClr val="1B3258"/>
                </a:solidFill>
                <a:latin typeface="Verdana"/>
                <a:cs typeface="Verdana"/>
              </a:rPr>
              <a:t>Q3</a:t>
            </a:r>
            <a:r>
              <a:rPr dirty="0" sz="1050" spc="-13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60" b="1">
                <a:solidFill>
                  <a:srgbClr val="1B3258"/>
                </a:solidFill>
                <a:latin typeface="Verdana"/>
                <a:cs typeface="Verdana"/>
              </a:rPr>
              <a:t>is</a:t>
            </a:r>
            <a:r>
              <a:rPr dirty="0" sz="1050" spc="-14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90" b="1">
                <a:solidFill>
                  <a:srgbClr val="1B3258"/>
                </a:solidFill>
                <a:latin typeface="Verdana"/>
                <a:cs typeface="Verdana"/>
              </a:rPr>
              <a:t>the</a:t>
            </a:r>
            <a:r>
              <a:rPr dirty="0" sz="1050" spc="-15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85" b="1">
                <a:solidFill>
                  <a:srgbClr val="1B3258"/>
                </a:solidFill>
                <a:latin typeface="Verdana"/>
                <a:cs typeface="Verdana"/>
              </a:rPr>
              <a:t>negotiating</a:t>
            </a:r>
            <a:r>
              <a:rPr dirty="0" sz="1050" spc="-11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100" b="1">
                <a:solidFill>
                  <a:srgbClr val="1B3258"/>
                </a:solidFill>
                <a:latin typeface="Verdana"/>
                <a:cs typeface="Verdana"/>
              </a:rPr>
              <a:t>leverage</a:t>
            </a:r>
            <a:r>
              <a:rPr dirty="0" sz="1050" spc="-14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55" b="1">
                <a:solidFill>
                  <a:srgbClr val="1B3258"/>
                </a:solidFill>
                <a:latin typeface="Verdana"/>
                <a:cs typeface="Verdana"/>
              </a:rPr>
              <a:t>NHG</a:t>
            </a:r>
            <a:r>
              <a:rPr dirty="0" sz="1050" spc="-18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85" b="1">
                <a:solidFill>
                  <a:srgbClr val="1B3258"/>
                </a:solidFill>
                <a:latin typeface="Verdana"/>
                <a:cs typeface="Verdana"/>
              </a:rPr>
              <a:t>didn't</a:t>
            </a:r>
            <a:r>
              <a:rPr dirty="0" sz="1050" spc="-12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95" b="1">
                <a:solidFill>
                  <a:srgbClr val="1B3258"/>
                </a:solidFill>
                <a:latin typeface="Verdana"/>
                <a:cs typeface="Verdana"/>
              </a:rPr>
              <a:t>know</a:t>
            </a:r>
            <a:r>
              <a:rPr dirty="0" sz="1050" spc="-19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55" b="1">
                <a:solidFill>
                  <a:srgbClr val="1B3258"/>
                </a:solidFill>
                <a:latin typeface="Verdana"/>
                <a:cs typeface="Verdana"/>
              </a:rPr>
              <a:t>it</a:t>
            </a:r>
            <a:r>
              <a:rPr dirty="0" sz="1050" spc="-12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050" spc="-25" b="1">
                <a:solidFill>
                  <a:srgbClr val="1B3258"/>
                </a:solidFill>
                <a:latin typeface="Verdana"/>
                <a:cs typeface="Verdana"/>
              </a:rPr>
              <a:t>had</a:t>
            </a:r>
            <a:endParaRPr sz="1050">
              <a:latin typeface="Verdana"/>
              <a:cs typeface="Verdana"/>
            </a:endParaRPr>
          </a:p>
          <a:p>
            <a:pPr marL="12700" marR="5080">
              <a:lnSpc>
                <a:spcPct val="119000"/>
              </a:lnSpc>
              <a:spcBef>
                <a:spcPts val="225"/>
              </a:spcBef>
            </a:pPr>
            <a:r>
              <a:rPr dirty="0" sz="1050" spc="-75">
                <a:solidFill>
                  <a:srgbClr val="768499"/>
                </a:solidFill>
                <a:latin typeface="Microsoft Sans Serif"/>
                <a:cs typeface="Microsoft Sans Serif"/>
              </a:rPr>
              <a:t>Relaxing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fixed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delivery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schedule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without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adding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vehicles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or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changing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store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frequency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cuts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annual</a:t>
            </a:r>
            <a:r>
              <a:rPr dirty="0" sz="1050" spc="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mileage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nearly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100,000.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That's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upside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25">
                <a:solidFill>
                  <a:srgbClr val="768499"/>
                </a:solidFill>
                <a:latin typeface="Microsoft Sans Serif"/>
                <a:cs typeface="Microsoft Sans Serif"/>
              </a:rPr>
              <a:t>NHG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should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push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768499"/>
                </a:solidFill>
                <a:latin typeface="Microsoft Sans Serif"/>
                <a:cs typeface="Microsoft Sans Serif"/>
              </a:rPr>
              <a:t>MAD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price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in.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133849" y="5762625"/>
            <a:ext cx="2447925" cy="600075"/>
            <a:chOff x="4133849" y="5762625"/>
            <a:chExt cx="2447925" cy="600075"/>
          </a:xfrm>
        </p:grpSpPr>
        <p:sp>
          <p:nvSpPr>
            <p:cNvPr id="37" name="object 37"/>
            <p:cNvSpPr/>
            <p:nvPr/>
          </p:nvSpPr>
          <p:spPr>
            <a:xfrm>
              <a:off x="4133849" y="5762625"/>
              <a:ext cx="2447925" cy="600075"/>
            </a:xfrm>
            <a:custGeom>
              <a:avLst/>
              <a:gdLst/>
              <a:ahLst/>
              <a:cxnLst/>
              <a:rect l="l" t="t" r="r" b="b"/>
              <a:pathLst>
                <a:path w="2447925" h="600075">
                  <a:moveTo>
                    <a:pt x="2371724" y="600074"/>
                  </a:moveTo>
                  <a:lnTo>
                    <a:pt x="76199" y="600074"/>
                  </a:lnTo>
                  <a:lnTo>
                    <a:pt x="68693" y="599712"/>
                  </a:lnTo>
                  <a:lnTo>
                    <a:pt x="27882" y="582807"/>
                  </a:lnTo>
                  <a:lnTo>
                    <a:pt x="3262" y="545961"/>
                  </a:lnTo>
                  <a:lnTo>
                    <a:pt x="0" y="5238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371724" y="0"/>
                  </a:lnTo>
                  <a:lnTo>
                    <a:pt x="2414066" y="12829"/>
                  </a:lnTo>
                  <a:lnTo>
                    <a:pt x="2442123" y="47038"/>
                  </a:lnTo>
                  <a:lnTo>
                    <a:pt x="2447924" y="76199"/>
                  </a:lnTo>
                  <a:lnTo>
                    <a:pt x="2447924" y="523874"/>
                  </a:lnTo>
                  <a:lnTo>
                    <a:pt x="2435093" y="566216"/>
                  </a:lnTo>
                  <a:lnTo>
                    <a:pt x="2400884" y="594274"/>
                  </a:lnTo>
                  <a:lnTo>
                    <a:pt x="2371724" y="600074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133849" y="5762625"/>
              <a:ext cx="2447925" cy="600075"/>
            </a:xfrm>
            <a:custGeom>
              <a:avLst/>
              <a:gdLst/>
              <a:ahLst/>
              <a:cxnLst/>
              <a:rect l="l" t="t" r="r" b="b"/>
              <a:pathLst>
                <a:path w="2447925" h="600075">
                  <a:moveTo>
                    <a:pt x="2371724" y="600074"/>
                  </a:moveTo>
                  <a:lnTo>
                    <a:pt x="76199" y="600074"/>
                  </a:lnTo>
                  <a:lnTo>
                    <a:pt x="68693" y="599712"/>
                  </a:lnTo>
                  <a:lnTo>
                    <a:pt x="27882" y="582807"/>
                  </a:lnTo>
                  <a:lnTo>
                    <a:pt x="3262" y="545961"/>
                  </a:lnTo>
                  <a:lnTo>
                    <a:pt x="0" y="5238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371724" y="0"/>
                  </a:lnTo>
                  <a:lnTo>
                    <a:pt x="2408544" y="9524"/>
                  </a:lnTo>
                  <a:lnTo>
                    <a:pt x="71821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528252"/>
                  </a:lnTo>
                  <a:lnTo>
                    <a:pt x="9833" y="531381"/>
                  </a:lnTo>
                  <a:lnTo>
                    <a:pt x="9951" y="532588"/>
                  </a:lnTo>
                  <a:lnTo>
                    <a:pt x="25957" y="567925"/>
                  </a:lnTo>
                  <a:lnTo>
                    <a:pt x="58898" y="588414"/>
                  </a:lnTo>
                  <a:lnTo>
                    <a:pt x="71821" y="590549"/>
                  </a:lnTo>
                  <a:lnTo>
                    <a:pt x="2408544" y="590549"/>
                  </a:lnTo>
                  <a:lnTo>
                    <a:pt x="2407680" y="591066"/>
                  </a:lnTo>
                  <a:lnTo>
                    <a:pt x="2400884" y="594274"/>
                  </a:lnTo>
                  <a:lnTo>
                    <a:pt x="2393810" y="596811"/>
                  </a:lnTo>
                  <a:lnTo>
                    <a:pt x="2386593" y="598624"/>
                  </a:lnTo>
                  <a:lnTo>
                    <a:pt x="2379231" y="599712"/>
                  </a:lnTo>
                  <a:lnTo>
                    <a:pt x="2371724" y="600074"/>
                  </a:lnTo>
                  <a:close/>
                </a:path>
                <a:path w="2447925" h="600075">
                  <a:moveTo>
                    <a:pt x="2408544" y="590549"/>
                  </a:moveTo>
                  <a:lnTo>
                    <a:pt x="2376102" y="590549"/>
                  </a:lnTo>
                  <a:lnTo>
                    <a:pt x="2380438" y="590122"/>
                  </a:lnTo>
                  <a:lnTo>
                    <a:pt x="2389025" y="588414"/>
                  </a:lnTo>
                  <a:lnTo>
                    <a:pt x="2421966" y="567925"/>
                  </a:lnTo>
                  <a:lnTo>
                    <a:pt x="2437972" y="532588"/>
                  </a:lnTo>
                  <a:lnTo>
                    <a:pt x="2438399" y="528252"/>
                  </a:lnTo>
                  <a:lnTo>
                    <a:pt x="2438399" y="71821"/>
                  </a:lnTo>
                  <a:lnTo>
                    <a:pt x="2424730" y="35517"/>
                  </a:lnTo>
                  <a:lnTo>
                    <a:pt x="2392882" y="12829"/>
                  </a:lnTo>
                  <a:lnTo>
                    <a:pt x="2376102" y="9524"/>
                  </a:lnTo>
                  <a:lnTo>
                    <a:pt x="2408544" y="9524"/>
                  </a:lnTo>
                  <a:lnTo>
                    <a:pt x="2438915" y="40242"/>
                  </a:lnTo>
                  <a:lnTo>
                    <a:pt x="2447924" y="523874"/>
                  </a:lnTo>
                  <a:lnTo>
                    <a:pt x="2447561" y="531381"/>
                  </a:lnTo>
                  <a:lnTo>
                    <a:pt x="2430657" y="572191"/>
                  </a:lnTo>
                  <a:lnTo>
                    <a:pt x="2414193" y="587149"/>
                  </a:lnTo>
                  <a:lnTo>
                    <a:pt x="2408544" y="590549"/>
                  </a:lnTo>
                  <a:close/>
                </a:path>
              </a:pathLst>
            </a:custGeom>
            <a:solidFill>
              <a:srgbClr val="162E52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4974083" y="5801115"/>
            <a:ext cx="748665" cy="441959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29209">
              <a:lnSpc>
                <a:spcPct val="100000"/>
              </a:lnSpc>
              <a:spcBef>
                <a:spcPts val="495"/>
              </a:spcBef>
            </a:pPr>
            <a:r>
              <a:rPr dirty="0" sz="1450" spc="-20" b="1">
                <a:solidFill>
                  <a:srgbClr val="0086A7"/>
                </a:solidFill>
                <a:latin typeface="Verdana"/>
                <a:cs typeface="Verdana"/>
              </a:rPr>
              <a:t>349K</a:t>
            </a:r>
            <a:endParaRPr sz="1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750" spc="-20">
                <a:solidFill>
                  <a:srgbClr val="798FAC"/>
                </a:solidFill>
                <a:latin typeface="Microsoft Sans Serif"/>
                <a:cs typeface="Microsoft Sans Serif"/>
              </a:rPr>
              <a:t>Q1</a:t>
            </a:r>
            <a:r>
              <a:rPr dirty="0" sz="750" spc="24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ANNUAL</a:t>
            </a:r>
            <a:r>
              <a:rPr dirty="0" sz="750" spc="20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798FAC"/>
                </a:solidFill>
                <a:latin typeface="Microsoft Sans Serif"/>
                <a:cs typeface="Microsoft Sans Serif"/>
              </a:rPr>
              <a:t>MI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696074" y="5762625"/>
            <a:ext cx="2438400" cy="600075"/>
            <a:chOff x="6696074" y="5762625"/>
            <a:chExt cx="2438400" cy="600075"/>
          </a:xfrm>
        </p:grpSpPr>
        <p:sp>
          <p:nvSpPr>
            <p:cNvPr id="41" name="object 41"/>
            <p:cNvSpPr/>
            <p:nvPr/>
          </p:nvSpPr>
          <p:spPr>
            <a:xfrm>
              <a:off x="6696074" y="5762625"/>
              <a:ext cx="2438400" cy="600075"/>
            </a:xfrm>
            <a:custGeom>
              <a:avLst/>
              <a:gdLst/>
              <a:ahLst/>
              <a:cxnLst/>
              <a:rect l="l" t="t" r="r" b="b"/>
              <a:pathLst>
                <a:path w="2438400" h="600075">
                  <a:moveTo>
                    <a:pt x="2362199" y="600074"/>
                  </a:moveTo>
                  <a:lnTo>
                    <a:pt x="76199" y="600074"/>
                  </a:lnTo>
                  <a:lnTo>
                    <a:pt x="68693" y="599712"/>
                  </a:lnTo>
                  <a:lnTo>
                    <a:pt x="27882" y="582807"/>
                  </a:lnTo>
                  <a:lnTo>
                    <a:pt x="3261" y="545961"/>
                  </a:lnTo>
                  <a:lnTo>
                    <a:pt x="0" y="5238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362199" y="0"/>
                  </a:lnTo>
                  <a:lnTo>
                    <a:pt x="2404540" y="12829"/>
                  </a:lnTo>
                  <a:lnTo>
                    <a:pt x="2432597" y="47038"/>
                  </a:lnTo>
                  <a:lnTo>
                    <a:pt x="2438399" y="76199"/>
                  </a:lnTo>
                  <a:lnTo>
                    <a:pt x="2438399" y="523874"/>
                  </a:lnTo>
                  <a:lnTo>
                    <a:pt x="2425568" y="566216"/>
                  </a:lnTo>
                  <a:lnTo>
                    <a:pt x="2391359" y="594274"/>
                  </a:lnTo>
                  <a:lnTo>
                    <a:pt x="2362199" y="600074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696074" y="5762625"/>
              <a:ext cx="2438400" cy="600075"/>
            </a:xfrm>
            <a:custGeom>
              <a:avLst/>
              <a:gdLst/>
              <a:ahLst/>
              <a:cxnLst/>
              <a:rect l="l" t="t" r="r" b="b"/>
              <a:pathLst>
                <a:path w="2438400" h="600075">
                  <a:moveTo>
                    <a:pt x="2362199" y="600074"/>
                  </a:moveTo>
                  <a:lnTo>
                    <a:pt x="76199" y="600074"/>
                  </a:lnTo>
                  <a:lnTo>
                    <a:pt x="68693" y="599712"/>
                  </a:lnTo>
                  <a:lnTo>
                    <a:pt x="27882" y="582807"/>
                  </a:lnTo>
                  <a:lnTo>
                    <a:pt x="3261" y="545961"/>
                  </a:lnTo>
                  <a:lnTo>
                    <a:pt x="0" y="5238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362199" y="0"/>
                  </a:lnTo>
                  <a:lnTo>
                    <a:pt x="2399019" y="9524"/>
                  </a:lnTo>
                  <a:lnTo>
                    <a:pt x="71821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528252"/>
                  </a:lnTo>
                  <a:lnTo>
                    <a:pt x="9833" y="531381"/>
                  </a:lnTo>
                  <a:lnTo>
                    <a:pt x="9951" y="532588"/>
                  </a:lnTo>
                  <a:lnTo>
                    <a:pt x="25957" y="567925"/>
                  </a:lnTo>
                  <a:lnTo>
                    <a:pt x="58898" y="588414"/>
                  </a:lnTo>
                  <a:lnTo>
                    <a:pt x="71821" y="590549"/>
                  </a:lnTo>
                  <a:lnTo>
                    <a:pt x="2399018" y="590549"/>
                  </a:lnTo>
                  <a:lnTo>
                    <a:pt x="2398155" y="591066"/>
                  </a:lnTo>
                  <a:lnTo>
                    <a:pt x="2391359" y="594274"/>
                  </a:lnTo>
                  <a:lnTo>
                    <a:pt x="2384285" y="596811"/>
                  </a:lnTo>
                  <a:lnTo>
                    <a:pt x="2377068" y="598624"/>
                  </a:lnTo>
                  <a:lnTo>
                    <a:pt x="2369706" y="599712"/>
                  </a:lnTo>
                  <a:lnTo>
                    <a:pt x="2362199" y="600074"/>
                  </a:lnTo>
                  <a:close/>
                </a:path>
                <a:path w="2438400" h="600075">
                  <a:moveTo>
                    <a:pt x="2399018" y="590549"/>
                  </a:moveTo>
                  <a:lnTo>
                    <a:pt x="2366577" y="590549"/>
                  </a:lnTo>
                  <a:lnTo>
                    <a:pt x="2370913" y="590122"/>
                  </a:lnTo>
                  <a:lnTo>
                    <a:pt x="2379501" y="588414"/>
                  </a:lnTo>
                  <a:lnTo>
                    <a:pt x="2412441" y="567925"/>
                  </a:lnTo>
                  <a:lnTo>
                    <a:pt x="2428447" y="532588"/>
                  </a:lnTo>
                  <a:lnTo>
                    <a:pt x="2428874" y="528252"/>
                  </a:lnTo>
                  <a:lnTo>
                    <a:pt x="2428874" y="71821"/>
                  </a:lnTo>
                  <a:lnTo>
                    <a:pt x="2415205" y="35517"/>
                  </a:lnTo>
                  <a:lnTo>
                    <a:pt x="2383357" y="12829"/>
                  </a:lnTo>
                  <a:lnTo>
                    <a:pt x="2366577" y="9524"/>
                  </a:lnTo>
                  <a:lnTo>
                    <a:pt x="2399019" y="9524"/>
                  </a:lnTo>
                  <a:lnTo>
                    <a:pt x="2429390" y="40242"/>
                  </a:lnTo>
                  <a:lnTo>
                    <a:pt x="2438399" y="523874"/>
                  </a:lnTo>
                  <a:lnTo>
                    <a:pt x="2438036" y="531381"/>
                  </a:lnTo>
                  <a:lnTo>
                    <a:pt x="2421131" y="572191"/>
                  </a:lnTo>
                  <a:lnTo>
                    <a:pt x="2404667" y="587149"/>
                  </a:lnTo>
                  <a:lnTo>
                    <a:pt x="2399018" y="590549"/>
                  </a:lnTo>
                  <a:close/>
                </a:path>
              </a:pathLst>
            </a:custGeom>
            <a:solidFill>
              <a:srgbClr val="162E52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7520532" y="5801115"/>
            <a:ext cx="773430" cy="441959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28575">
              <a:lnSpc>
                <a:spcPct val="100000"/>
              </a:lnSpc>
              <a:spcBef>
                <a:spcPts val="495"/>
              </a:spcBef>
            </a:pPr>
            <a:r>
              <a:rPr dirty="0" sz="1450" spc="-20" b="1">
                <a:solidFill>
                  <a:srgbClr val="C87D09"/>
                </a:solidFill>
                <a:latin typeface="Verdana"/>
                <a:cs typeface="Verdana"/>
              </a:rPr>
              <a:t>394K</a:t>
            </a:r>
            <a:endParaRPr sz="1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Q2</a:t>
            </a:r>
            <a:r>
              <a:rPr dirty="0" sz="750" spc="30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ANNUAL</a:t>
            </a:r>
            <a:r>
              <a:rPr dirty="0" sz="750" spc="30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798FAC"/>
                </a:solidFill>
                <a:latin typeface="Microsoft Sans Serif"/>
                <a:cs typeface="Microsoft Sans Serif"/>
              </a:rPr>
              <a:t>MI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9248774" y="5762625"/>
            <a:ext cx="2447925" cy="600075"/>
            <a:chOff x="9248774" y="5762625"/>
            <a:chExt cx="2447925" cy="600075"/>
          </a:xfrm>
        </p:grpSpPr>
        <p:sp>
          <p:nvSpPr>
            <p:cNvPr id="45" name="object 45"/>
            <p:cNvSpPr/>
            <p:nvPr/>
          </p:nvSpPr>
          <p:spPr>
            <a:xfrm>
              <a:off x="9248774" y="5762625"/>
              <a:ext cx="2447925" cy="600075"/>
            </a:xfrm>
            <a:custGeom>
              <a:avLst/>
              <a:gdLst/>
              <a:ahLst/>
              <a:cxnLst/>
              <a:rect l="l" t="t" r="r" b="b"/>
              <a:pathLst>
                <a:path w="2447925" h="600075">
                  <a:moveTo>
                    <a:pt x="2371724" y="600074"/>
                  </a:moveTo>
                  <a:lnTo>
                    <a:pt x="76199" y="600074"/>
                  </a:lnTo>
                  <a:lnTo>
                    <a:pt x="68693" y="599712"/>
                  </a:lnTo>
                  <a:lnTo>
                    <a:pt x="27881" y="582807"/>
                  </a:lnTo>
                  <a:lnTo>
                    <a:pt x="3261" y="545961"/>
                  </a:lnTo>
                  <a:lnTo>
                    <a:pt x="0" y="52387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7" y="5800"/>
                  </a:lnTo>
                  <a:lnTo>
                    <a:pt x="76199" y="0"/>
                  </a:lnTo>
                  <a:lnTo>
                    <a:pt x="2371724" y="0"/>
                  </a:lnTo>
                  <a:lnTo>
                    <a:pt x="2414066" y="12829"/>
                  </a:lnTo>
                  <a:lnTo>
                    <a:pt x="2442123" y="47038"/>
                  </a:lnTo>
                  <a:lnTo>
                    <a:pt x="2447924" y="76199"/>
                  </a:lnTo>
                  <a:lnTo>
                    <a:pt x="2447924" y="523874"/>
                  </a:lnTo>
                  <a:lnTo>
                    <a:pt x="2435093" y="566216"/>
                  </a:lnTo>
                  <a:lnTo>
                    <a:pt x="2400884" y="594274"/>
                  </a:lnTo>
                  <a:lnTo>
                    <a:pt x="2371724" y="600074"/>
                  </a:lnTo>
                  <a:close/>
                </a:path>
              </a:pathLst>
            </a:custGeom>
            <a:solidFill>
              <a:srgbClr val="33D399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9248774" y="5762625"/>
              <a:ext cx="2447925" cy="600075"/>
            </a:xfrm>
            <a:custGeom>
              <a:avLst/>
              <a:gdLst/>
              <a:ahLst/>
              <a:cxnLst/>
              <a:rect l="l" t="t" r="r" b="b"/>
              <a:pathLst>
                <a:path w="2447925" h="600075">
                  <a:moveTo>
                    <a:pt x="2371724" y="600074"/>
                  </a:moveTo>
                  <a:lnTo>
                    <a:pt x="76199" y="600074"/>
                  </a:lnTo>
                  <a:lnTo>
                    <a:pt x="68693" y="599712"/>
                  </a:lnTo>
                  <a:lnTo>
                    <a:pt x="27881" y="582807"/>
                  </a:lnTo>
                  <a:lnTo>
                    <a:pt x="3261" y="545961"/>
                  </a:lnTo>
                  <a:lnTo>
                    <a:pt x="0" y="52387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7" y="5800"/>
                  </a:lnTo>
                  <a:lnTo>
                    <a:pt x="76199" y="0"/>
                  </a:lnTo>
                  <a:lnTo>
                    <a:pt x="2371724" y="0"/>
                  </a:lnTo>
                  <a:lnTo>
                    <a:pt x="2408544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528252"/>
                  </a:lnTo>
                  <a:lnTo>
                    <a:pt x="9832" y="531381"/>
                  </a:lnTo>
                  <a:lnTo>
                    <a:pt x="9951" y="532588"/>
                  </a:lnTo>
                  <a:lnTo>
                    <a:pt x="25957" y="567925"/>
                  </a:lnTo>
                  <a:lnTo>
                    <a:pt x="58898" y="588414"/>
                  </a:lnTo>
                  <a:lnTo>
                    <a:pt x="71821" y="590549"/>
                  </a:lnTo>
                  <a:lnTo>
                    <a:pt x="2408544" y="590549"/>
                  </a:lnTo>
                  <a:lnTo>
                    <a:pt x="2407680" y="591066"/>
                  </a:lnTo>
                  <a:lnTo>
                    <a:pt x="2400884" y="594274"/>
                  </a:lnTo>
                  <a:lnTo>
                    <a:pt x="2393811" y="596811"/>
                  </a:lnTo>
                  <a:lnTo>
                    <a:pt x="2386593" y="598624"/>
                  </a:lnTo>
                  <a:lnTo>
                    <a:pt x="2379231" y="599712"/>
                  </a:lnTo>
                  <a:lnTo>
                    <a:pt x="2371724" y="600074"/>
                  </a:lnTo>
                  <a:close/>
                </a:path>
                <a:path w="2447925" h="600075">
                  <a:moveTo>
                    <a:pt x="2408544" y="590549"/>
                  </a:moveTo>
                  <a:lnTo>
                    <a:pt x="2376102" y="590549"/>
                  </a:lnTo>
                  <a:lnTo>
                    <a:pt x="2380438" y="590122"/>
                  </a:lnTo>
                  <a:lnTo>
                    <a:pt x="2389025" y="588414"/>
                  </a:lnTo>
                  <a:lnTo>
                    <a:pt x="2421966" y="567925"/>
                  </a:lnTo>
                  <a:lnTo>
                    <a:pt x="2437972" y="532588"/>
                  </a:lnTo>
                  <a:lnTo>
                    <a:pt x="2438399" y="528252"/>
                  </a:lnTo>
                  <a:lnTo>
                    <a:pt x="2438399" y="71821"/>
                  </a:lnTo>
                  <a:lnTo>
                    <a:pt x="2424730" y="35517"/>
                  </a:lnTo>
                  <a:lnTo>
                    <a:pt x="2392881" y="12829"/>
                  </a:lnTo>
                  <a:lnTo>
                    <a:pt x="2376102" y="9524"/>
                  </a:lnTo>
                  <a:lnTo>
                    <a:pt x="2408544" y="9524"/>
                  </a:lnTo>
                  <a:lnTo>
                    <a:pt x="2438915" y="40242"/>
                  </a:lnTo>
                  <a:lnTo>
                    <a:pt x="2447924" y="523874"/>
                  </a:lnTo>
                  <a:lnTo>
                    <a:pt x="2447562" y="531381"/>
                  </a:lnTo>
                  <a:lnTo>
                    <a:pt x="2430657" y="572191"/>
                  </a:lnTo>
                  <a:lnTo>
                    <a:pt x="2414193" y="587149"/>
                  </a:lnTo>
                  <a:lnTo>
                    <a:pt x="2408544" y="590549"/>
                  </a:lnTo>
                  <a:close/>
                </a:path>
              </a:pathLst>
            </a:custGeom>
            <a:solidFill>
              <a:srgbClr val="33D399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10078887" y="5801115"/>
            <a:ext cx="775335" cy="441959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28575">
              <a:lnSpc>
                <a:spcPct val="100000"/>
              </a:lnSpc>
              <a:spcBef>
                <a:spcPts val="495"/>
              </a:spcBef>
            </a:pPr>
            <a:r>
              <a:rPr dirty="0" sz="1450" spc="-20" b="1">
                <a:solidFill>
                  <a:srgbClr val="098F60"/>
                </a:solidFill>
                <a:latin typeface="Verdana"/>
                <a:cs typeface="Verdana"/>
              </a:rPr>
              <a:t>249K</a:t>
            </a:r>
            <a:endParaRPr sz="1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Q3</a:t>
            </a:r>
            <a:r>
              <a:rPr dirty="0" sz="750" spc="31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ANNUAL</a:t>
            </a:r>
            <a:r>
              <a:rPr dirty="0" sz="750" spc="30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798FAC"/>
                </a:solidFill>
                <a:latin typeface="Microsoft Sans Serif"/>
                <a:cs typeface="Microsoft Sans Serif"/>
              </a:rPr>
              <a:t>MI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10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"/>
            <a:ext cx="12192000" cy="6858000"/>
            <a:chOff x="0" y="-2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3661" y="0"/>
              <a:ext cx="6768337" cy="657936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96899" y="475299"/>
            <a:ext cx="141097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30" b="1">
                <a:solidFill>
                  <a:srgbClr val="C87D09"/>
                </a:solidFill>
                <a:latin typeface="Verdana"/>
                <a:cs typeface="Verdana"/>
              </a:rPr>
              <a:t>V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U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9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L</a:t>
            </a:r>
            <a:r>
              <a:rPr dirty="0" sz="800" spc="3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N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L</a:t>
            </a:r>
            <a:r>
              <a:rPr dirty="0" sz="800" spc="-14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Y</a:t>
            </a:r>
            <a:r>
              <a:rPr dirty="0" sz="800" spc="-9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spc="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55" b="1">
                <a:solidFill>
                  <a:srgbClr val="C87D09"/>
                </a:solidFill>
                <a:latin typeface="Verdana"/>
                <a:cs typeface="Verdana"/>
              </a:rPr>
              <a:t>C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6899" y="646346"/>
            <a:ext cx="7084695" cy="4806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275"/>
              <a:t>Three-</a:t>
            </a:r>
            <a:r>
              <a:rPr dirty="0" sz="2950" spc="-250"/>
              <a:t>Scenario</a:t>
            </a:r>
            <a:r>
              <a:rPr dirty="0" sz="2950" spc="-490"/>
              <a:t> </a:t>
            </a:r>
            <a:r>
              <a:rPr dirty="0" sz="2950" spc="-240"/>
              <a:t>Dail</a:t>
            </a:r>
            <a:r>
              <a:rPr dirty="0" sz="2900" spc="-240"/>
              <a:t>y</a:t>
            </a:r>
            <a:r>
              <a:rPr dirty="0" sz="2900" spc="-545"/>
              <a:t> </a:t>
            </a:r>
            <a:r>
              <a:rPr dirty="0" sz="2950" spc="-175"/>
              <a:t>Miles</a:t>
            </a:r>
            <a:r>
              <a:rPr dirty="0" sz="2950" spc="-480"/>
              <a:t> </a:t>
            </a:r>
            <a:r>
              <a:rPr dirty="0" sz="2950" spc="-204"/>
              <a:t>Comparison</a:t>
            </a:r>
            <a:endParaRPr sz="2950"/>
          </a:p>
        </p:txBody>
      </p:sp>
      <p:grpSp>
        <p:nvGrpSpPr>
          <p:cNvPr id="7" name="object 7"/>
          <p:cNvGrpSpPr/>
          <p:nvPr/>
        </p:nvGrpSpPr>
        <p:grpSpPr>
          <a:xfrm>
            <a:off x="609599" y="1266821"/>
            <a:ext cx="5391150" cy="5105400"/>
            <a:chOff x="609599" y="1266821"/>
            <a:chExt cx="5391150" cy="5105400"/>
          </a:xfrm>
        </p:grpSpPr>
        <p:sp>
          <p:nvSpPr>
            <p:cNvPr id="8" name="object 8"/>
            <p:cNvSpPr/>
            <p:nvPr/>
          </p:nvSpPr>
          <p:spPr>
            <a:xfrm>
              <a:off x="609599" y="1266821"/>
              <a:ext cx="5391150" cy="5105400"/>
            </a:xfrm>
            <a:custGeom>
              <a:avLst/>
              <a:gdLst/>
              <a:ahLst/>
              <a:cxnLst/>
              <a:rect l="l" t="t" r="r" b="b"/>
              <a:pathLst>
                <a:path w="5391150" h="5105400">
                  <a:moveTo>
                    <a:pt x="5257799" y="5105399"/>
                  </a:moveTo>
                  <a:lnTo>
                    <a:pt x="133349" y="5105399"/>
                  </a:lnTo>
                  <a:lnTo>
                    <a:pt x="120213" y="5104764"/>
                  </a:lnTo>
                  <a:lnTo>
                    <a:pt x="82320" y="5095247"/>
                  </a:lnTo>
                  <a:lnTo>
                    <a:pt x="48794" y="5075181"/>
                  </a:lnTo>
                  <a:lnTo>
                    <a:pt x="22452" y="5046148"/>
                  </a:lnTo>
                  <a:lnTo>
                    <a:pt x="5709" y="5010700"/>
                  </a:lnTo>
                  <a:lnTo>
                    <a:pt x="0" y="497204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50" y="5709"/>
                  </a:lnTo>
                  <a:lnTo>
                    <a:pt x="5331898" y="22452"/>
                  </a:lnTo>
                  <a:lnTo>
                    <a:pt x="5360931" y="48794"/>
                  </a:lnTo>
                  <a:lnTo>
                    <a:pt x="5380998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4972049"/>
                  </a:lnTo>
                  <a:lnTo>
                    <a:pt x="5385438" y="5010700"/>
                  </a:lnTo>
                  <a:lnTo>
                    <a:pt x="5368696" y="5046148"/>
                  </a:lnTo>
                  <a:lnTo>
                    <a:pt x="5342354" y="5075181"/>
                  </a:lnTo>
                  <a:lnTo>
                    <a:pt x="5308829" y="5095247"/>
                  </a:lnTo>
                  <a:lnTo>
                    <a:pt x="5270935" y="5104764"/>
                  </a:lnTo>
                  <a:lnTo>
                    <a:pt x="5257799" y="5105399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599" y="1266825"/>
              <a:ext cx="5391150" cy="5105400"/>
            </a:xfrm>
            <a:custGeom>
              <a:avLst/>
              <a:gdLst/>
              <a:ahLst/>
              <a:cxnLst/>
              <a:rect l="l" t="t" r="r" b="b"/>
              <a:pathLst>
                <a:path w="5391150" h="5105400">
                  <a:moveTo>
                    <a:pt x="5257799" y="5105399"/>
                  </a:moveTo>
                  <a:lnTo>
                    <a:pt x="133349" y="5105399"/>
                  </a:lnTo>
                  <a:lnTo>
                    <a:pt x="120213" y="5104765"/>
                  </a:lnTo>
                  <a:lnTo>
                    <a:pt x="82320" y="5095248"/>
                  </a:lnTo>
                  <a:lnTo>
                    <a:pt x="48794" y="5075182"/>
                  </a:lnTo>
                  <a:lnTo>
                    <a:pt x="22452" y="5046148"/>
                  </a:lnTo>
                  <a:lnTo>
                    <a:pt x="5709" y="5010700"/>
                  </a:lnTo>
                  <a:lnTo>
                    <a:pt x="0" y="497204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9" y="2537"/>
                  </a:lnTo>
                  <a:lnTo>
                    <a:pt x="5296450" y="5709"/>
                  </a:lnTo>
                  <a:lnTo>
                    <a:pt x="5307086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4980179"/>
                  </a:lnTo>
                  <a:lnTo>
                    <a:pt x="22061" y="5026946"/>
                  </a:lnTo>
                  <a:lnTo>
                    <a:pt x="51541" y="5065356"/>
                  </a:lnTo>
                  <a:lnTo>
                    <a:pt x="93474" y="5089559"/>
                  </a:lnTo>
                  <a:lnTo>
                    <a:pt x="125219" y="5095874"/>
                  </a:lnTo>
                  <a:lnTo>
                    <a:pt x="5307084" y="5095874"/>
                  </a:lnTo>
                  <a:lnTo>
                    <a:pt x="5296450" y="5099689"/>
                  </a:lnTo>
                  <a:lnTo>
                    <a:pt x="5283819" y="5102861"/>
                  </a:lnTo>
                  <a:lnTo>
                    <a:pt x="5270935" y="5104765"/>
                  </a:lnTo>
                  <a:lnTo>
                    <a:pt x="5257799" y="5105399"/>
                  </a:lnTo>
                  <a:close/>
                </a:path>
                <a:path w="5391150" h="5105400">
                  <a:moveTo>
                    <a:pt x="5307084" y="5095874"/>
                  </a:moveTo>
                  <a:lnTo>
                    <a:pt x="5265930" y="5095874"/>
                  </a:lnTo>
                  <a:lnTo>
                    <a:pt x="5273982" y="5095081"/>
                  </a:lnTo>
                  <a:lnTo>
                    <a:pt x="5289930" y="5091908"/>
                  </a:lnTo>
                  <a:lnTo>
                    <a:pt x="5333352" y="5070489"/>
                  </a:lnTo>
                  <a:lnTo>
                    <a:pt x="5365273" y="5034082"/>
                  </a:lnTo>
                  <a:lnTo>
                    <a:pt x="5380831" y="4988232"/>
                  </a:lnTo>
                  <a:lnTo>
                    <a:pt x="5381624" y="4980179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4" y="15763"/>
                  </a:lnTo>
                  <a:lnTo>
                    <a:pt x="5265930" y="9524"/>
                  </a:lnTo>
                  <a:lnTo>
                    <a:pt x="5307086" y="9524"/>
                  </a:lnTo>
                  <a:lnTo>
                    <a:pt x="5342354" y="30217"/>
                  </a:lnTo>
                  <a:lnTo>
                    <a:pt x="5368696" y="59250"/>
                  </a:lnTo>
                  <a:lnTo>
                    <a:pt x="5385439" y="94698"/>
                  </a:lnTo>
                  <a:lnTo>
                    <a:pt x="5391149" y="133349"/>
                  </a:lnTo>
                  <a:lnTo>
                    <a:pt x="5391149" y="4972049"/>
                  </a:lnTo>
                  <a:lnTo>
                    <a:pt x="5390515" y="4985185"/>
                  </a:lnTo>
                  <a:lnTo>
                    <a:pt x="5380998" y="5023079"/>
                  </a:lnTo>
                  <a:lnTo>
                    <a:pt x="5360932" y="5056604"/>
                  </a:lnTo>
                  <a:lnTo>
                    <a:pt x="5331898" y="5082946"/>
                  </a:lnTo>
                  <a:lnTo>
                    <a:pt x="5308829" y="5095248"/>
                  </a:lnTo>
                  <a:lnTo>
                    <a:pt x="5307084" y="50958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96925" y="1427799"/>
            <a:ext cx="192278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LY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798FAC"/>
                </a:solidFill>
                <a:latin typeface="Verdana"/>
                <a:cs typeface="Verdana"/>
              </a:rPr>
              <a:t>L</a:t>
            </a:r>
            <a:r>
              <a:rPr dirty="0" sz="80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:</a:t>
            </a:r>
            <a:r>
              <a:rPr dirty="0" sz="800" spc="114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Q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300" b="1">
                <a:solidFill>
                  <a:srgbClr val="798FAC"/>
                </a:solidFill>
                <a:latin typeface="Verdana"/>
                <a:cs typeface="Verdana"/>
              </a:rPr>
              <a:t>1</a:t>
            </a:r>
            <a:r>
              <a:rPr dirty="0" sz="800" spc="2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30" b="1">
                <a:solidFill>
                  <a:srgbClr val="798FAC"/>
                </a:solidFill>
                <a:latin typeface="Verdana"/>
                <a:cs typeface="Verdana"/>
              </a:rPr>
              <a:t>V</a:t>
            </a:r>
            <a:r>
              <a:rPr dirty="0" sz="800" spc="-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Q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2</a:t>
            </a:r>
            <a:r>
              <a:rPr dirty="0" sz="800" spc="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30" b="1">
                <a:solidFill>
                  <a:srgbClr val="798FAC"/>
                </a:solidFill>
                <a:latin typeface="Verdana"/>
                <a:cs typeface="Verdana"/>
              </a:rPr>
              <a:t>V</a:t>
            </a:r>
            <a:r>
              <a:rPr dirty="0" sz="800" spc="-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Q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3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91249" y="1266821"/>
            <a:ext cx="5391150" cy="2981325"/>
            <a:chOff x="6191249" y="1266821"/>
            <a:chExt cx="5391150" cy="2981325"/>
          </a:xfrm>
        </p:grpSpPr>
        <p:sp>
          <p:nvSpPr>
            <p:cNvPr id="12" name="object 12"/>
            <p:cNvSpPr/>
            <p:nvPr/>
          </p:nvSpPr>
          <p:spPr>
            <a:xfrm>
              <a:off x="6191249" y="1266821"/>
              <a:ext cx="5391150" cy="2981325"/>
            </a:xfrm>
            <a:custGeom>
              <a:avLst/>
              <a:gdLst/>
              <a:ahLst/>
              <a:cxnLst/>
              <a:rect l="l" t="t" r="r" b="b"/>
              <a:pathLst>
                <a:path w="5391150" h="2981325">
                  <a:moveTo>
                    <a:pt x="5257799" y="2981324"/>
                  </a:moveTo>
                  <a:lnTo>
                    <a:pt x="133349" y="2981324"/>
                  </a:lnTo>
                  <a:lnTo>
                    <a:pt x="120213" y="2980690"/>
                  </a:lnTo>
                  <a:lnTo>
                    <a:pt x="82318" y="2971173"/>
                  </a:lnTo>
                  <a:lnTo>
                    <a:pt x="48793" y="2951107"/>
                  </a:lnTo>
                  <a:lnTo>
                    <a:pt x="22451" y="2922073"/>
                  </a:lnTo>
                  <a:lnTo>
                    <a:pt x="5709" y="2886626"/>
                  </a:lnTo>
                  <a:lnTo>
                    <a:pt x="0" y="28479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3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49" y="5709"/>
                  </a:lnTo>
                  <a:lnTo>
                    <a:pt x="5331897" y="22452"/>
                  </a:lnTo>
                  <a:lnTo>
                    <a:pt x="5360931" y="48794"/>
                  </a:lnTo>
                  <a:lnTo>
                    <a:pt x="5380997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2847974"/>
                  </a:lnTo>
                  <a:lnTo>
                    <a:pt x="5385438" y="2886626"/>
                  </a:lnTo>
                  <a:lnTo>
                    <a:pt x="5368695" y="2922073"/>
                  </a:lnTo>
                  <a:lnTo>
                    <a:pt x="5342354" y="2951107"/>
                  </a:lnTo>
                  <a:lnTo>
                    <a:pt x="5308828" y="2971173"/>
                  </a:lnTo>
                  <a:lnTo>
                    <a:pt x="5270935" y="2980690"/>
                  </a:lnTo>
                  <a:lnTo>
                    <a:pt x="5257799" y="298132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91249" y="1266825"/>
              <a:ext cx="5391150" cy="2981325"/>
            </a:xfrm>
            <a:custGeom>
              <a:avLst/>
              <a:gdLst/>
              <a:ahLst/>
              <a:cxnLst/>
              <a:rect l="l" t="t" r="r" b="b"/>
              <a:pathLst>
                <a:path w="5391150" h="2981325">
                  <a:moveTo>
                    <a:pt x="5257799" y="2981324"/>
                  </a:moveTo>
                  <a:lnTo>
                    <a:pt x="133349" y="2981324"/>
                  </a:lnTo>
                  <a:lnTo>
                    <a:pt x="120213" y="2980690"/>
                  </a:lnTo>
                  <a:lnTo>
                    <a:pt x="82318" y="2971173"/>
                  </a:lnTo>
                  <a:lnTo>
                    <a:pt x="48793" y="2951107"/>
                  </a:lnTo>
                  <a:lnTo>
                    <a:pt x="22451" y="2922073"/>
                  </a:lnTo>
                  <a:lnTo>
                    <a:pt x="5709" y="2886626"/>
                  </a:lnTo>
                  <a:lnTo>
                    <a:pt x="0" y="28479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3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8" y="2537"/>
                  </a:lnTo>
                  <a:lnTo>
                    <a:pt x="5296449" y="5709"/>
                  </a:lnTo>
                  <a:lnTo>
                    <a:pt x="5307084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856105"/>
                  </a:lnTo>
                  <a:lnTo>
                    <a:pt x="22061" y="2902871"/>
                  </a:lnTo>
                  <a:lnTo>
                    <a:pt x="51541" y="2941281"/>
                  </a:lnTo>
                  <a:lnTo>
                    <a:pt x="93475" y="2965485"/>
                  </a:lnTo>
                  <a:lnTo>
                    <a:pt x="125219" y="2971799"/>
                  </a:lnTo>
                  <a:lnTo>
                    <a:pt x="5307084" y="2971799"/>
                  </a:lnTo>
                  <a:lnTo>
                    <a:pt x="5296449" y="2975614"/>
                  </a:lnTo>
                  <a:lnTo>
                    <a:pt x="5283818" y="2978786"/>
                  </a:lnTo>
                  <a:lnTo>
                    <a:pt x="5270935" y="2980690"/>
                  </a:lnTo>
                  <a:lnTo>
                    <a:pt x="5257799" y="2981324"/>
                  </a:lnTo>
                  <a:close/>
                </a:path>
                <a:path w="5391150" h="2981325">
                  <a:moveTo>
                    <a:pt x="5307084" y="2971799"/>
                  </a:moveTo>
                  <a:lnTo>
                    <a:pt x="5265930" y="2971799"/>
                  </a:lnTo>
                  <a:lnTo>
                    <a:pt x="5273982" y="2971006"/>
                  </a:lnTo>
                  <a:lnTo>
                    <a:pt x="5289930" y="2967833"/>
                  </a:lnTo>
                  <a:lnTo>
                    <a:pt x="5333352" y="2946414"/>
                  </a:lnTo>
                  <a:lnTo>
                    <a:pt x="5365273" y="2910007"/>
                  </a:lnTo>
                  <a:lnTo>
                    <a:pt x="5380831" y="2864157"/>
                  </a:lnTo>
                  <a:lnTo>
                    <a:pt x="5381624" y="2856105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4" y="15763"/>
                  </a:lnTo>
                  <a:lnTo>
                    <a:pt x="5265930" y="9524"/>
                  </a:lnTo>
                  <a:lnTo>
                    <a:pt x="5307084" y="9524"/>
                  </a:lnTo>
                  <a:lnTo>
                    <a:pt x="5342354" y="30217"/>
                  </a:lnTo>
                  <a:lnTo>
                    <a:pt x="5368695" y="59250"/>
                  </a:lnTo>
                  <a:lnTo>
                    <a:pt x="5385438" y="94698"/>
                  </a:lnTo>
                  <a:lnTo>
                    <a:pt x="5391149" y="133349"/>
                  </a:lnTo>
                  <a:lnTo>
                    <a:pt x="5391149" y="2847974"/>
                  </a:lnTo>
                  <a:lnTo>
                    <a:pt x="5390515" y="2861111"/>
                  </a:lnTo>
                  <a:lnTo>
                    <a:pt x="5380997" y="2899005"/>
                  </a:lnTo>
                  <a:lnTo>
                    <a:pt x="5360931" y="2932529"/>
                  </a:lnTo>
                  <a:lnTo>
                    <a:pt x="5331898" y="2958871"/>
                  </a:lnTo>
                  <a:lnTo>
                    <a:pt x="5308829" y="2971173"/>
                  </a:lnTo>
                  <a:lnTo>
                    <a:pt x="5307084" y="297179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378575" y="1427799"/>
            <a:ext cx="233235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35" b="1">
                <a:solidFill>
                  <a:srgbClr val="798FAC"/>
                </a:solidFill>
                <a:latin typeface="Verdana"/>
                <a:cs typeface="Verdana"/>
              </a:rPr>
              <a:t>WE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KLY</a:t>
            </a:r>
            <a:r>
              <a:rPr dirty="0" sz="800" spc="10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T</a:t>
            </a:r>
            <a:r>
              <a:rPr dirty="0" sz="800" spc="-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O</a:t>
            </a:r>
            <a:r>
              <a:rPr dirty="0" sz="800" spc="-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TA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L</a:t>
            </a:r>
            <a:r>
              <a:rPr dirty="0" sz="800" spc="1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798FAC"/>
                </a:solidFill>
                <a:latin typeface="Verdana"/>
                <a:cs typeface="Verdana"/>
              </a:rPr>
              <a:t>L</a:t>
            </a:r>
            <a:r>
              <a:rPr dirty="0" sz="80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0" b="1">
                <a:solidFill>
                  <a:srgbClr val="798FAC"/>
                </a:solidFill>
                <a:latin typeface="Verdana"/>
                <a:cs typeface="Verdana"/>
              </a:rPr>
              <a:t>B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Y</a:t>
            </a:r>
            <a:r>
              <a:rPr dirty="0" sz="800" spc="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55" b="1">
                <a:solidFill>
                  <a:srgbClr val="798FAC"/>
                </a:solidFill>
                <a:latin typeface="Verdana"/>
                <a:cs typeface="Verdana"/>
              </a:rPr>
              <a:t>C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798FAC"/>
                </a:solidFill>
                <a:latin typeface="Verdana"/>
                <a:cs typeface="Verdana"/>
              </a:rPr>
              <a:t>N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O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1249" y="4400546"/>
            <a:ext cx="5391150" cy="1971675"/>
            <a:chOff x="6191249" y="4400546"/>
            <a:chExt cx="5391150" cy="1971675"/>
          </a:xfrm>
        </p:grpSpPr>
        <p:sp>
          <p:nvSpPr>
            <p:cNvPr id="16" name="object 16"/>
            <p:cNvSpPr/>
            <p:nvPr/>
          </p:nvSpPr>
          <p:spPr>
            <a:xfrm>
              <a:off x="6191249" y="4400546"/>
              <a:ext cx="5391150" cy="1971675"/>
            </a:xfrm>
            <a:custGeom>
              <a:avLst/>
              <a:gdLst/>
              <a:ahLst/>
              <a:cxnLst/>
              <a:rect l="l" t="t" r="r" b="b"/>
              <a:pathLst>
                <a:path w="5391150" h="1971675">
                  <a:moveTo>
                    <a:pt x="5257799" y="1971674"/>
                  </a:moveTo>
                  <a:lnTo>
                    <a:pt x="133349" y="1971674"/>
                  </a:lnTo>
                  <a:lnTo>
                    <a:pt x="120213" y="1971040"/>
                  </a:lnTo>
                  <a:lnTo>
                    <a:pt x="82319" y="1961523"/>
                  </a:lnTo>
                  <a:lnTo>
                    <a:pt x="48793" y="1941457"/>
                  </a:lnTo>
                  <a:lnTo>
                    <a:pt x="22451" y="1912423"/>
                  </a:lnTo>
                  <a:lnTo>
                    <a:pt x="5709" y="1876975"/>
                  </a:lnTo>
                  <a:lnTo>
                    <a:pt x="0" y="18383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1" y="59249"/>
                  </a:lnTo>
                  <a:lnTo>
                    <a:pt x="48793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96449" y="5709"/>
                  </a:lnTo>
                  <a:lnTo>
                    <a:pt x="5331897" y="22452"/>
                  </a:lnTo>
                  <a:lnTo>
                    <a:pt x="5360931" y="48793"/>
                  </a:lnTo>
                  <a:lnTo>
                    <a:pt x="5380997" y="82318"/>
                  </a:lnTo>
                  <a:lnTo>
                    <a:pt x="5390514" y="120213"/>
                  </a:lnTo>
                  <a:lnTo>
                    <a:pt x="5391149" y="133349"/>
                  </a:lnTo>
                  <a:lnTo>
                    <a:pt x="5391149" y="1838324"/>
                  </a:lnTo>
                  <a:lnTo>
                    <a:pt x="5385438" y="1876975"/>
                  </a:lnTo>
                  <a:lnTo>
                    <a:pt x="5368695" y="1912423"/>
                  </a:lnTo>
                  <a:lnTo>
                    <a:pt x="5342354" y="1941457"/>
                  </a:lnTo>
                  <a:lnTo>
                    <a:pt x="5308828" y="1961523"/>
                  </a:lnTo>
                  <a:lnTo>
                    <a:pt x="5270935" y="1971040"/>
                  </a:lnTo>
                  <a:lnTo>
                    <a:pt x="5257799" y="197167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91249" y="4400549"/>
              <a:ext cx="5391150" cy="1971675"/>
            </a:xfrm>
            <a:custGeom>
              <a:avLst/>
              <a:gdLst/>
              <a:ahLst/>
              <a:cxnLst/>
              <a:rect l="l" t="t" r="r" b="b"/>
              <a:pathLst>
                <a:path w="5391150" h="1971675">
                  <a:moveTo>
                    <a:pt x="5257799" y="1971674"/>
                  </a:moveTo>
                  <a:lnTo>
                    <a:pt x="133349" y="1971674"/>
                  </a:lnTo>
                  <a:lnTo>
                    <a:pt x="120213" y="1971040"/>
                  </a:lnTo>
                  <a:lnTo>
                    <a:pt x="82319" y="1961523"/>
                  </a:lnTo>
                  <a:lnTo>
                    <a:pt x="48793" y="1941457"/>
                  </a:lnTo>
                  <a:lnTo>
                    <a:pt x="22451" y="1912423"/>
                  </a:lnTo>
                  <a:lnTo>
                    <a:pt x="5709" y="1876975"/>
                  </a:lnTo>
                  <a:lnTo>
                    <a:pt x="0" y="18383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1" y="59249"/>
                  </a:lnTo>
                  <a:lnTo>
                    <a:pt x="48793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57799" y="0"/>
                  </a:lnTo>
                  <a:lnTo>
                    <a:pt x="5270935" y="634"/>
                  </a:lnTo>
                  <a:lnTo>
                    <a:pt x="5283818" y="2537"/>
                  </a:lnTo>
                  <a:lnTo>
                    <a:pt x="5296449" y="5709"/>
                  </a:lnTo>
                  <a:lnTo>
                    <a:pt x="5307085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1846455"/>
                  </a:lnTo>
                  <a:lnTo>
                    <a:pt x="22061" y="1893221"/>
                  </a:lnTo>
                  <a:lnTo>
                    <a:pt x="51541" y="1931631"/>
                  </a:lnTo>
                  <a:lnTo>
                    <a:pt x="93475" y="1955835"/>
                  </a:lnTo>
                  <a:lnTo>
                    <a:pt x="125219" y="1962149"/>
                  </a:lnTo>
                  <a:lnTo>
                    <a:pt x="5307082" y="1962149"/>
                  </a:lnTo>
                  <a:lnTo>
                    <a:pt x="5296449" y="1965964"/>
                  </a:lnTo>
                  <a:lnTo>
                    <a:pt x="5283818" y="1969136"/>
                  </a:lnTo>
                  <a:lnTo>
                    <a:pt x="5270935" y="1971040"/>
                  </a:lnTo>
                  <a:lnTo>
                    <a:pt x="5257799" y="1971674"/>
                  </a:lnTo>
                  <a:close/>
                </a:path>
                <a:path w="5391150" h="1971675">
                  <a:moveTo>
                    <a:pt x="5307082" y="1962149"/>
                  </a:moveTo>
                  <a:lnTo>
                    <a:pt x="5265930" y="1962149"/>
                  </a:lnTo>
                  <a:lnTo>
                    <a:pt x="5273982" y="1961356"/>
                  </a:lnTo>
                  <a:lnTo>
                    <a:pt x="5289930" y="1958184"/>
                  </a:lnTo>
                  <a:lnTo>
                    <a:pt x="5333352" y="1936764"/>
                  </a:lnTo>
                  <a:lnTo>
                    <a:pt x="5365273" y="1900357"/>
                  </a:lnTo>
                  <a:lnTo>
                    <a:pt x="5380831" y="1854507"/>
                  </a:lnTo>
                  <a:lnTo>
                    <a:pt x="5381624" y="1846455"/>
                  </a:lnTo>
                  <a:lnTo>
                    <a:pt x="5381624" y="125219"/>
                  </a:lnTo>
                  <a:lnTo>
                    <a:pt x="5369086" y="78452"/>
                  </a:lnTo>
                  <a:lnTo>
                    <a:pt x="5339607" y="40043"/>
                  </a:lnTo>
                  <a:lnTo>
                    <a:pt x="5297423" y="15763"/>
                  </a:lnTo>
                  <a:lnTo>
                    <a:pt x="5265930" y="9524"/>
                  </a:lnTo>
                  <a:lnTo>
                    <a:pt x="5307085" y="9524"/>
                  </a:lnTo>
                  <a:lnTo>
                    <a:pt x="5342354" y="30216"/>
                  </a:lnTo>
                  <a:lnTo>
                    <a:pt x="5368695" y="59249"/>
                  </a:lnTo>
                  <a:lnTo>
                    <a:pt x="5385439" y="94697"/>
                  </a:lnTo>
                  <a:lnTo>
                    <a:pt x="5391149" y="133349"/>
                  </a:lnTo>
                  <a:lnTo>
                    <a:pt x="5391149" y="1838324"/>
                  </a:lnTo>
                  <a:lnTo>
                    <a:pt x="5390515" y="1851460"/>
                  </a:lnTo>
                  <a:lnTo>
                    <a:pt x="5380997" y="1889354"/>
                  </a:lnTo>
                  <a:lnTo>
                    <a:pt x="5360931" y="1922879"/>
                  </a:lnTo>
                  <a:lnTo>
                    <a:pt x="5331898" y="1949221"/>
                  </a:lnTo>
                  <a:lnTo>
                    <a:pt x="5308829" y="1961523"/>
                  </a:lnTo>
                  <a:lnTo>
                    <a:pt x="5307082" y="196214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378575" y="4542473"/>
            <a:ext cx="204343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-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798FAC"/>
                </a:solidFill>
                <a:latin typeface="Verdana"/>
                <a:cs typeface="Verdana"/>
              </a:rPr>
              <a:t>O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798FAC"/>
                </a:solidFill>
                <a:latin typeface="Verdana"/>
                <a:cs typeface="Verdana"/>
              </a:rPr>
              <a:t>U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T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798FAC"/>
                </a:solidFill>
                <a:latin typeface="Verdana"/>
                <a:cs typeface="Verdana"/>
              </a:rPr>
              <a:t>P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65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AY</a:t>
            </a:r>
            <a:r>
              <a:rPr dirty="0" sz="800" spc="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00" b="1">
                <a:solidFill>
                  <a:srgbClr val="798FAC"/>
                </a:solidFill>
                <a:latin typeface="Verdana"/>
                <a:cs typeface="Verdana"/>
              </a:rPr>
              <a:t>B</a:t>
            </a:r>
            <a:r>
              <a:rPr dirty="0" sz="80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Y</a:t>
            </a:r>
            <a:r>
              <a:rPr dirty="0" sz="800" spc="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00" spc="-15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55" b="1">
                <a:solidFill>
                  <a:srgbClr val="798FAC"/>
                </a:solidFill>
                <a:latin typeface="Verdana"/>
                <a:cs typeface="Verdana"/>
              </a:rPr>
              <a:t>C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798FAC"/>
                </a:solidFill>
                <a:latin typeface="Verdana"/>
                <a:cs typeface="Verdana"/>
              </a:rPr>
              <a:t>N</a:t>
            </a:r>
            <a:r>
              <a:rPr dirty="0" sz="800" spc="-12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798FAC"/>
                </a:solidFill>
                <a:latin typeface="Verdana"/>
                <a:cs typeface="Verdana"/>
              </a:rPr>
              <a:t>A</a:t>
            </a:r>
            <a:r>
              <a:rPr dirty="0" sz="80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0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00" spc="-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798FAC"/>
                </a:solidFill>
                <a:latin typeface="Verdana"/>
                <a:cs typeface="Verdana"/>
              </a:rPr>
              <a:t>O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09625" y="1647825"/>
            <a:ext cx="10572750" cy="4562475"/>
            <a:chOff x="809625" y="1647825"/>
            <a:chExt cx="10572750" cy="456247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625" y="1647825"/>
              <a:ext cx="4991099" cy="45434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1275" y="1647825"/>
              <a:ext cx="4991099" cy="24193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91275" y="4781550"/>
              <a:ext cx="4991099" cy="1428749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10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"/>
            <a:ext cx="12192000" cy="6858000"/>
            <a:chOff x="0" y="-2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1681" y="949705"/>
              <a:ext cx="6100318" cy="590829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1681" y="4283455"/>
              <a:ext cx="6100318" cy="257454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96899" y="475299"/>
            <a:ext cx="195580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P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spc="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N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L</a:t>
            </a:r>
            <a:r>
              <a:rPr dirty="0" sz="800" spc="32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5" b="1">
                <a:solidFill>
                  <a:srgbClr val="C87D09"/>
                </a:solidFill>
                <a:latin typeface="Verdana"/>
                <a:cs typeface="Verdana"/>
              </a:rPr>
              <a:t>F</a:t>
            </a:r>
            <a:r>
              <a:rPr dirty="0" sz="800" spc="-5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5" b="1">
                <a:solidFill>
                  <a:srgbClr val="C87D09"/>
                </a:solidFill>
                <a:latin typeface="Verdana"/>
                <a:cs typeface="Verdana"/>
              </a:rPr>
              <a:t>F</a:t>
            </a:r>
            <a:r>
              <a:rPr dirty="0" sz="800" spc="-5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55" b="1">
                <a:solidFill>
                  <a:srgbClr val="C87D09"/>
                </a:solidFill>
                <a:latin typeface="Verdana"/>
                <a:cs typeface="Verdana"/>
              </a:rPr>
              <a:t>C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N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55" b="1">
                <a:solidFill>
                  <a:srgbClr val="C87D09"/>
                </a:solidFill>
                <a:latin typeface="Verdana"/>
                <a:cs typeface="Verdana"/>
              </a:rPr>
              <a:t>C</a:t>
            </a:r>
            <a:r>
              <a:rPr dirty="0" sz="800" spc="-9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Y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96899" y="466974"/>
            <a:ext cx="7129145" cy="876935"/>
          </a:xfrm>
          <a:prstGeom prst="rect"/>
        </p:spPr>
        <p:txBody>
          <a:bodyPr wrap="square" lIns="0" tIns="196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2950" spc="-265"/>
              <a:t>Dri</a:t>
            </a:r>
            <a:r>
              <a:rPr dirty="0" sz="2900" spc="-265"/>
              <a:t>v</a:t>
            </a:r>
            <a:r>
              <a:rPr dirty="0" sz="2950" spc="-265"/>
              <a:t>er</a:t>
            </a:r>
            <a:r>
              <a:rPr dirty="0" sz="2950" spc="-520"/>
              <a:t> </a:t>
            </a:r>
            <a:r>
              <a:rPr dirty="0" sz="2950" spc="-225"/>
              <a:t>Utili</a:t>
            </a:r>
            <a:r>
              <a:rPr dirty="0" sz="2900" spc="-225"/>
              <a:t>z</a:t>
            </a:r>
            <a:r>
              <a:rPr dirty="0" sz="2950" spc="-225"/>
              <a:t>ation</a:t>
            </a:r>
            <a:r>
              <a:rPr dirty="0" sz="2950" spc="-434"/>
              <a:t> </a:t>
            </a:r>
            <a:r>
              <a:rPr dirty="0" sz="2950" spc="-385"/>
              <a:t>&amp;</a:t>
            </a:r>
            <a:r>
              <a:rPr dirty="0" sz="2950" spc="-590"/>
              <a:t> </a:t>
            </a:r>
            <a:r>
              <a:rPr dirty="0" sz="2950" spc="-240"/>
              <a:t>A</a:t>
            </a:r>
            <a:r>
              <a:rPr dirty="0" sz="2900" spc="-240"/>
              <a:t>v</a:t>
            </a:r>
            <a:r>
              <a:rPr dirty="0" sz="2950" spc="-240"/>
              <a:t>g</a:t>
            </a:r>
            <a:r>
              <a:rPr dirty="0" sz="2950" spc="-434"/>
              <a:t> </a:t>
            </a:r>
            <a:r>
              <a:rPr dirty="0" sz="2950" spc="-254"/>
              <a:t>Ro</a:t>
            </a:r>
            <a:r>
              <a:rPr dirty="0" sz="2900" spc="-254"/>
              <a:t>u</a:t>
            </a:r>
            <a:r>
              <a:rPr dirty="0" sz="2950" spc="-254"/>
              <a:t>te</a:t>
            </a:r>
            <a:r>
              <a:rPr dirty="0" sz="2950" spc="-509"/>
              <a:t> </a:t>
            </a:r>
            <a:r>
              <a:rPr dirty="0" sz="2950" spc="-190"/>
              <a:t>Efficienc</a:t>
            </a:r>
            <a:r>
              <a:rPr dirty="0" sz="2900" spc="-190"/>
              <a:t>y</a:t>
            </a:r>
            <a:endParaRPr sz="2900"/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000" spc="-25" b="0">
                <a:solidFill>
                  <a:srgbClr val="6E7D93"/>
                </a:solidFill>
                <a:latin typeface="Microsoft Sans Serif"/>
                <a:cs typeface="Microsoft Sans Serif"/>
              </a:rPr>
              <a:t>Average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drive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hours,</a:t>
            </a:r>
            <a:r>
              <a:rPr dirty="0" sz="100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duty</a:t>
            </a:r>
            <a:r>
              <a:rPr dirty="0" sz="100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 hours,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and</a:t>
            </a:r>
            <a:r>
              <a:rPr dirty="0" sz="1000" spc="3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miles</a:t>
            </a:r>
            <a:r>
              <a:rPr dirty="0" sz="100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per</a:t>
            </a:r>
            <a:r>
              <a:rPr dirty="0" sz="1000" spc="1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route</a:t>
            </a:r>
            <a:r>
              <a:rPr dirty="0" sz="1000" spc="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across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all</a:t>
            </a:r>
            <a:r>
              <a:rPr dirty="0" sz="1000" spc="7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three</a:t>
            </a:r>
            <a:r>
              <a:rPr dirty="0" sz="1000" spc="1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scenarios,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by</a:t>
            </a:r>
            <a:r>
              <a:rPr dirty="0" sz="1000" spc="-20" b="0">
                <a:solidFill>
                  <a:srgbClr val="6E7D93"/>
                </a:solidFill>
                <a:latin typeface="Microsoft Sans Serif"/>
                <a:cs typeface="Microsoft Sans Serif"/>
              </a:rPr>
              <a:t> day.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9599" y="1533514"/>
            <a:ext cx="3543300" cy="3934460"/>
            <a:chOff x="609599" y="1533514"/>
            <a:chExt cx="3543300" cy="3934460"/>
          </a:xfrm>
        </p:grpSpPr>
        <p:sp>
          <p:nvSpPr>
            <p:cNvPr id="9" name="object 9"/>
            <p:cNvSpPr/>
            <p:nvPr/>
          </p:nvSpPr>
          <p:spPr>
            <a:xfrm>
              <a:off x="609599" y="1533514"/>
              <a:ext cx="3543300" cy="3933825"/>
            </a:xfrm>
            <a:custGeom>
              <a:avLst/>
              <a:gdLst/>
              <a:ahLst/>
              <a:cxnLst/>
              <a:rect l="l" t="t" r="r" b="b"/>
              <a:pathLst>
                <a:path w="3543300" h="3933825">
                  <a:moveTo>
                    <a:pt x="3409949" y="3933824"/>
                  </a:moveTo>
                  <a:lnTo>
                    <a:pt x="133349" y="3933824"/>
                  </a:lnTo>
                  <a:lnTo>
                    <a:pt x="120213" y="3933190"/>
                  </a:lnTo>
                  <a:lnTo>
                    <a:pt x="82319" y="3923673"/>
                  </a:lnTo>
                  <a:lnTo>
                    <a:pt x="48794" y="3903606"/>
                  </a:lnTo>
                  <a:lnTo>
                    <a:pt x="22452" y="3874573"/>
                  </a:lnTo>
                  <a:lnTo>
                    <a:pt x="5709" y="3839125"/>
                  </a:lnTo>
                  <a:lnTo>
                    <a:pt x="0" y="38004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48600" y="5709"/>
                  </a:lnTo>
                  <a:lnTo>
                    <a:pt x="3484048" y="22452"/>
                  </a:lnTo>
                  <a:lnTo>
                    <a:pt x="3513082" y="48794"/>
                  </a:lnTo>
                  <a:lnTo>
                    <a:pt x="3533148" y="82318"/>
                  </a:lnTo>
                  <a:lnTo>
                    <a:pt x="3542665" y="120213"/>
                  </a:lnTo>
                  <a:lnTo>
                    <a:pt x="3543299" y="133349"/>
                  </a:lnTo>
                  <a:lnTo>
                    <a:pt x="3543299" y="3800474"/>
                  </a:lnTo>
                  <a:lnTo>
                    <a:pt x="3537589" y="3839125"/>
                  </a:lnTo>
                  <a:lnTo>
                    <a:pt x="3520846" y="3874573"/>
                  </a:lnTo>
                  <a:lnTo>
                    <a:pt x="3494504" y="3903606"/>
                  </a:lnTo>
                  <a:lnTo>
                    <a:pt x="3460979" y="3923673"/>
                  </a:lnTo>
                  <a:lnTo>
                    <a:pt x="3423085" y="3933190"/>
                  </a:lnTo>
                  <a:lnTo>
                    <a:pt x="3409949" y="393382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09599" y="1533525"/>
              <a:ext cx="3543300" cy="3933825"/>
            </a:xfrm>
            <a:custGeom>
              <a:avLst/>
              <a:gdLst/>
              <a:ahLst/>
              <a:cxnLst/>
              <a:rect l="l" t="t" r="r" b="b"/>
              <a:pathLst>
                <a:path w="3543300" h="3933825">
                  <a:moveTo>
                    <a:pt x="3409949" y="3933824"/>
                  </a:moveTo>
                  <a:lnTo>
                    <a:pt x="133349" y="3933824"/>
                  </a:lnTo>
                  <a:lnTo>
                    <a:pt x="120213" y="3933190"/>
                  </a:lnTo>
                  <a:lnTo>
                    <a:pt x="82319" y="3923673"/>
                  </a:lnTo>
                  <a:lnTo>
                    <a:pt x="48794" y="3903607"/>
                  </a:lnTo>
                  <a:lnTo>
                    <a:pt x="22452" y="3874573"/>
                  </a:lnTo>
                  <a:lnTo>
                    <a:pt x="5709" y="3839126"/>
                  </a:lnTo>
                  <a:lnTo>
                    <a:pt x="0" y="38004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23085" y="634"/>
                  </a:lnTo>
                  <a:lnTo>
                    <a:pt x="3435969" y="2537"/>
                  </a:lnTo>
                  <a:lnTo>
                    <a:pt x="3448601" y="5709"/>
                  </a:lnTo>
                  <a:lnTo>
                    <a:pt x="3459236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3808604"/>
                  </a:lnTo>
                  <a:lnTo>
                    <a:pt x="22061" y="3855371"/>
                  </a:lnTo>
                  <a:lnTo>
                    <a:pt x="51541" y="3893781"/>
                  </a:lnTo>
                  <a:lnTo>
                    <a:pt x="93475" y="3917985"/>
                  </a:lnTo>
                  <a:lnTo>
                    <a:pt x="125219" y="3924299"/>
                  </a:lnTo>
                  <a:lnTo>
                    <a:pt x="3459236" y="3924299"/>
                  </a:lnTo>
                  <a:lnTo>
                    <a:pt x="3448601" y="3928114"/>
                  </a:lnTo>
                  <a:lnTo>
                    <a:pt x="3435969" y="3931286"/>
                  </a:lnTo>
                  <a:lnTo>
                    <a:pt x="3423085" y="3933190"/>
                  </a:lnTo>
                  <a:lnTo>
                    <a:pt x="3409949" y="3933824"/>
                  </a:lnTo>
                  <a:close/>
                </a:path>
                <a:path w="3543300" h="3933825">
                  <a:moveTo>
                    <a:pt x="3459236" y="3924299"/>
                  </a:moveTo>
                  <a:lnTo>
                    <a:pt x="3418080" y="3924299"/>
                  </a:lnTo>
                  <a:lnTo>
                    <a:pt x="3426132" y="3923506"/>
                  </a:lnTo>
                  <a:lnTo>
                    <a:pt x="3442080" y="3920333"/>
                  </a:lnTo>
                  <a:lnTo>
                    <a:pt x="3485503" y="3898914"/>
                  </a:lnTo>
                  <a:lnTo>
                    <a:pt x="3517423" y="3862507"/>
                  </a:lnTo>
                  <a:lnTo>
                    <a:pt x="3532982" y="3816657"/>
                  </a:lnTo>
                  <a:lnTo>
                    <a:pt x="3533775" y="3808604"/>
                  </a:lnTo>
                  <a:lnTo>
                    <a:pt x="3533775" y="125219"/>
                  </a:lnTo>
                  <a:lnTo>
                    <a:pt x="3521237" y="78452"/>
                  </a:lnTo>
                  <a:lnTo>
                    <a:pt x="3491758" y="40043"/>
                  </a:lnTo>
                  <a:lnTo>
                    <a:pt x="3449574" y="15763"/>
                  </a:lnTo>
                  <a:lnTo>
                    <a:pt x="3418080" y="9524"/>
                  </a:lnTo>
                  <a:lnTo>
                    <a:pt x="3459236" y="9524"/>
                  </a:lnTo>
                  <a:lnTo>
                    <a:pt x="3494505" y="30216"/>
                  </a:lnTo>
                  <a:lnTo>
                    <a:pt x="3520846" y="59250"/>
                  </a:lnTo>
                  <a:lnTo>
                    <a:pt x="3537589" y="94698"/>
                  </a:lnTo>
                  <a:lnTo>
                    <a:pt x="3543299" y="133349"/>
                  </a:lnTo>
                  <a:lnTo>
                    <a:pt x="3543299" y="3800474"/>
                  </a:lnTo>
                  <a:lnTo>
                    <a:pt x="3542665" y="3813610"/>
                  </a:lnTo>
                  <a:lnTo>
                    <a:pt x="3533149" y="3851505"/>
                  </a:lnTo>
                  <a:lnTo>
                    <a:pt x="3513082" y="3885029"/>
                  </a:lnTo>
                  <a:lnTo>
                    <a:pt x="3484048" y="3911371"/>
                  </a:lnTo>
                  <a:lnTo>
                    <a:pt x="3460980" y="3923673"/>
                  </a:lnTo>
                  <a:lnTo>
                    <a:pt x="3459236" y="392429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96925" y="1693711"/>
            <a:ext cx="1129665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b="1">
                <a:solidFill>
                  <a:srgbClr val="0086A7"/>
                </a:solidFill>
                <a:latin typeface="Verdana"/>
                <a:cs typeface="Verdana"/>
              </a:rPr>
              <a:t>Q</a:t>
            </a:r>
            <a:r>
              <a:rPr dirty="0" sz="850" spc="-204" b="1">
                <a:solidFill>
                  <a:srgbClr val="0086A7"/>
                </a:solidFill>
                <a:latin typeface="Verdana"/>
                <a:cs typeface="Verdana"/>
              </a:rPr>
              <a:t> </a:t>
            </a:r>
            <a:r>
              <a:rPr dirty="0" sz="850" spc="-310" b="1">
                <a:solidFill>
                  <a:srgbClr val="0086A7"/>
                </a:solidFill>
                <a:latin typeface="Verdana"/>
                <a:cs typeface="Verdana"/>
              </a:rPr>
              <a:t>1</a:t>
            </a:r>
            <a:r>
              <a:rPr dirty="0" sz="850" spc="200" b="1">
                <a:solidFill>
                  <a:srgbClr val="0086A7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0086A7"/>
                </a:solidFill>
                <a:latin typeface="Verdana"/>
                <a:cs typeface="Verdana"/>
              </a:rPr>
              <a:t>—</a:t>
            </a:r>
            <a:r>
              <a:rPr dirty="0" sz="850" spc="85" b="1">
                <a:solidFill>
                  <a:srgbClr val="0086A7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0086A7"/>
                </a:solidFill>
                <a:latin typeface="Verdana"/>
                <a:cs typeface="Verdana"/>
              </a:rPr>
              <a:t>VAN</a:t>
            </a:r>
            <a:r>
              <a:rPr dirty="0" sz="850" spc="-160" b="1">
                <a:solidFill>
                  <a:srgbClr val="0086A7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0086A7"/>
                </a:solidFill>
                <a:latin typeface="Verdana"/>
                <a:cs typeface="Verdana"/>
              </a:rPr>
              <a:t>S</a:t>
            </a:r>
            <a:r>
              <a:rPr dirty="0" sz="850" spc="120" b="1">
                <a:solidFill>
                  <a:srgbClr val="0086A7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0086A7"/>
                </a:solidFill>
                <a:latin typeface="Verdana"/>
                <a:cs typeface="Verdana"/>
              </a:rPr>
              <a:t>ON</a:t>
            </a:r>
            <a:r>
              <a:rPr dirty="0" sz="850" spc="-155" b="1">
                <a:solidFill>
                  <a:srgbClr val="0086A7"/>
                </a:solidFill>
                <a:latin typeface="Verdana"/>
                <a:cs typeface="Verdana"/>
              </a:rPr>
              <a:t> </a:t>
            </a:r>
            <a:r>
              <a:rPr dirty="0" sz="850" spc="-25" b="1">
                <a:solidFill>
                  <a:srgbClr val="0086A7"/>
                </a:solidFill>
                <a:latin typeface="Verdana"/>
                <a:cs typeface="Verdana"/>
              </a:rPr>
              <a:t>LY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6925" y="5135348"/>
            <a:ext cx="796925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35">
                <a:solidFill>
                  <a:srgbClr val="798FAC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-2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0">
                <a:solidFill>
                  <a:srgbClr val="798FAC"/>
                </a:solidFill>
                <a:latin typeface="Microsoft Sans Serif"/>
                <a:cs typeface="Microsoft Sans Serif"/>
              </a:rPr>
              <a:t>Drive:</a:t>
            </a:r>
            <a:r>
              <a:rPr dirty="0" sz="850" spc="-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 b="1">
                <a:solidFill>
                  <a:srgbClr val="1B3258"/>
                </a:solidFill>
                <a:latin typeface="Arial"/>
                <a:cs typeface="Arial"/>
              </a:rPr>
              <a:t>6.22h</a:t>
            </a:r>
            <a:endParaRPr sz="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32038" y="5135348"/>
            <a:ext cx="832485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35">
                <a:solidFill>
                  <a:srgbClr val="798FAC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-2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798FAC"/>
                </a:solidFill>
                <a:latin typeface="Microsoft Sans Serif"/>
                <a:cs typeface="Microsoft Sans Serif"/>
              </a:rPr>
              <a:t>Duty:</a:t>
            </a:r>
            <a:r>
              <a:rPr dirty="0" sz="850" spc="-1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 b="1">
                <a:solidFill>
                  <a:srgbClr val="1B3258"/>
                </a:solidFill>
                <a:latin typeface="Arial"/>
                <a:cs typeface="Arial"/>
              </a:rPr>
              <a:t>10.85h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24349" y="1533514"/>
            <a:ext cx="3543300" cy="3934460"/>
            <a:chOff x="4324349" y="1533514"/>
            <a:chExt cx="3543300" cy="3934460"/>
          </a:xfrm>
        </p:grpSpPr>
        <p:sp>
          <p:nvSpPr>
            <p:cNvPr id="15" name="object 15"/>
            <p:cNvSpPr/>
            <p:nvPr/>
          </p:nvSpPr>
          <p:spPr>
            <a:xfrm>
              <a:off x="4324349" y="1533514"/>
              <a:ext cx="3543300" cy="3933825"/>
            </a:xfrm>
            <a:custGeom>
              <a:avLst/>
              <a:gdLst/>
              <a:ahLst/>
              <a:cxnLst/>
              <a:rect l="l" t="t" r="r" b="b"/>
              <a:pathLst>
                <a:path w="3543300" h="3933825">
                  <a:moveTo>
                    <a:pt x="3409949" y="3933824"/>
                  </a:moveTo>
                  <a:lnTo>
                    <a:pt x="133349" y="3933824"/>
                  </a:lnTo>
                  <a:lnTo>
                    <a:pt x="120213" y="3933190"/>
                  </a:lnTo>
                  <a:lnTo>
                    <a:pt x="82318" y="3923673"/>
                  </a:lnTo>
                  <a:lnTo>
                    <a:pt x="48794" y="3903606"/>
                  </a:lnTo>
                  <a:lnTo>
                    <a:pt x="22452" y="3874573"/>
                  </a:lnTo>
                  <a:lnTo>
                    <a:pt x="5709" y="3839125"/>
                  </a:lnTo>
                  <a:lnTo>
                    <a:pt x="0" y="38004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48601" y="5709"/>
                  </a:lnTo>
                  <a:lnTo>
                    <a:pt x="3484048" y="22452"/>
                  </a:lnTo>
                  <a:lnTo>
                    <a:pt x="3513082" y="48794"/>
                  </a:lnTo>
                  <a:lnTo>
                    <a:pt x="3533148" y="82318"/>
                  </a:lnTo>
                  <a:lnTo>
                    <a:pt x="3542664" y="120213"/>
                  </a:lnTo>
                  <a:lnTo>
                    <a:pt x="3543299" y="133349"/>
                  </a:lnTo>
                  <a:lnTo>
                    <a:pt x="3543299" y="3800474"/>
                  </a:lnTo>
                  <a:lnTo>
                    <a:pt x="3537588" y="3839125"/>
                  </a:lnTo>
                  <a:lnTo>
                    <a:pt x="3520846" y="3874573"/>
                  </a:lnTo>
                  <a:lnTo>
                    <a:pt x="3494504" y="3903606"/>
                  </a:lnTo>
                  <a:lnTo>
                    <a:pt x="3460979" y="3923673"/>
                  </a:lnTo>
                  <a:lnTo>
                    <a:pt x="3423085" y="3933190"/>
                  </a:lnTo>
                  <a:lnTo>
                    <a:pt x="3409949" y="393382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24349" y="1533525"/>
              <a:ext cx="3543300" cy="3933825"/>
            </a:xfrm>
            <a:custGeom>
              <a:avLst/>
              <a:gdLst/>
              <a:ahLst/>
              <a:cxnLst/>
              <a:rect l="l" t="t" r="r" b="b"/>
              <a:pathLst>
                <a:path w="3543300" h="3933825">
                  <a:moveTo>
                    <a:pt x="3409949" y="3933824"/>
                  </a:moveTo>
                  <a:lnTo>
                    <a:pt x="133349" y="3933824"/>
                  </a:lnTo>
                  <a:lnTo>
                    <a:pt x="120213" y="3933190"/>
                  </a:lnTo>
                  <a:lnTo>
                    <a:pt x="82318" y="3923673"/>
                  </a:lnTo>
                  <a:lnTo>
                    <a:pt x="48794" y="3903607"/>
                  </a:lnTo>
                  <a:lnTo>
                    <a:pt x="22452" y="3874573"/>
                  </a:lnTo>
                  <a:lnTo>
                    <a:pt x="5709" y="3839126"/>
                  </a:lnTo>
                  <a:lnTo>
                    <a:pt x="0" y="38004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23085" y="634"/>
                  </a:lnTo>
                  <a:lnTo>
                    <a:pt x="3435969" y="2537"/>
                  </a:lnTo>
                  <a:lnTo>
                    <a:pt x="3448601" y="5709"/>
                  </a:lnTo>
                  <a:lnTo>
                    <a:pt x="3459236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3808604"/>
                  </a:lnTo>
                  <a:lnTo>
                    <a:pt x="22061" y="3855371"/>
                  </a:lnTo>
                  <a:lnTo>
                    <a:pt x="51541" y="3893781"/>
                  </a:lnTo>
                  <a:lnTo>
                    <a:pt x="93475" y="3917985"/>
                  </a:lnTo>
                  <a:lnTo>
                    <a:pt x="125219" y="3924299"/>
                  </a:lnTo>
                  <a:lnTo>
                    <a:pt x="3459236" y="3924299"/>
                  </a:lnTo>
                  <a:lnTo>
                    <a:pt x="3448601" y="3928114"/>
                  </a:lnTo>
                  <a:lnTo>
                    <a:pt x="3435969" y="3931286"/>
                  </a:lnTo>
                  <a:lnTo>
                    <a:pt x="3423085" y="3933190"/>
                  </a:lnTo>
                  <a:lnTo>
                    <a:pt x="3409949" y="3933824"/>
                  </a:lnTo>
                  <a:close/>
                </a:path>
                <a:path w="3543300" h="3933825">
                  <a:moveTo>
                    <a:pt x="3459236" y="3924299"/>
                  </a:moveTo>
                  <a:lnTo>
                    <a:pt x="3418079" y="3924299"/>
                  </a:lnTo>
                  <a:lnTo>
                    <a:pt x="3426132" y="3923506"/>
                  </a:lnTo>
                  <a:lnTo>
                    <a:pt x="3442080" y="3920333"/>
                  </a:lnTo>
                  <a:lnTo>
                    <a:pt x="3485503" y="3898914"/>
                  </a:lnTo>
                  <a:lnTo>
                    <a:pt x="3517423" y="3862507"/>
                  </a:lnTo>
                  <a:lnTo>
                    <a:pt x="3532981" y="3816657"/>
                  </a:lnTo>
                  <a:lnTo>
                    <a:pt x="3533774" y="3808604"/>
                  </a:lnTo>
                  <a:lnTo>
                    <a:pt x="3533774" y="125219"/>
                  </a:lnTo>
                  <a:lnTo>
                    <a:pt x="3521237" y="78452"/>
                  </a:lnTo>
                  <a:lnTo>
                    <a:pt x="3491758" y="40043"/>
                  </a:lnTo>
                  <a:lnTo>
                    <a:pt x="3449574" y="15763"/>
                  </a:lnTo>
                  <a:lnTo>
                    <a:pt x="3418079" y="9524"/>
                  </a:lnTo>
                  <a:lnTo>
                    <a:pt x="3459236" y="9524"/>
                  </a:lnTo>
                  <a:lnTo>
                    <a:pt x="3494504" y="30216"/>
                  </a:lnTo>
                  <a:lnTo>
                    <a:pt x="3520846" y="59250"/>
                  </a:lnTo>
                  <a:lnTo>
                    <a:pt x="3537588" y="94698"/>
                  </a:lnTo>
                  <a:lnTo>
                    <a:pt x="3543299" y="133349"/>
                  </a:lnTo>
                  <a:lnTo>
                    <a:pt x="3543299" y="3800474"/>
                  </a:lnTo>
                  <a:lnTo>
                    <a:pt x="3542664" y="3813610"/>
                  </a:lnTo>
                  <a:lnTo>
                    <a:pt x="3533148" y="3851505"/>
                  </a:lnTo>
                  <a:lnTo>
                    <a:pt x="3513082" y="3885029"/>
                  </a:lnTo>
                  <a:lnTo>
                    <a:pt x="3484048" y="3911371"/>
                  </a:lnTo>
                  <a:lnTo>
                    <a:pt x="3460980" y="3923673"/>
                  </a:lnTo>
                  <a:lnTo>
                    <a:pt x="3459236" y="392429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511674" y="1693711"/>
            <a:ext cx="1224915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Q</a:t>
            </a:r>
            <a:r>
              <a:rPr dirty="0" sz="850" spc="-21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2</a:t>
            </a:r>
            <a:r>
              <a:rPr dirty="0" sz="850" spc="3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—</a:t>
            </a:r>
            <a:r>
              <a:rPr dirty="0" sz="850" spc="3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25" b="1">
                <a:solidFill>
                  <a:srgbClr val="C87D09"/>
                </a:solidFill>
                <a:latin typeface="Verdana"/>
                <a:cs typeface="Verdana"/>
              </a:rPr>
              <a:t>M</a:t>
            </a:r>
            <a:r>
              <a:rPr dirty="0" sz="850" spc="-1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254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50" spc="-12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25" b="1">
                <a:solidFill>
                  <a:srgbClr val="C87D09"/>
                </a:solidFill>
                <a:latin typeface="Verdana"/>
                <a:cs typeface="Verdana"/>
              </a:rPr>
              <a:t>XE</a:t>
            </a:r>
            <a:r>
              <a:rPr dirty="0" sz="850" spc="-1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C87D09"/>
                </a:solidFill>
                <a:latin typeface="Verdana"/>
                <a:cs typeface="Verdana"/>
              </a:rPr>
              <a:t>D</a:t>
            </a:r>
            <a:r>
              <a:rPr dirty="0" sz="850" spc="5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100" b="1">
                <a:solidFill>
                  <a:srgbClr val="C87D09"/>
                </a:solidFill>
                <a:latin typeface="Verdana"/>
                <a:cs typeface="Verdana"/>
              </a:rPr>
              <a:t>F</a:t>
            </a:r>
            <a:r>
              <a:rPr dirty="0" sz="850" spc="-1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45" b="1">
                <a:solidFill>
                  <a:srgbClr val="C87D09"/>
                </a:solidFill>
                <a:latin typeface="Verdana"/>
                <a:cs typeface="Verdana"/>
              </a:rPr>
              <a:t>LE</a:t>
            </a:r>
            <a:r>
              <a:rPr dirty="0" sz="850" spc="-1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50" spc="-1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50" spc="-5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11674" y="5135348"/>
            <a:ext cx="814069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35">
                <a:solidFill>
                  <a:srgbClr val="798FAC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-2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0">
                <a:solidFill>
                  <a:srgbClr val="798FAC"/>
                </a:solidFill>
                <a:latin typeface="Microsoft Sans Serif"/>
                <a:cs typeface="Microsoft Sans Serif"/>
              </a:rPr>
              <a:t>Drive:</a:t>
            </a:r>
            <a:r>
              <a:rPr dirty="0" sz="850" spc="-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 b="1">
                <a:solidFill>
                  <a:srgbClr val="1B3258"/>
                </a:solidFill>
                <a:latin typeface="Arial"/>
                <a:cs typeface="Arial"/>
              </a:rPr>
              <a:t>5.60h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88459" y="5135348"/>
            <a:ext cx="790575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35">
                <a:solidFill>
                  <a:srgbClr val="798FAC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-2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798FAC"/>
                </a:solidFill>
                <a:latin typeface="Microsoft Sans Serif"/>
                <a:cs typeface="Microsoft Sans Serif"/>
              </a:rPr>
              <a:t>Duty:</a:t>
            </a:r>
            <a:r>
              <a:rPr dirty="0" sz="850" spc="-1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 b="1">
                <a:solidFill>
                  <a:srgbClr val="1B3258"/>
                </a:solidFill>
                <a:latin typeface="Arial"/>
                <a:cs typeface="Arial"/>
              </a:rPr>
              <a:t>9.56h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39099" y="1533514"/>
            <a:ext cx="3543300" cy="3934460"/>
            <a:chOff x="8039099" y="1533514"/>
            <a:chExt cx="3543300" cy="3934460"/>
          </a:xfrm>
        </p:grpSpPr>
        <p:sp>
          <p:nvSpPr>
            <p:cNvPr id="21" name="object 21"/>
            <p:cNvSpPr/>
            <p:nvPr/>
          </p:nvSpPr>
          <p:spPr>
            <a:xfrm>
              <a:off x="8039099" y="1533514"/>
              <a:ext cx="3543300" cy="3933825"/>
            </a:xfrm>
            <a:custGeom>
              <a:avLst/>
              <a:gdLst/>
              <a:ahLst/>
              <a:cxnLst/>
              <a:rect l="l" t="t" r="r" b="b"/>
              <a:pathLst>
                <a:path w="3543300" h="3933825">
                  <a:moveTo>
                    <a:pt x="3409949" y="3933824"/>
                  </a:moveTo>
                  <a:lnTo>
                    <a:pt x="133349" y="3933824"/>
                  </a:lnTo>
                  <a:lnTo>
                    <a:pt x="120213" y="3933190"/>
                  </a:lnTo>
                  <a:lnTo>
                    <a:pt x="82318" y="3923673"/>
                  </a:lnTo>
                  <a:lnTo>
                    <a:pt x="48794" y="3903606"/>
                  </a:lnTo>
                  <a:lnTo>
                    <a:pt x="22451" y="3874573"/>
                  </a:lnTo>
                  <a:lnTo>
                    <a:pt x="5709" y="3839125"/>
                  </a:lnTo>
                  <a:lnTo>
                    <a:pt x="0" y="38004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4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48599" y="5709"/>
                  </a:lnTo>
                  <a:lnTo>
                    <a:pt x="3484047" y="22452"/>
                  </a:lnTo>
                  <a:lnTo>
                    <a:pt x="3513081" y="48794"/>
                  </a:lnTo>
                  <a:lnTo>
                    <a:pt x="3533147" y="82318"/>
                  </a:lnTo>
                  <a:lnTo>
                    <a:pt x="3542664" y="120213"/>
                  </a:lnTo>
                  <a:lnTo>
                    <a:pt x="3543299" y="133349"/>
                  </a:lnTo>
                  <a:lnTo>
                    <a:pt x="3543299" y="3800474"/>
                  </a:lnTo>
                  <a:lnTo>
                    <a:pt x="3537588" y="3839125"/>
                  </a:lnTo>
                  <a:lnTo>
                    <a:pt x="3520845" y="3874573"/>
                  </a:lnTo>
                  <a:lnTo>
                    <a:pt x="3494504" y="3903606"/>
                  </a:lnTo>
                  <a:lnTo>
                    <a:pt x="3460979" y="3923673"/>
                  </a:lnTo>
                  <a:lnTo>
                    <a:pt x="3423085" y="3933190"/>
                  </a:lnTo>
                  <a:lnTo>
                    <a:pt x="3409949" y="3933824"/>
                  </a:lnTo>
                  <a:close/>
                </a:path>
              </a:pathLst>
            </a:custGeom>
            <a:solidFill>
              <a:srgbClr val="FFFFFF">
                <a:alpha val="780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039099" y="1533525"/>
              <a:ext cx="3543300" cy="3933825"/>
            </a:xfrm>
            <a:custGeom>
              <a:avLst/>
              <a:gdLst/>
              <a:ahLst/>
              <a:cxnLst/>
              <a:rect l="l" t="t" r="r" b="b"/>
              <a:pathLst>
                <a:path w="3543300" h="3933825">
                  <a:moveTo>
                    <a:pt x="3409949" y="3933824"/>
                  </a:moveTo>
                  <a:lnTo>
                    <a:pt x="133349" y="3933824"/>
                  </a:lnTo>
                  <a:lnTo>
                    <a:pt x="120213" y="3933190"/>
                  </a:lnTo>
                  <a:lnTo>
                    <a:pt x="82318" y="3923673"/>
                  </a:lnTo>
                  <a:lnTo>
                    <a:pt x="48794" y="3903607"/>
                  </a:lnTo>
                  <a:lnTo>
                    <a:pt x="22451" y="3874573"/>
                  </a:lnTo>
                  <a:lnTo>
                    <a:pt x="5709" y="3839126"/>
                  </a:lnTo>
                  <a:lnTo>
                    <a:pt x="0" y="38004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1" y="59250"/>
                  </a:lnTo>
                  <a:lnTo>
                    <a:pt x="48794" y="30216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409949" y="0"/>
                  </a:lnTo>
                  <a:lnTo>
                    <a:pt x="3423085" y="634"/>
                  </a:lnTo>
                  <a:lnTo>
                    <a:pt x="3435968" y="2537"/>
                  </a:lnTo>
                  <a:lnTo>
                    <a:pt x="3448599" y="5709"/>
                  </a:lnTo>
                  <a:lnTo>
                    <a:pt x="3459235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3808604"/>
                  </a:lnTo>
                  <a:lnTo>
                    <a:pt x="22061" y="3855371"/>
                  </a:lnTo>
                  <a:lnTo>
                    <a:pt x="51541" y="3893781"/>
                  </a:lnTo>
                  <a:lnTo>
                    <a:pt x="93475" y="3917985"/>
                  </a:lnTo>
                  <a:lnTo>
                    <a:pt x="125219" y="3924299"/>
                  </a:lnTo>
                  <a:lnTo>
                    <a:pt x="3459235" y="3924299"/>
                  </a:lnTo>
                  <a:lnTo>
                    <a:pt x="3448600" y="3928114"/>
                  </a:lnTo>
                  <a:lnTo>
                    <a:pt x="3435968" y="3931286"/>
                  </a:lnTo>
                  <a:lnTo>
                    <a:pt x="3423085" y="3933190"/>
                  </a:lnTo>
                  <a:lnTo>
                    <a:pt x="3409949" y="3933824"/>
                  </a:lnTo>
                  <a:close/>
                </a:path>
                <a:path w="3543300" h="3933825">
                  <a:moveTo>
                    <a:pt x="3459235" y="3924299"/>
                  </a:moveTo>
                  <a:lnTo>
                    <a:pt x="3418080" y="3924299"/>
                  </a:lnTo>
                  <a:lnTo>
                    <a:pt x="3426132" y="3923506"/>
                  </a:lnTo>
                  <a:lnTo>
                    <a:pt x="3442080" y="3920333"/>
                  </a:lnTo>
                  <a:lnTo>
                    <a:pt x="3485503" y="3898914"/>
                  </a:lnTo>
                  <a:lnTo>
                    <a:pt x="3517423" y="3862507"/>
                  </a:lnTo>
                  <a:lnTo>
                    <a:pt x="3532981" y="3816657"/>
                  </a:lnTo>
                  <a:lnTo>
                    <a:pt x="3533774" y="3808604"/>
                  </a:lnTo>
                  <a:lnTo>
                    <a:pt x="3533774" y="125219"/>
                  </a:lnTo>
                  <a:lnTo>
                    <a:pt x="3521237" y="78452"/>
                  </a:lnTo>
                  <a:lnTo>
                    <a:pt x="3491757" y="40043"/>
                  </a:lnTo>
                  <a:lnTo>
                    <a:pt x="3449574" y="15763"/>
                  </a:lnTo>
                  <a:lnTo>
                    <a:pt x="3418080" y="9524"/>
                  </a:lnTo>
                  <a:lnTo>
                    <a:pt x="3459235" y="9524"/>
                  </a:lnTo>
                  <a:lnTo>
                    <a:pt x="3494504" y="30216"/>
                  </a:lnTo>
                  <a:lnTo>
                    <a:pt x="3520845" y="59250"/>
                  </a:lnTo>
                  <a:lnTo>
                    <a:pt x="3537588" y="94698"/>
                  </a:lnTo>
                  <a:lnTo>
                    <a:pt x="3543299" y="133349"/>
                  </a:lnTo>
                  <a:lnTo>
                    <a:pt x="3543299" y="3800474"/>
                  </a:lnTo>
                  <a:lnTo>
                    <a:pt x="3542665" y="3813610"/>
                  </a:lnTo>
                  <a:lnTo>
                    <a:pt x="3533147" y="3851505"/>
                  </a:lnTo>
                  <a:lnTo>
                    <a:pt x="3513081" y="3885029"/>
                  </a:lnTo>
                  <a:lnTo>
                    <a:pt x="3484048" y="3911371"/>
                  </a:lnTo>
                  <a:lnTo>
                    <a:pt x="3460979" y="3923673"/>
                  </a:lnTo>
                  <a:lnTo>
                    <a:pt x="3459235" y="3924299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226424" y="1693711"/>
            <a:ext cx="1711325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b="1">
                <a:solidFill>
                  <a:srgbClr val="098F60"/>
                </a:solidFill>
                <a:latin typeface="Verdana"/>
                <a:cs typeface="Verdana"/>
              </a:rPr>
              <a:t>Q</a:t>
            </a:r>
            <a:r>
              <a:rPr dirty="0" sz="850" spc="-210" b="1">
                <a:solidFill>
                  <a:srgbClr val="098F60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098F60"/>
                </a:solidFill>
                <a:latin typeface="Verdana"/>
                <a:cs typeface="Verdana"/>
              </a:rPr>
              <a:t>3</a:t>
            </a:r>
            <a:r>
              <a:rPr dirty="0" sz="850" spc="120" b="1">
                <a:solidFill>
                  <a:srgbClr val="098F60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098F60"/>
                </a:solidFill>
                <a:latin typeface="Verdana"/>
                <a:cs typeface="Verdana"/>
              </a:rPr>
              <a:t>—</a:t>
            </a:r>
            <a:r>
              <a:rPr dirty="0" sz="850" spc="65" b="1">
                <a:solidFill>
                  <a:srgbClr val="098F60"/>
                </a:solidFill>
                <a:latin typeface="Verdana"/>
                <a:cs typeface="Verdana"/>
              </a:rPr>
              <a:t> </a:t>
            </a:r>
            <a:r>
              <a:rPr dirty="0" sz="850" spc="-30" b="1">
                <a:solidFill>
                  <a:srgbClr val="098F60"/>
                </a:solidFill>
                <a:latin typeface="Verdana"/>
                <a:cs typeface="Verdana"/>
              </a:rPr>
              <a:t>RE</a:t>
            </a:r>
            <a:r>
              <a:rPr dirty="0" sz="850" spc="-170" b="1">
                <a:solidFill>
                  <a:srgbClr val="098F60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098F60"/>
                </a:solidFill>
                <a:latin typeface="Verdana"/>
                <a:cs typeface="Verdana"/>
              </a:rPr>
              <a:t>LAXE</a:t>
            </a:r>
            <a:r>
              <a:rPr dirty="0" sz="850" spc="-170" b="1">
                <a:solidFill>
                  <a:srgbClr val="098F60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098F60"/>
                </a:solidFill>
                <a:latin typeface="Verdana"/>
                <a:cs typeface="Verdana"/>
              </a:rPr>
              <a:t>D</a:t>
            </a:r>
            <a:r>
              <a:rPr dirty="0" sz="850" spc="90" b="1">
                <a:solidFill>
                  <a:srgbClr val="098F60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098F60"/>
                </a:solidFill>
                <a:latin typeface="Verdana"/>
                <a:cs typeface="Verdana"/>
              </a:rPr>
              <a:t>SCH</a:t>
            </a:r>
            <a:r>
              <a:rPr dirty="0" sz="850" spc="-160" b="1">
                <a:solidFill>
                  <a:srgbClr val="098F60"/>
                </a:solidFill>
                <a:latin typeface="Verdana"/>
                <a:cs typeface="Verdana"/>
              </a:rPr>
              <a:t> </a:t>
            </a:r>
            <a:r>
              <a:rPr dirty="0" sz="850" spc="-110" b="1">
                <a:solidFill>
                  <a:srgbClr val="098F60"/>
                </a:solidFill>
                <a:latin typeface="Verdana"/>
                <a:cs typeface="Verdana"/>
              </a:rPr>
              <a:t>E</a:t>
            </a:r>
            <a:r>
              <a:rPr dirty="0" sz="850" spc="-170" b="1">
                <a:solidFill>
                  <a:srgbClr val="098F60"/>
                </a:solidFill>
                <a:latin typeface="Verdana"/>
                <a:cs typeface="Verdana"/>
              </a:rPr>
              <a:t> </a:t>
            </a:r>
            <a:r>
              <a:rPr dirty="0" sz="850" spc="-10" b="1">
                <a:solidFill>
                  <a:srgbClr val="098F60"/>
                </a:solidFill>
                <a:latin typeface="Verdana"/>
                <a:cs typeface="Verdana"/>
              </a:rPr>
              <a:t>DU</a:t>
            </a:r>
            <a:r>
              <a:rPr dirty="0" sz="850" spc="-170" b="1">
                <a:solidFill>
                  <a:srgbClr val="098F60"/>
                </a:solidFill>
                <a:latin typeface="Verdana"/>
                <a:cs typeface="Verdana"/>
              </a:rPr>
              <a:t> </a:t>
            </a:r>
            <a:r>
              <a:rPr dirty="0" sz="850" spc="-25" b="1">
                <a:solidFill>
                  <a:srgbClr val="098F60"/>
                </a:solidFill>
                <a:latin typeface="Verdana"/>
                <a:cs typeface="Verdana"/>
              </a:rPr>
              <a:t>LE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26424" y="5135348"/>
            <a:ext cx="807085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35">
                <a:solidFill>
                  <a:srgbClr val="798FAC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-2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0">
                <a:solidFill>
                  <a:srgbClr val="798FAC"/>
                </a:solidFill>
                <a:latin typeface="Microsoft Sans Serif"/>
                <a:cs typeface="Microsoft Sans Serif"/>
              </a:rPr>
              <a:t>Drive:</a:t>
            </a:r>
            <a:r>
              <a:rPr dirty="0" sz="850" spc="-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 b="1">
                <a:solidFill>
                  <a:srgbClr val="1B3258"/>
                </a:solidFill>
                <a:latin typeface="Arial"/>
                <a:cs typeface="Arial"/>
              </a:rPr>
              <a:t>4.69h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643096" y="5135348"/>
            <a:ext cx="750570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35">
                <a:solidFill>
                  <a:srgbClr val="798FAC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-2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798FAC"/>
                </a:solidFill>
                <a:latin typeface="Microsoft Sans Serif"/>
                <a:cs typeface="Microsoft Sans Serif"/>
              </a:rPr>
              <a:t>Duty:</a:t>
            </a:r>
            <a:r>
              <a:rPr dirty="0" sz="850" spc="-1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 b="1">
                <a:solidFill>
                  <a:srgbClr val="1B3258"/>
                </a:solidFill>
                <a:latin typeface="Arial"/>
                <a:cs typeface="Arial"/>
              </a:rPr>
              <a:t>9.71h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9599" y="5619738"/>
            <a:ext cx="2647950" cy="781685"/>
            <a:chOff x="609599" y="5619738"/>
            <a:chExt cx="2647950" cy="781685"/>
          </a:xfrm>
        </p:grpSpPr>
        <p:sp>
          <p:nvSpPr>
            <p:cNvPr id="27" name="object 27"/>
            <p:cNvSpPr/>
            <p:nvPr/>
          </p:nvSpPr>
          <p:spPr>
            <a:xfrm>
              <a:off x="609599" y="5619738"/>
              <a:ext cx="2647950" cy="781050"/>
            </a:xfrm>
            <a:custGeom>
              <a:avLst/>
              <a:gdLst/>
              <a:ahLst/>
              <a:cxnLst/>
              <a:rect l="l" t="t" r="r" b="b"/>
              <a:pathLst>
                <a:path w="2647950" h="781050">
                  <a:moveTo>
                    <a:pt x="2533649" y="781049"/>
                  </a:moveTo>
                  <a:lnTo>
                    <a:pt x="114299" y="781049"/>
                  </a:lnTo>
                  <a:lnTo>
                    <a:pt x="103040" y="780505"/>
                  </a:lnTo>
                  <a:lnTo>
                    <a:pt x="60364" y="767537"/>
                  </a:lnTo>
                  <a:lnTo>
                    <a:pt x="25900" y="739225"/>
                  </a:lnTo>
                  <a:lnTo>
                    <a:pt x="4893" y="699879"/>
                  </a:lnTo>
                  <a:lnTo>
                    <a:pt x="0" y="6667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699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699"/>
                  </a:lnTo>
                  <a:lnTo>
                    <a:pt x="2614472" y="33477"/>
                  </a:lnTo>
                  <a:lnTo>
                    <a:pt x="2639248" y="70558"/>
                  </a:lnTo>
                  <a:lnTo>
                    <a:pt x="2647949" y="114299"/>
                  </a:lnTo>
                  <a:lnTo>
                    <a:pt x="2647949" y="666749"/>
                  </a:lnTo>
                  <a:lnTo>
                    <a:pt x="2639248" y="710489"/>
                  </a:lnTo>
                  <a:lnTo>
                    <a:pt x="2614472" y="747571"/>
                  </a:lnTo>
                  <a:lnTo>
                    <a:pt x="2577390" y="772348"/>
                  </a:lnTo>
                  <a:lnTo>
                    <a:pt x="2533649" y="78104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09599" y="5619749"/>
              <a:ext cx="2647950" cy="781050"/>
            </a:xfrm>
            <a:custGeom>
              <a:avLst/>
              <a:gdLst/>
              <a:ahLst/>
              <a:cxnLst/>
              <a:rect l="l" t="t" r="r" b="b"/>
              <a:pathLst>
                <a:path w="2647950" h="781050">
                  <a:moveTo>
                    <a:pt x="2533649" y="781049"/>
                  </a:moveTo>
                  <a:lnTo>
                    <a:pt x="114299" y="781049"/>
                  </a:lnTo>
                  <a:lnTo>
                    <a:pt x="103040" y="780505"/>
                  </a:lnTo>
                  <a:lnTo>
                    <a:pt x="60364" y="767537"/>
                  </a:lnTo>
                  <a:lnTo>
                    <a:pt x="25900" y="739225"/>
                  </a:lnTo>
                  <a:lnTo>
                    <a:pt x="4893" y="699879"/>
                  </a:lnTo>
                  <a:lnTo>
                    <a:pt x="0" y="6667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699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90" y="8699"/>
                  </a:lnTo>
                  <a:lnTo>
                    <a:pt x="2579138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73629"/>
                  </a:lnTo>
                  <a:lnTo>
                    <a:pt x="20133" y="713201"/>
                  </a:lnTo>
                  <a:lnTo>
                    <a:pt x="45077" y="745701"/>
                  </a:lnTo>
                  <a:lnTo>
                    <a:pt x="80560" y="766181"/>
                  </a:lnTo>
                  <a:lnTo>
                    <a:pt x="107420" y="771524"/>
                  </a:lnTo>
                  <a:lnTo>
                    <a:pt x="2579136" y="771524"/>
                  </a:lnTo>
                  <a:lnTo>
                    <a:pt x="2577390" y="772348"/>
                  </a:lnTo>
                  <a:lnTo>
                    <a:pt x="2566779" y="776155"/>
                  </a:lnTo>
                  <a:lnTo>
                    <a:pt x="2555952" y="778874"/>
                  </a:lnTo>
                  <a:lnTo>
                    <a:pt x="2544909" y="780505"/>
                  </a:lnTo>
                  <a:lnTo>
                    <a:pt x="2533649" y="781049"/>
                  </a:lnTo>
                  <a:close/>
                </a:path>
                <a:path w="2647950" h="781050">
                  <a:moveTo>
                    <a:pt x="2579136" y="771524"/>
                  </a:moveTo>
                  <a:lnTo>
                    <a:pt x="2540529" y="771524"/>
                  </a:lnTo>
                  <a:lnTo>
                    <a:pt x="2547343" y="770853"/>
                  </a:lnTo>
                  <a:lnTo>
                    <a:pt x="2560837" y="768169"/>
                  </a:lnTo>
                  <a:lnTo>
                    <a:pt x="2597579" y="750044"/>
                  </a:lnTo>
                  <a:lnTo>
                    <a:pt x="2624589" y="719239"/>
                  </a:lnTo>
                  <a:lnTo>
                    <a:pt x="2637753" y="680442"/>
                  </a:lnTo>
                  <a:lnTo>
                    <a:pt x="2638424" y="673629"/>
                  </a:lnTo>
                  <a:lnTo>
                    <a:pt x="2638424" y="107420"/>
                  </a:lnTo>
                  <a:lnTo>
                    <a:pt x="2627816" y="67848"/>
                  </a:lnTo>
                  <a:lnTo>
                    <a:pt x="2602872" y="35348"/>
                  </a:lnTo>
                  <a:lnTo>
                    <a:pt x="2567389" y="14867"/>
                  </a:lnTo>
                  <a:lnTo>
                    <a:pt x="2540529" y="9524"/>
                  </a:lnTo>
                  <a:lnTo>
                    <a:pt x="2579138" y="9524"/>
                  </a:lnTo>
                  <a:lnTo>
                    <a:pt x="2614472" y="33477"/>
                  </a:lnTo>
                  <a:lnTo>
                    <a:pt x="2639248" y="70558"/>
                  </a:lnTo>
                  <a:lnTo>
                    <a:pt x="2647949" y="114299"/>
                  </a:lnTo>
                  <a:lnTo>
                    <a:pt x="2647949" y="666749"/>
                  </a:lnTo>
                  <a:lnTo>
                    <a:pt x="2647405" y="678009"/>
                  </a:lnTo>
                  <a:lnTo>
                    <a:pt x="2634437" y="720684"/>
                  </a:lnTo>
                  <a:lnTo>
                    <a:pt x="2606125" y="755149"/>
                  </a:lnTo>
                  <a:lnTo>
                    <a:pt x="2587584" y="767537"/>
                  </a:lnTo>
                  <a:lnTo>
                    <a:pt x="2579136" y="77152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35024" y="5695296"/>
            <a:ext cx="1101090" cy="511809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750" spc="-10" b="1">
                <a:solidFill>
                  <a:srgbClr val="0086A7"/>
                </a:solidFill>
                <a:latin typeface="Verdana"/>
                <a:cs typeface="Verdana"/>
              </a:rPr>
              <a:t>239.8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Q</a:t>
            </a:r>
            <a:r>
              <a:rPr dirty="0" sz="850" spc="-13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4">
                <a:solidFill>
                  <a:srgbClr val="8490A3"/>
                </a:solidFill>
                <a:latin typeface="Microsoft Sans Serif"/>
                <a:cs typeface="Microsoft Sans Serif"/>
              </a:rPr>
              <a:t>1</a:t>
            </a:r>
            <a:r>
              <a:rPr dirty="0" sz="850" spc="27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22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5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8490A3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-6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5">
                <a:solidFill>
                  <a:srgbClr val="8490A3"/>
                </a:solidFill>
                <a:latin typeface="Microsoft Sans Serif"/>
                <a:cs typeface="Microsoft Sans Serif"/>
              </a:rPr>
              <a:t>R</a:t>
            </a:r>
            <a:r>
              <a:rPr dirty="0" sz="850" spc="-1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OU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">
                <a:solidFill>
                  <a:srgbClr val="8490A3"/>
                </a:solidFill>
                <a:latin typeface="Microsoft Sans Serif"/>
                <a:cs typeface="Microsoft Sans Serif"/>
              </a:rPr>
              <a:t>TE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390899" y="5619738"/>
            <a:ext cx="2638425" cy="781685"/>
            <a:chOff x="3390899" y="5619738"/>
            <a:chExt cx="2638425" cy="781685"/>
          </a:xfrm>
        </p:grpSpPr>
        <p:sp>
          <p:nvSpPr>
            <p:cNvPr id="31" name="object 31"/>
            <p:cNvSpPr/>
            <p:nvPr/>
          </p:nvSpPr>
          <p:spPr>
            <a:xfrm>
              <a:off x="3390899" y="5619738"/>
              <a:ext cx="2638425" cy="781050"/>
            </a:xfrm>
            <a:custGeom>
              <a:avLst/>
              <a:gdLst/>
              <a:ahLst/>
              <a:cxnLst/>
              <a:rect l="l" t="t" r="r" b="b"/>
              <a:pathLst>
                <a:path w="2638425" h="781050">
                  <a:moveTo>
                    <a:pt x="2524124" y="781049"/>
                  </a:moveTo>
                  <a:lnTo>
                    <a:pt x="114299" y="781049"/>
                  </a:lnTo>
                  <a:lnTo>
                    <a:pt x="103040" y="780505"/>
                  </a:lnTo>
                  <a:lnTo>
                    <a:pt x="60364" y="767537"/>
                  </a:lnTo>
                  <a:lnTo>
                    <a:pt x="25900" y="739225"/>
                  </a:lnTo>
                  <a:lnTo>
                    <a:pt x="4893" y="699879"/>
                  </a:lnTo>
                  <a:lnTo>
                    <a:pt x="0" y="6667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699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5" y="8699"/>
                  </a:lnTo>
                  <a:lnTo>
                    <a:pt x="2604946" y="33477"/>
                  </a:lnTo>
                  <a:lnTo>
                    <a:pt x="2629723" y="70558"/>
                  </a:lnTo>
                  <a:lnTo>
                    <a:pt x="2638424" y="114299"/>
                  </a:lnTo>
                  <a:lnTo>
                    <a:pt x="2638424" y="666749"/>
                  </a:lnTo>
                  <a:lnTo>
                    <a:pt x="2629723" y="710489"/>
                  </a:lnTo>
                  <a:lnTo>
                    <a:pt x="2604946" y="747571"/>
                  </a:lnTo>
                  <a:lnTo>
                    <a:pt x="2567864" y="772348"/>
                  </a:lnTo>
                  <a:lnTo>
                    <a:pt x="2524124" y="78104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390899" y="5619749"/>
              <a:ext cx="2638425" cy="781050"/>
            </a:xfrm>
            <a:custGeom>
              <a:avLst/>
              <a:gdLst/>
              <a:ahLst/>
              <a:cxnLst/>
              <a:rect l="l" t="t" r="r" b="b"/>
              <a:pathLst>
                <a:path w="2638425" h="781050">
                  <a:moveTo>
                    <a:pt x="2524124" y="781049"/>
                  </a:moveTo>
                  <a:lnTo>
                    <a:pt x="114299" y="781049"/>
                  </a:lnTo>
                  <a:lnTo>
                    <a:pt x="103040" y="780505"/>
                  </a:lnTo>
                  <a:lnTo>
                    <a:pt x="60364" y="767537"/>
                  </a:lnTo>
                  <a:lnTo>
                    <a:pt x="25900" y="739225"/>
                  </a:lnTo>
                  <a:lnTo>
                    <a:pt x="4893" y="699879"/>
                  </a:lnTo>
                  <a:lnTo>
                    <a:pt x="0" y="6667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699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5" y="8699"/>
                  </a:lnTo>
                  <a:lnTo>
                    <a:pt x="2569613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73629"/>
                  </a:lnTo>
                  <a:lnTo>
                    <a:pt x="20133" y="713201"/>
                  </a:lnTo>
                  <a:lnTo>
                    <a:pt x="45077" y="745701"/>
                  </a:lnTo>
                  <a:lnTo>
                    <a:pt x="80560" y="766181"/>
                  </a:lnTo>
                  <a:lnTo>
                    <a:pt x="107420" y="771524"/>
                  </a:lnTo>
                  <a:lnTo>
                    <a:pt x="2569610" y="771524"/>
                  </a:lnTo>
                  <a:lnTo>
                    <a:pt x="2567864" y="772348"/>
                  </a:lnTo>
                  <a:lnTo>
                    <a:pt x="2557254" y="776155"/>
                  </a:lnTo>
                  <a:lnTo>
                    <a:pt x="2546427" y="778874"/>
                  </a:lnTo>
                  <a:lnTo>
                    <a:pt x="2535384" y="780505"/>
                  </a:lnTo>
                  <a:lnTo>
                    <a:pt x="2524124" y="781049"/>
                  </a:lnTo>
                  <a:close/>
                </a:path>
                <a:path w="2638425" h="781050">
                  <a:moveTo>
                    <a:pt x="2569610" y="771524"/>
                  </a:moveTo>
                  <a:lnTo>
                    <a:pt x="2531004" y="771524"/>
                  </a:lnTo>
                  <a:lnTo>
                    <a:pt x="2537817" y="770853"/>
                  </a:lnTo>
                  <a:lnTo>
                    <a:pt x="2551312" y="768169"/>
                  </a:lnTo>
                  <a:lnTo>
                    <a:pt x="2588054" y="750044"/>
                  </a:lnTo>
                  <a:lnTo>
                    <a:pt x="2615063" y="719239"/>
                  </a:lnTo>
                  <a:lnTo>
                    <a:pt x="2628228" y="680442"/>
                  </a:lnTo>
                  <a:lnTo>
                    <a:pt x="2628899" y="673629"/>
                  </a:lnTo>
                  <a:lnTo>
                    <a:pt x="2628899" y="107420"/>
                  </a:lnTo>
                  <a:lnTo>
                    <a:pt x="2618291" y="67848"/>
                  </a:lnTo>
                  <a:lnTo>
                    <a:pt x="2593347" y="35348"/>
                  </a:lnTo>
                  <a:lnTo>
                    <a:pt x="2557864" y="14867"/>
                  </a:lnTo>
                  <a:lnTo>
                    <a:pt x="2531004" y="9524"/>
                  </a:lnTo>
                  <a:lnTo>
                    <a:pt x="2569613" y="9524"/>
                  </a:lnTo>
                  <a:lnTo>
                    <a:pt x="2604946" y="33477"/>
                  </a:lnTo>
                  <a:lnTo>
                    <a:pt x="2629724" y="70558"/>
                  </a:lnTo>
                  <a:lnTo>
                    <a:pt x="2638424" y="114299"/>
                  </a:lnTo>
                  <a:lnTo>
                    <a:pt x="2638424" y="666749"/>
                  </a:lnTo>
                  <a:lnTo>
                    <a:pt x="2637880" y="678009"/>
                  </a:lnTo>
                  <a:lnTo>
                    <a:pt x="2624912" y="720684"/>
                  </a:lnTo>
                  <a:lnTo>
                    <a:pt x="2596600" y="755149"/>
                  </a:lnTo>
                  <a:lnTo>
                    <a:pt x="2578059" y="767537"/>
                  </a:lnTo>
                  <a:lnTo>
                    <a:pt x="2569610" y="77152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611562" y="5695296"/>
            <a:ext cx="1127125" cy="511809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750" spc="-295" b="1">
                <a:solidFill>
                  <a:srgbClr val="C87D09"/>
                </a:solidFill>
                <a:latin typeface="Verdana"/>
                <a:cs typeface="Verdana"/>
              </a:rPr>
              <a:t>223.1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Q</a:t>
            </a:r>
            <a:r>
              <a:rPr dirty="0" sz="850" spc="-13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2</a:t>
            </a:r>
            <a:r>
              <a:rPr dirty="0" sz="850" spc="229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22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5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8490A3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-7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5">
                <a:solidFill>
                  <a:srgbClr val="8490A3"/>
                </a:solidFill>
                <a:latin typeface="Microsoft Sans Serif"/>
                <a:cs typeface="Microsoft Sans Serif"/>
              </a:rPr>
              <a:t>R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OU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">
                <a:solidFill>
                  <a:srgbClr val="8490A3"/>
                </a:solidFill>
                <a:latin typeface="Microsoft Sans Serif"/>
                <a:cs typeface="Microsoft Sans Serif"/>
              </a:rPr>
              <a:t>TE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162674" y="5619738"/>
            <a:ext cx="2647950" cy="781685"/>
            <a:chOff x="6162674" y="5619738"/>
            <a:chExt cx="2647950" cy="781685"/>
          </a:xfrm>
        </p:grpSpPr>
        <p:sp>
          <p:nvSpPr>
            <p:cNvPr id="35" name="object 35"/>
            <p:cNvSpPr/>
            <p:nvPr/>
          </p:nvSpPr>
          <p:spPr>
            <a:xfrm>
              <a:off x="6162674" y="5619738"/>
              <a:ext cx="2647950" cy="781050"/>
            </a:xfrm>
            <a:custGeom>
              <a:avLst/>
              <a:gdLst/>
              <a:ahLst/>
              <a:cxnLst/>
              <a:rect l="l" t="t" r="r" b="b"/>
              <a:pathLst>
                <a:path w="2647950" h="781050">
                  <a:moveTo>
                    <a:pt x="2533649" y="781049"/>
                  </a:moveTo>
                  <a:lnTo>
                    <a:pt x="114299" y="781049"/>
                  </a:lnTo>
                  <a:lnTo>
                    <a:pt x="103040" y="780505"/>
                  </a:lnTo>
                  <a:lnTo>
                    <a:pt x="60364" y="767537"/>
                  </a:lnTo>
                  <a:lnTo>
                    <a:pt x="25899" y="739225"/>
                  </a:lnTo>
                  <a:lnTo>
                    <a:pt x="4893" y="699879"/>
                  </a:lnTo>
                  <a:lnTo>
                    <a:pt x="0" y="6667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8" y="8699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88" y="8699"/>
                  </a:lnTo>
                  <a:lnTo>
                    <a:pt x="2614471" y="33477"/>
                  </a:lnTo>
                  <a:lnTo>
                    <a:pt x="2639247" y="70558"/>
                  </a:lnTo>
                  <a:lnTo>
                    <a:pt x="2647949" y="114299"/>
                  </a:lnTo>
                  <a:lnTo>
                    <a:pt x="2647949" y="666749"/>
                  </a:lnTo>
                  <a:lnTo>
                    <a:pt x="2639247" y="710489"/>
                  </a:lnTo>
                  <a:lnTo>
                    <a:pt x="2614471" y="747571"/>
                  </a:lnTo>
                  <a:lnTo>
                    <a:pt x="2577388" y="772348"/>
                  </a:lnTo>
                  <a:lnTo>
                    <a:pt x="2533649" y="78104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162674" y="5619749"/>
              <a:ext cx="2647950" cy="781050"/>
            </a:xfrm>
            <a:custGeom>
              <a:avLst/>
              <a:gdLst/>
              <a:ahLst/>
              <a:cxnLst/>
              <a:rect l="l" t="t" r="r" b="b"/>
              <a:pathLst>
                <a:path w="2647950" h="781050">
                  <a:moveTo>
                    <a:pt x="2533649" y="781049"/>
                  </a:moveTo>
                  <a:lnTo>
                    <a:pt x="114299" y="781049"/>
                  </a:lnTo>
                  <a:lnTo>
                    <a:pt x="103040" y="780505"/>
                  </a:lnTo>
                  <a:lnTo>
                    <a:pt x="60364" y="767537"/>
                  </a:lnTo>
                  <a:lnTo>
                    <a:pt x="25899" y="739225"/>
                  </a:lnTo>
                  <a:lnTo>
                    <a:pt x="4893" y="699879"/>
                  </a:lnTo>
                  <a:lnTo>
                    <a:pt x="0" y="6667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8" y="8699"/>
                  </a:lnTo>
                  <a:lnTo>
                    <a:pt x="114299" y="0"/>
                  </a:lnTo>
                  <a:lnTo>
                    <a:pt x="2533649" y="0"/>
                  </a:lnTo>
                  <a:lnTo>
                    <a:pt x="2577389" y="8699"/>
                  </a:lnTo>
                  <a:lnTo>
                    <a:pt x="2579137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73629"/>
                  </a:lnTo>
                  <a:lnTo>
                    <a:pt x="20133" y="713201"/>
                  </a:lnTo>
                  <a:lnTo>
                    <a:pt x="45077" y="745701"/>
                  </a:lnTo>
                  <a:lnTo>
                    <a:pt x="80560" y="766181"/>
                  </a:lnTo>
                  <a:lnTo>
                    <a:pt x="107420" y="771524"/>
                  </a:lnTo>
                  <a:lnTo>
                    <a:pt x="2579135" y="771524"/>
                  </a:lnTo>
                  <a:lnTo>
                    <a:pt x="2577389" y="772348"/>
                  </a:lnTo>
                  <a:lnTo>
                    <a:pt x="2566778" y="776155"/>
                  </a:lnTo>
                  <a:lnTo>
                    <a:pt x="2555951" y="778874"/>
                  </a:lnTo>
                  <a:lnTo>
                    <a:pt x="2544908" y="780505"/>
                  </a:lnTo>
                  <a:lnTo>
                    <a:pt x="2533649" y="781049"/>
                  </a:lnTo>
                  <a:close/>
                </a:path>
                <a:path w="2647950" h="781050">
                  <a:moveTo>
                    <a:pt x="2579135" y="771524"/>
                  </a:moveTo>
                  <a:lnTo>
                    <a:pt x="2540529" y="771524"/>
                  </a:lnTo>
                  <a:lnTo>
                    <a:pt x="2547342" y="770853"/>
                  </a:lnTo>
                  <a:lnTo>
                    <a:pt x="2560837" y="768169"/>
                  </a:lnTo>
                  <a:lnTo>
                    <a:pt x="2597579" y="750044"/>
                  </a:lnTo>
                  <a:lnTo>
                    <a:pt x="2624588" y="719239"/>
                  </a:lnTo>
                  <a:lnTo>
                    <a:pt x="2637753" y="680442"/>
                  </a:lnTo>
                  <a:lnTo>
                    <a:pt x="2638424" y="673629"/>
                  </a:lnTo>
                  <a:lnTo>
                    <a:pt x="2638424" y="107420"/>
                  </a:lnTo>
                  <a:lnTo>
                    <a:pt x="2627816" y="67848"/>
                  </a:lnTo>
                  <a:lnTo>
                    <a:pt x="2602872" y="35348"/>
                  </a:lnTo>
                  <a:lnTo>
                    <a:pt x="2567389" y="14867"/>
                  </a:lnTo>
                  <a:lnTo>
                    <a:pt x="2540529" y="9524"/>
                  </a:lnTo>
                  <a:lnTo>
                    <a:pt x="2579137" y="9524"/>
                  </a:lnTo>
                  <a:lnTo>
                    <a:pt x="2614471" y="33477"/>
                  </a:lnTo>
                  <a:lnTo>
                    <a:pt x="2639248" y="70558"/>
                  </a:lnTo>
                  <a:lnTo>
                    <a:pt x="2647949" y="114299"/>
                  </a:lnTo>
                  <a:lnTo>
                    <a:pt x="2647949" y="666749"/>
                  </a:lnTo>
                  <a:lnTo>
                    <a:pt x="2647405" y="678009"/>
                  </a:lnTo>
                  <a:lnTo>
                    <a:pt x="2634436" y="720684"/>
                  </a:lnTo>
                  <a:lnTo>
                    <a:pt x="2606125" y="755149"/>
                  </a:lnTo>
                  <a:lnTo>
                    <a:pt x="2587583" y="767537"/>
                  </a:lnTo>
                  <a:lnTo>
                    <a:pt x="2579135" y="77152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388100" y="5695296"/>
            <a:ext cx="1129030" cy="511809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750" spc="-50" b="1">
                <a:solidFill>
                  <a:srgbClr val="098F60"/>
                </a:solidFill>
                <a:latin typeface="Verdana"/>
                <a:cs typeface="Verdana"/>
              </a:rPr>
              <a:t>184.3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Q</a:t>
            </a:r>
            <a:r>
              <a:rPr dirty="0" sz="850" spc="-13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3</a:t>
            </a:r>
            <a:r>
              <a:rPr dirty="0" sz="850" spc="24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AVG</a:t>
            </a:r>
            <a:r>
              <a:rPr dirty="0" sz="850" spc="22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5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8490A3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-7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5">
                <a:solidFill>
                  <a:srgbClr val="8490A3"/>
                </a:solidFill>
                <a:latin typeface="Microsoft Sans Serif"/>
                <a:cs typeface="Microsoft Sans Serif"/>
              </a:rPr>
              <a:t>R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OU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">
                <a:solidFill>
                  <a:srgbClr val="8490A3"/>
                </a:solidFill>
                <a:latin typeface="Microsoft Sans Serif"/>
                <a:cs typeface="Microsoft Sans Serif"/>
              </a:rPr>
              <a:t>TE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943974" y="5619738"/>
            <a:ext cx="2638425" cy="781685"/>
            <a:chOff x="8943974" y="5619738"/>
            <a:chExt cx="2638425" cy="781685"/>
          </a:xfrm>
        </p:grpSpPr>
        <p:sp>
          <p:nvSpPr>
            <p:cNvPr id="39" name="object 39"/>
            <p:cNvSpPr/>
            <p:nvPr/>
          </p:nvSpPr>
          <p:spPr>
            <a:xfrm>
              <a:off x="8943974" y="5619738"/>
              <a:ext cx="2638425" cy="781050"/>
            </a:xfrm>
            <a:custGeom>
              <a:avLst/>
              <a:gdLst/>
              <a:ahLst/>
              <a:cxnLst/>
              <a:rect l="l" t="t" r="r" b="b"/>
              <a:pathLst>
                <a:path w="2638425" h="781050">
                  <a:moveTo>
                    <a:pt x="2524124" y="781049"/>
                  </a:moveTo>
                  <a:lnTo>
                    <a:pt x="114299" y="781049"/>
                  </a:lnTo>
                  <a:lnTo>
                    <a:pt x="103040" y="780505"/>
                  </a:lnTo>
                  <a:lnTo>
                    <a:pt x="60363" y="767537"/>
                  </a:lnTo>
                  <a:lnTo>
                    <a:pt x="25899" y="739225"/>
                  </a:lnTo>
                  <a:lnTo>
                    <a:pt x="4893" y="699879"/>
                  </a:lnTo>
                  <a:lnTo>
                    <a:pt x="0" y="666749"/>
                  </a:lnTo>
                  <a:lnTo>
                    <a:pt x="0" y="114299"/>
                  </a:lnTo>
                  <a:lnTo>
                    <a:pt x="8699" y="70558"/>
                  </a:lnTo>
                  <a:lnTo>
                    <a:pt x="33477" y="33477"/>
                  </a:lnTo>
                  <a:lnTo>
                    <a:pt x="70557" y="8699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4" y="8699"/>
                  </a:lnTo>
                  <a:lnTo>
                    <a:pt x="2604946" y="33477"/>
                  </a:lnTo>
                  <a:lnTo>
                    <a:pt x="2629723" y="70558"/>
                  </a:lnTo>
                  <a:lnTo>
                    <a:pt x="2638424" y="114299"/>
                  </a:lnTo>
                  <a:lnTo>
                    <a:pt x="2638424" y="666749"/>
                  </a:lnTo>
                  <a:lnTo>
                    <a:pt x="2629723" y="710489"/>
                  </a:lnTo>
                  <a:lnTo>
                    <a:pt x="2604946" y="747571"/>
                  </a:lnTo>
                  <a:lnTo>
                    <a:pt x="2567864" y="772348"/>
                  </a:lnTo>
                  <a:lnTo>
                    <a:pt x="2524124" y="78104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943974" y="5619749"/>
              <a:ext cx="2638425" cy="781050"/>
            </a:xfrm>
            <a:custGeom>
              <a:avLst/>
              <a:gdLst/>
              <a:ahLst/>
              <a:cxnLst/>
              <a:rect l="l" t="t" r="r" b="b"/>
              <a:pathLst>
                <a:path w="2638425" h="781050">
                  <a:moveTo>
                    <a:pt x="2524124" y="781049"/>
                  </a:moveTo>
                  <a:lnTo>
                    <a:pt x="114299" y="781049"/>
                  </a:lnTo>
                  <a:lnTo>
                    <a:pt x="103040" y="780505"/>
                  </a:lnTo>
                  <a:lnTo>
                    <a:pt x="60363" y="767537"/>
                  </a:lnTo>
                  <a:lnTo>
                    <a:pt x="25899" y="739225"/>
                  </a:lnTo>
                  <a:lnTo>
                    <a:pt x="4893" y="699879"/>
                  </a:lnTo>
                  <a:lnTo>
                    <a:pt x="0" y="666749"/>
                  </a:lnTo>
                  <a:lnTo>
                    <a:pt x="0" y="114299"/>
                  </a:lnTo>
                  <a:lnTo>
                    <a:pt x="8699" y="70558"/>
                  </a:lnTo>
                  <a:lnTo>
                    <a:pt x="33477" y="33477"/>
                  </a:lnTo>
                  <a:lnTo>
                    <a:pt x="70557" y="8699"/>
                  </a:lnTo>
                  <a:lnTo>
                    <a:pt x="114299" y="0"/>
                  </a:lnTo>
                  <a:lnTo>
                    <a:pt x="2524124" y="0"/>
                  </a:lnTo>
                  <a:lnTo>
                    <a:pt x="2567864" y="8699"/>
                  </a:lnTo>
                  <a:lnTo>
                    <a:pt x="2569613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673629"/>
                  </a:lnTo>
                  <a:lnTo>
                    <a:pt x="20133" y="713201"/>
                  </a:lnTo>
                  <a:lnTo>
                    <a:pt x="45077" y="745701"/>
                  </a:lnTo>
                  <a:lnTo>
                    <a:pt x="80560" y="766181"/>
                  </a:lnTo>
                  <a:lnTo>
                    <a:pt x="107420" y="771524"/>
                  </a:lnTo>
                  <a:lnTo>
                    <a:pt x="2569610" y="771524"/>
                  </a:lnTo>
                  <a:lnTo>
                    <a:pt x="2567864" y="772348"/>
                  </a:lnTo>
                  <a:lnTo>
                    <a:pt x="2557253" y="776155"/>
                  </a:lnTo>
                  <a:lnTo>
                    <a:pt x="2546426" y="778874"/>
                  </a:lnTo>
                  <a:lnTo>
                    <a:pt x="2535383" y="780505"/>
                  </a:lnTo>
                  <a:lnTo>
                    <a:pt x="2524124" y="781049"/>
                  </a:lnTo>
                  <a:close/>
                </a:path>
                <a:path w="2638425" h="781050">
                  <a:moveTo>
                    <a:pt x="2569610" y="771524"/>
                  </a:moveTo>
                  <a:lnTo>
                    <a:pt x="2531004" y="771524"/>
                  </a:lnTo>
                  <a:lnTo>
                    <a:pt x="2537817" y="770853"/>
                  </a:lnTo>
                  <a:lnTo>
                    <a:pt x="2551312" y="768169"/>
                  </a:lnTo>
                  <a:lnTo>
                    <a:pt x="2588054" y="750044"/>
                  </a:lnTo>
                  <a:lnTo>
                    <a:pt x="2615063" y="719239"/>
                  </a:lnTo>
                  <a:lnTo>
                    <a:pt x="2628228" y="680442"/>
                  </a:lnTo>
                  <a:lnTo>
                    <a:pt x="2628899" y="673629"/>
                  </a:lnTo>
                  <a:lnTo>
                    <a:pt x="2628899" y="107420"/>
                  </a:lnTo>
                  <a:lnTo>
                    <a:pt x="2618291" y="67848"/>
                  </a:lnTo>
                  <a:lnTo>
                    <a:pt x="2593347" y="35348"/>
                  </a:lnTo>
                  <a:lnTo>
                    <a:pt x="2557864" y="14867"/>
                  </a:lnTo>
                  <a:lnTo>
                    <a:pt x="2531004" y="9524"/>
                  </a:lnTo>
                  <a:lnTo>
                    <a:pt x="2569613" y="9524"/>
                  </a:lnTo>
                  <a:lnTo>
                    <a:pt x="2604946" y="33477"/>
                  </a:lnTo>
                  <a:lnTo>
                    <a:pt x="2629724" y="70558"/>
                  </a:lnTo>
                  <a:lnTo>
                    <a:pt x="2638424" y="114299"/>
                  </a:lnTo>
                  <a:lnTo>
                    <a:pt x="2638424" y="666749"/>
                  </a:lnTo>
                  <a:lnTo>
                    <a:pt x="2637880" y="678009"/>
                  </a:lnTo>
                  <a:lnTo>
                    <a:pt x="2624912" y="720684"/>
                  </a:lnTo>
                  <a:lnTo>
                    <a:pt x="2596600" y="755149"/>
                  </a:lnTo>
                  <a:lnTo>
                    <a:pt x="2578059" y="767537"/>
                  </a:lnTo>
                  <a:lnTo>
                    <a:pt x="2569610" y="77152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164636" y="5695296"/>
            <a:ext cx="1220470" cy="511809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750" spc="-409" b="1">
                <a:solidFill>
                  <a:srgbClr val="8B2EC8"/>
                </a:solidFill>
                <a:latin typeface="Verdana"/>
                <a:cs typeface="Verdana"/>
              </a:rPr>
              <a:t>−23%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Q</a:t>
            </a:r>
            <a:r>
              <a:rPr dirty="0" sz="850" spc="-13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3</a:t>
            </a:r>
            <a:r>
              <a:rPr dirty="0" sz="850" spc="22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VS</a:t>
            </a:r>
            <a:r>
              <a:rPr dirty="0" sz="850" spc="2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Q</a:t>
            </a:r>
            <a:r>
              <a:rPr dirty="0" sz="850" spc="-13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4">
                <a:solidFill>
                  <a:srgbClr val="8490A3"/>
                </a:solidFill>
                <a:latin typeface="Microsoft Sans Serif"/>
                <a:cs typeface="Microsoft Sans Serif"/>
              </a:rPr>
              <a:t>1</a:t>
            </a:r>
            <a:r>
              <a:rPr dirty="0" sz="850" spc="25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6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95">
                <a:solidFill>
                  <a:srgbClr val="8490A3"/>
                </a:solidFill>
                <a:latin typeface="Microsoft Sans Serif"/>
                <a:cs typeface="Microsoft Sans Serif"/>
              </a:rPr>
              <a:t>/</a:t>
            </a:r>
            <a:r>
              <a:rPr dirty="0" sz="850" spc="-7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5">
                <a:solidFill>
                  <a:srgbClr val="8490A3"/>
                </a:solidFill>
                <a:latin typeface="Microsoft Sans Serif"/>
                <a:cs typeface="Microsoft Sans Serif"/>
              </a:rPr>
              <a:t>R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OU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">
                <a:solidFill>
                  <a:srgbClr val="8490A3"/>
                </a:solidFill>
                <a:latin typeface="Microsoft Sans Serif"/>
                <a:cs typeface="Microsoft Sans Serif"/>
              </a:rPr>
              <a:t>TE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09625" y="1943100"/>
            <a:ext cx="10572750" cy="3114675"/>
            <a:chOff x="809625" y="1943100"/>
            <a:chExt cx="10572750" cy="3114675"/>
          </a:xfrm>
        </p:grpSpPr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625" y="1943100"/>
              <a:ext cx="3143249" cy="311467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4375" y="1943100"/>
              <a:ext cx="3143249" cy="311467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39125" y="1943100"/>
              <a:ext cx="3143249" cy="3114674"/>
            </a:xfrm>
            <a:prstGeom prst="rect">
              <a:avLst/>
            </a:prstGeom>
          </p:spPr>
        </p:pic>
      </p:grp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10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12192000" cy="6858000"/>
            <a:chOff x="0" y="-3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381749" cy="61976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82599" y="360999"/>
            <a:ext cx="211899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30" b="1">
                <a:solidFill>
                  <a:srgbClr val="C87D09"/>
                </a:solidFill>
                <a:latin typeface="Verdana"/>
                <a:cs typeface="Verdana"/>
              </a:rPr>
              <a:t>V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P</a:t>
            </a:r>
            <a:r>
              <a:rPr dirty="0" sz="800" spc="30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N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L</a:t>
            </a:r>
            <a:r>
              <a:rPr dirty="0" sz="800" spc="-14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Y</a:t>
            </a:r>
            <a:r>
              <a:rPr dirty="0" sz="800" spc="-9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55" b="1">
                <a:solidFill>
                  <a:srgbClr val="C87D09"/>
                </a:solidFill>
                <a:latin typeface="Verdana"/>
                <a:cs typeface="Verdana"/>
              </a:rPr>
              <a:t>C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sz="800" spc="31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5" b="1">
                <a:solidFill>
                  <a:srgbClr val="C87D09"/>
                </a:solidFill>
                <a:latin typeface="Verdana"/>
                <a:cs typeface="Verdana"/>
              </a:rPr>
              <a:t>D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95" b="1">
                <a:solidFill>
                  <a:srgbClr val="C87D09"/>
                </a:solidFill>
                <a:latin typeface="Verdana"/>
                <a:cs typeface="Verdana"/>
              </a:rPr>
              <a:t>H</a:t>
            </a:r>
            <a:r>
              <a:rPr dirty="0" sz="800" spc="-3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B</a:t>
            </a: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C87D09"/>
                </a:solidFill>
                <a:latin typeface="Verdana"/>
                <a:cs typeface="Verdana"/>
              </a:rPr>
              <a:t>O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D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82599" y="435061"/>
            <a:ext cx="667956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254"/>
              <a:t>Ro</a:t>
            </a:r>
            <a:r>
              <a:rPr dirty="0" sz="2700" spc="-254"/>
              <a:t>u</a:t>
            </a:r>
            <a:r>
              <a:rPr dirty="0" sz="2450" spc="-254"/>
              <a:t>te</a:t>
            </a:r>
            <a:r>
              <a:rPr dirty="0" sz="2450" spc="-409"/>
              <a:t> </a:t>
            </a:r>
            <a:r>
              <a:rPr dirty="0" sz="2450" spc="-240"/>
              <a:t>Performance</a:t>
            </a:r>
            <a:r>
              <a:rPr dirty="0" sz="2450" spc="-409"/>
              <a:t> </a:t>
            </a:r>
            <a:r>
              <a:rPr dirty="0" sz="2450" spc="-340"/>
              <a:t>S</a:t>
            </a:r>
            <a:r>
              <a:rPr dirty="0" sz="2700" spc="-340"/>
              <a:t>u</a:t>
            </a:r>
            <a:r>
              <a:rPr dirty="0" sz="2450" spc="-340"/>
              <a:t>mmar</a:t>
            </a:r>
            <a:r>
              <a:rPr dirty="0" sz="2700" spc="-340"/>
              <a:t>y</a:t>
            </a:r>
            <a:r>
              <a:rPr dirty="0" sz="2700" spc="-555"/>
              <a:t> </a:t>
            </a:r>
            <a:r>
              <a:rPr dirty="0" sz="2450" spc="-245"/>
              <a:t>—</a:t>
            </a:r>
            <a:r>
              <a:rPr dirty="0" sz="2450" spc="-520"/>
              <a:t> </a:t>
            </a:r>
            <a:r>
              <a:rPr dirty="0" sz="2450" spc="-175"/>
              <a:t>All</a:t>
            </a:r>
            <a:r>
              <a:rPr dirty="0" sz="2450" spc="-240"/>
              <a:t> </a:t>
            </a:r>
            <a:r>
              <a:rPr dirty="0" sz="2450" spc="-160"/>
              <a:t>Scenarios</a:t>
            </a:r>
            <a:endParaRPr sz="2450"/>
          </a:p>
        </p:txBody>
      </p:sp>
      <p:grpSp>
        <p:nvGrpSpPr>
          <p:cNvPr id="7" name="object 7"/>
          <p:cNvGrpSpPr/>
          <p:nvPr/>
        </p:nvGrpSpPr>
        <p:grpSpPr>
          <a:xfrm>
            <a:off x="8915399" y="514339"/>
            <a:ext cx="933450" cy="219710"/>
            <a:chOff x="8915399" y="514339"/>
            <a:chExt cx="933450" cy="219710"/>
          </a:xfrm>
        </p:grpSpPr>
        <p:sp>
          <p:nvSpPr>
            <p:cNvPr id="8" name="object 8"/>
            <p:cNvSpPr/>
            <p:nvPr/>
          </p:nvSpPr>
          <p:spPr>
            <a:xfrm>
              <a:off x="8915399" y="514339"/>
              <a:ext cx="933450" cy="219075"/>
            </a:xfrm>
            <a:custGeom>
              <a:avLst/>
              <a:gdLst/>
              <a:ahLst/>
              <a:cxnLst/>
              <a:rect l="l" t="t" r="r" b="b"/>
              <a:pathLst>
                <a:path w="933450" h="219075">
                  <a:moveTo>
                    <a:pt x="8239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8" y="206126"/>
                  </a:lnTo>
                  <a:lnTo>
                    <a:pt x="24820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80" y="24821"/>
                  </a:lnTo>
                  <a:lnTo>
                    <a:pt x="77786" y="4690"/>
                  </a:lnTo>
                  <a:lnTo>
                    <a:pt x="109537" y="0"/>
                  </a:lnTo>
                  <a:lnTo>
                    <a:pt x="823912" y="0"/>
                  </a:lnTo>
                  <a:lnTo>
                    <a:pt x="865830" y="8338"/>
                  </a:lnTo>
                  <a:lnTo>
                    <a:pt x="901366" y="32082"/>
                  </a:lnTo>
                  <a:lnTo>
                    <a:pt x="925110" y="67619"/>
                  </a:lnTo>
                  <a:lnTo>
                    <a:pt x="933449" y="109537"/>
                  </a:lnTo>
                  <a:lnTo>
                    <a:pt x="932928" y="120327"/>
                  </a:lnTo>
                  <a:lnTo>
                    <a:pt x="920499" y="161225"/>
                  </a:lnTo>
                  <a:lnTo>
                    <a:pt x="893368" y="194253"/>
                  </a:lnTo>
                  <a:lnTo>
                    <a:pt x="855661" y="214384"/>
                  </a:lnTo>
                  <a:lnTo>
                    <a:pt x="823912" y="219074"/>
                  </a:lnTo>
                  <a:close/>
                </a:path>
              </a:pathLst>
            </a:custGeom>
            <a:solidFill>
              <a:srgbClr val="0086A7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915399" y="514350"/>
              <a:ext cx="933450" cy="219075"/>
            </a:xfrm>
            <a:custGeom>
              <a:avLst/>
              <a:gdLst/>
              <a:ahLst/>
              <a:cxnLst/>
              <a:rect l="l" t="t" r="r" b="b"/>
              <a:pathLst>
                <a:path w="933450" h="219075">
                  <a:moveTo>
                    <a:pt x="8239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8" y="206126"/>
                  </a:lnTo>
                  <a:lnTo>
                    <a:pt x="24820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80" y="24821"/>
                  </a:lnTo>
                  <a:lnTo>
                    <a:pt x="77786" y="4690"/>
                  </a:lnTo>
                  <a:lnTo>
                    <a:pt x="109537" y="0"/>
                  </a:lnTo>
                  <a:lnTo>
                    <a:pt x="823912" y="0"/>
                  </a:lnTo>
                  <a:lnTo>
                    <a:pt x="865830" y="8338"/>
                  </a:lnTo>
                  <a:lnTo>
                    <a:pt x="868345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0" y="153877"/>
                  </a:lnTo>
                  <a:lnTo>
                    <a:pt x="29923" y="170404"/>
                  </a:lnTo>
                  <a:lnTo>
                    <a:pt x="30028" y="170561"/>
                  </a:lnTo>
                  <a:lnTo>
                    <a:pt x="59433" y="196343"/>
                  </a:lnTo>
                  <a:lnTo>
                    <a:pt x="96466" y="208909"/>
                  </a:lnTo>
                  <a:lnTo>
                    <a:pt x="102970" y="209549"/>
                  </a:lnTo>
                  <a:lnTo>
                    <a:pt x="868344" y="209549"/>
                  </a:lnTo>
                  <a:lnTo>
                    <a:pt x="865829" y="210736"/>
                  </a:lnTo>
                  <a:lnTo>
                    <a:pt x="855661" y="214384"/>
                  </a:lnTo>
                  <a:lnTo>
                    <a:pt x="845286" y="216990"/>
                  </a:lnTo>
                  <a:lnTo>
                    <a:pt x="834703" y="218553"/>
                  </a:lnTo>
                  <a:lnTo>
                    <a:pt x="823912" y="219074"/>
                  </a:lnTo>
                  <a:close/>
                </a:path>
                <a:path w="933450" h="219075">
                  <a:moveTo>
                    <a:pt x="868344" y="209549"/>
                  </a:moveTo>
                  <a:lnTo>
                    <a:pt x="830479" y="209549"/>
                  </a:lnTo>
                  <a:lnTo>
                    <a:pt x="836982" y="208909"/>
                  </a:lnTo>
                  <a:lnTo>
                    <a:pt x="849864" y="206347"/>
                  </a:lnTo>
                  <a:lnTo>
                    <a:pt x="884936" y="189046"/>
                  </a:lnTo>
                  <a:lnTo>
                    <a:pt x="910717" y="159641"/>
                  </a:lnTo>
                  <a:lnTo>
                    <a:pt x="923284" y="122608"/>
                  </a:lnTo>
                  <a:lnTo>
                    <a:pt x="923924" y="116104"/>
                  </a:lnTo>
                  <a:lnTo>
                    <a:pt x="923924" y="102970"/>
                  </a:lnTo>
                  <a:lnTo>
                    <a:pt x="913798" y="65197"/>
                  </a:lnTo>
                  <a:lnTo>
                    <a:pt x="889988" y="34174"/>
                  </a:lnTo>
                  <a:lnTo>
                    <a:pt x="856118" y="14624"/>
                  </a:lnTo>
                  <a:lnTo>
                    <a:pt x="830479" y="9524"/>
                  </a:lnTo>
                  <a:lnTo>
                    <a:pt x="868345" y="9524"/>
                  </a:lnTo>
                  <a:lnTo>
                    <a:pt x="901367" y="32082"/>
                  </a:lnTo>
                  <a:lnTo>
                    <a:pt x="914889" y="48513"/>
                  </a:lnTo>
                  <a:lnTo>
                    <a:pt x="915005" y="48670"/>
                  </a:lnTo>
                  <a:lnTo>
                    <a:pt x="931364" y="88163"/>
                  </a:lnTo>
                  <a:lnTo>
                    <a:pt x="933449" y="109537"/>
                  </a:lnTo>
                  <a:lnTo>
                    <a:pt x="932928" y="120327"/>
                  </a:lnTo>
                  <a:lnTo>
                    <a:pt x="920499" y="161225"/>
                  </a:lnTo>
                  <a:lnTo>
                    <a:pt x="893368" y="194253"/>
                  </a:lnTo>
                  <a:lnTo>
                    <a:pt x="875599" y="206126"/>
                  </a:lnTo>
                  <a:lnTo>
                    <a:pt x="868344" y="209549"/>
                  </a:lnTo>
                  <a:close/>
                </a:path>
              </a:pathLst>
            </a:custGeom>
            <a:solidFill>
              <a:srgbClr val="00B4D8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008516" y="546112"/>
            <a:ext cx="736600" cy="143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b="1">
                <a:solidFill>
                  <a:srgbClr val="0086A7"/>
                </a:solidFill>
                <a:latin typeface="Arial"/>
                <a:cs typeface="Arial"/>
              </a:rPr>
              <a:t>Q</a:t>
            </a:r>
            <a:r>
              <a:rPr dirty="0" sz="750" spc="-114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40" b="1">
                <a:solidFill>
                  <a:srgbClr val="0086A7"/>
                </a:solidFill>
                <a:latin typeface="Arial"/>
                <a:cs typeface="Arial"/>
              </a:rPr>
              <a:t>1</a:t>
            </a:r>
            <a:r>
              <a:rPr dirty="0" sz="750" spc="17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0086A7"/>
                </a:solidFill>
                <a:latin typeface="Arial"/>
                <a:cs typeface="Arial"/>
              </a:rPr>
              <a:t>B</a:t>
            </a:r>
            <a:r>
              <a:rPr dirty="0" sz="750" spc="-11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086A7"/>
                </a:solidFill>
                <a:latin typeface="Arial"/>
                <a:cs typeface="Arial"/>
              </a:rPr>
              <a:t>AS</a:t>
            </a:r>
            <a:r>
              <a:rPr dirty="0" sz="750" spc="-10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0086A7"/>
                </a:solidFill>
                <a:latin typeface="Arial"/>
                <a:cs typeface="Arial"/>
              </a:rPr>
              <a:t>E</a:t>
            </a:r>
            <a:r>
              <a:rPr dirty="0" sz="750" spc="-9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65" b="1">
                <a:solidFill>
                  <a:srgbClr val="0086A7"/>
                </a:solidFill>
                <a:latin typeface="Arial"/>
                <a:cs typeface="Arial"/>
              </a:rPr>
              <a:t>L</a:t>
            </a:r>
            <a:r>
              <a:rPr dirty="0" sz="750" spc="-95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0086A7"/>
                </a:solidFill>
                <a:latin typeface="Arial"/>
                <a:cs typeface="Arial"/>
              </a:rPr>
              <a:t>I</a:t>
            </a:r>
            <a:r>
              <a:rPr dirty="0" sz="750" spc="-55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20" b="1">
                <a:solidFill>
                  <a:srgbClr val="0086A7"/>
                </a:solidFill>
                <a:latin typeface="Arial"/>
                <a:cs typeface="Arial"/>
              </a:rPr>
              <a:t>N</a:t>
            </a:r>
            <a:r>
              <a:rPr dirty="0" sz="750" spc="-9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0086A7"/>
                </a:solidFill>
                <a:latin typeface="Arial"/>
                <a:cs typeface="Arial"/>
              </a:rPr>
              <a:t>E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925049" y="514339"/>
            <a:ext cx="771525" cy="219710"/>
            <a:chOff x="9925049" y="514339"/>
            <a:chExt cx="771525" cy="219710"/>
          </a:xfrm>
        </p:grpSpPr>
        <p:sp>
          <p:nvSpPr>
            <p:cNvPr id="12" name="object 12"/>
            <p:cNvSpPr/>
            <p:nvPr/>
          </p:nvSpPr>
          <p:spPr>
            <a:xfrm>
              <a:off x="9925049" y="514339"/>
              <a:ext cx="771525" cy="219075"/>
            </a:xfrm>
            <a:custGeom>
              <a:avLst/>
              <a:gdLst/>
              <a:ahLst/>
              <a:cxnLst/>
              <a:rect l="l" t="t" r="r" b="b"/>
              <a:pathLst>
                <a:path w="771525" h="219075">
                  <a:moveTo>
                    <a:pt x="661987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8" y="206126"/>
                  </a:lnTo>
                  <a:lnTo>
                    <a:pt x="24820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80" y="24821"/>
                  </a:lnTo>
                  <a:lnTo>
                    <a:pt x="77786" y="4690"/>
                  </a:lnTo>
                  <a:lnTo>
                    <a:pt x="109537" y="0"/>
                  </a:lnTo>
                  <a:lnTo>
                    <a:pt x="661987" y="0"/>
                  </a:lnTo>
                  <a:lnTo>
                    <a:pt x="703904" y="8338"/>
                  </a:lnTo>
                  <a:lnTo>
                    <a:pt x="739441" y="32082"/>
                  </a:lnTo>
                  <a:lnTo>
                    <a:pt x="763185" y="67619"/>
                  </a:lnTo>
                  <a:lnTo>
                    <a:pt x="771524" y="109537"/>
                  </a:lnTo>
                  <a:lnTo>
                    <a:pt x="771003" y="120327"/>
                  </a:lnTo>
                  <a:lnTo>
                    <a:pt x="758574" y="161225"/>
                  </a:lnTo>
                  <a:lnTo>
                    <a:pt x="731442" y="194253"/>
                  </a:lnTo>
                  <a:lnTo>
                    <a:pt x="693736" y="214384"/>
                  </a:lnTo>
                  <a:lnTo>
                    <a:pt x="661987" y="219074"/>
                  </a:lnTo>
                  <a:close/>
                </a:path>
              </a:pathLst>
            </a:custGeom>
            <a:solidFill>
              <a:srgbClr val="C77D09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25049" y="514350"/>
              <a:ext cx="771525" cy="219075"/>
            </a:xfrm>
            <a:custGeom>
              <a:avLst/>
              <a:gdLst/>
              <a:ahLst/>
              <a:cxnLst/>
              <a:rect l="l" t="t" r="r" b="b"/>
              <a:pathLst>
                <a:path w="771525" h="219075">
                  <a:moveTo>
                    <a:pt x="661987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8" y="206126"/>
                  </a:lnTo>
                  <a:lnTo>
                    <a:pt x="24820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80" y="24821"/>
                  </a:lnTo>
                  <a:lnTo>
                    <a:pt x="77786" y="4690"/>
                  </a:lnTo>
                  <a:lnTo>
                    <a:pt x="109537" y="0"/>
                  </a:lnTo>
                  <a:lnTo>
                    <a:pt x="661987" y="0"/>
                  </a:lnTo>
                  <a:lnTo>
                    <a:pt x="703904" y="8338"/>
                  </a:lnTo>
                  <a:lnTo>
                    <a:pt x="706419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0" y="153877"/>
                  </a:lnTo>
                  <a:lnTo>
                    <a:pt x="29923" y="170404"/>
                  </a:lnTo>
                  <a:lnTo>
                    <a:pt x="30028" y="170561"/>
                  </a:lnTo>
                  <a:lnTo>
                    <a:pt x="59433" y="196343"/>
                  </a:lnTo>
                  <a:lnTo>
                    <a:pt x="96466" y="208909"/>
                  </a:lnTo>
                  <a:lnTo>
                    <a:pt x="102970" y="209549"/>
                  </a:lnTo>
                  <a:lnTo>
                    <a:pt x="706419" y="209549"/>
                  </a:lnTo>
                  <a:lnTo>
                    <a:pt x="703904" y="210736"/>
                  </a:lnTo>
                  <a:lnTo>
                    <a:pt x="693736" y="214384"/>
                  </a:lnTo>
                  <a:lnTo>
                    <a:pt x="683360" y="216990"/>
                  </a:lnTo>
                  <a:lnTo>
                    <a:pt x="672777" y="218553"/>
                  </a:lnTo>
                  <a:lnTo>
                    <a:pt x="661987" y="219074"/>
                  </a:lnTo>
                  <a:close/>
                </a:path>
                <a:path w="771525" h="219075">
                  <a:moveTo>
                    <a:pt x="706419" y="209549"/>
                  </a:moveTo>
                  <a:lnTo>
                    <a:pt x="668554" y="209549"/>
                  </a:lnTo>
                  <a:lnTo>
                    <a:pt x="675057" y="208909"/>
                  </a:lnTo>
                  <a:lnTo>
                    <a:pt x="687939" y="206347"/>
                  </a:lnTo>
                  <a:lnTo>
                    <a:pt x="723011" y="189046"/>
                  </a:lnTo>
                  <a:lnTo>
                    <a:pt x="748792" y="159641"/>
                  </a:lnTo>
                  <a:lnTo>
                    <a:pt x="761359" y="122608"/>
                  </a:lnTo>
                  <a:lnTo>
                    <a:pt x="761999" y="116104"/>
                  </a:lnTo>
                  <a:lnTo>
                    <a:pt x="761999" y="102970"/>
                  </a:lnTo>
                  <a:lnTo>
                    <a:pt x="751873" y="65197"/>
                  </a:lnTo>
                  <a:lnTo>
                    <a:pt x="741601" y="48670"/>
                  </a:lnTo>
                  <a:lnTo>
                    <a:pt x="741496" y="48513"/>
                  </a:lnTo>
                  <a:lnTo>
                    <a:pt x="712091" y="22731"/>
                  </a:lnTo>
                  <a:lnTo>
                    <a:pt x="675057" y="10165"/>
                  </a:lnTo>
                  <a:lnTo>
                    <a:pt x="668554" y="9524"/>
                  </a:lnTo>
                  <a:lnTo>
                    <a:pt x="706419" y="9524"/>
                  </a:lnTo>
                  <a:lnTo>
                    <a:pt x="739441" y="32082"/>
                  </a:lnTo>
                  <a:lnTo>
                    <a:pt x="763185" y="67619"/>
                  </a:lnTo>
                  <a:lnTo>
                    <a:pt x="771524" y="109537"/>
                  </a:lnTo>
                  <a:lnTo>
                    <a:pt x="771003" y="120327"/>
                  </a:lnTo>
                  <a:lnTo>
                    <a:pt x="758574" y="161225"/>
                  </a:lnTo>
                  <a:lnTo>
                    <a:pt x="731442" y="194253"/>
                  </a:lnTo>
                  <a:lnTo>
                    <a:pt x="713674" y="206126"/>
                  </a:lnTo>
                  <a:lnTo>
                    <a:pt x="706419" y="209549"/>
                  </a:lnTo>
                  <a:close/>
                </a:path>
              </a:pathLst>
            </a:custGeom>
            <a:solidFill>
              <a:srgbClr val="C77D09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0020399" y="546112"/>
            <a:ext cx="571500" cy="143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Q</a:t>
            </a:r>
            <a:r>
              <a:rPr dirty="0" sz="750" spc="-10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2</a:t>
            </a:r>
            <a:r>
              <a:rPr dirty="0" sz="750" spc="23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M</a:t>
            </a:r>
            <a:r>
              <a:rPr dirty="0" sz="750" spc="-8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C87D09"/>
                </a:solidFill>
                <a:latin typeface="Arial"/>
                <a:cs typeface="Arial"/>
              </a:rPr>
              <a:t>I</a:t>
            </a:r>
            <a:r>
              <a:rPr dirty="0" sz="750" spc="-4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XE</a:t>
            </a:r>
            <a:r>
              <a:rPr dirty="0" sz="750" spc="-7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C87D09"/>
                </a:solidFill>
                <a:latin typeface="Arial"/>
                <a:cs typeface="Arial"/>
              </a:rPr>
              <a:t>D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772774" y="514339"/>
            <a:ext cx="923925" cy="219710"/>
            <a:chOff x="10772774" y="514339"/>
            <a:chExt cx="923925" cy="219710"/>
          </a:xfrm>
        </p:grpSpPr>
        <p:sp>
          <p:nvSpPr>
            <p:cNvPr id="16" name="object 16"/>
            <p:cNvSpPr/>
            <p:nvPr/>
          </p:nvSpPr>
          <p:spPr>
            <a:xfrm>
              <a:off x="10772774" y="514339"/>
              <a:ext cx="923925" cy="219075"/>
            </a:xfrm>
            <a:custGeom>
              <a:avLst/>
              <a:gdLst/>
              <a:ahLst/>
              <a:cxnLst/>
              <a:rect l="l" t="t" r="r" b="b"/>
              <a:pathLst>
                <a:path w="923925" h="219075">
                  <a:moveTo>
                    <a:pt x="814387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8" y="206126"/>
                  </a:lnTo>
                  <a:lnTo>
                    <a:pt x="24820" y="178993"/>
                  </a:lnTo>
                  <a:lnTo>
                    <a:pt x="4689" y="141287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80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814387" y="0"/>
                  </a:lnTo>
                  <a:lnTo>
                    <a:pt x="856304" y="8338"/>
                  </a:lnTo>
                  <a:lnTo>
                    <a:pt x="891841" y="32082"/>
                  </a:lnTo>
                  <a:lnTo>
                    <a:pt x="915586" y="67619"/>
                  </a:lnTo>
                  <a:lnTo>
                    <a:pt x="923924" y="109537"/>
                  </a:lnTo>
                  <a:lnTo>
                    <a:pt x="923403" y="120327"/>
                  </a:lnTo>
                  <a:lnTo>
                    <a:pt x="910975" y="161225"/>
                  </a:lnTo>
                  <a:lnTo>
                    <a:pt x="883843" y="194253"/>
                  </a:lnTo>
                  <a:lnTo>
                    <a:pt x="846136" y="214384"/>
                  </a:lnTo>
                  <a:lnTo>
                    <a:pt x="814387" y="219074"/>
                  </a:lnTo>
                  <a:close/>
                </a:path>
              </a:pathLst>
            </a:custGeom>
            <a:solidFill>
              <a:srgbClr val="008159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772774" y="514350"/>
              <a:ext cx="923925" cy="219075"/>
            </a:xfrm>
            <a:custGeom>
              <a:avLst/>
              <a:gdLst/>
              <a:ahLst/>
              <a:cxnLst/>
              <a:rect l="l" t="t" r="r" b="b"/>
              <a:pathLst>
                <a:path w="923925" h="219075">
                  <a:moveTo>
                    <a:pt x="814387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8" y="206126"/>
                  </a:lnTo>
                  <a:lnTo>
                    <a:pt x="24820" y="178993"/>
                  </a:lnTo>
                  <a:lnTo>
                    <a:pt x="18558" y="170561"/>
                  </a:lnTo>
                  <a:lnTo>
                    <a:pt x="18442" y="170404"/>
                  </a:lnTo>
                  <a:lnTo>
                    <a:pt x="2083" y="130911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80" y="24821"/>
                  </a:lnTo>
                  <a:lnTo>
                    <a:pt x="77787" y="4690"/>
                  </a:lnTo>
                  <a:lnTo>
                    <a:pt x="109537" y="0"/>
                  </a:lnTo>
                  <a:lnTo>
                    <a:pt x="814387" y="0"/>
                  </a:lnTo>
                  <a:lnTo>
                    <a:pt x="856304" y="8338"/>
                  </a:lnTo>
                  <a:lnTo>
                    <a:pt x="858819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0" y="153877"/>
                  </a:lnTo>
                  <a:lnTo>
                    <a:pt x="29923" y="170404"/>
                  </a:lnTo>
                  <a:lnTo>
                    <a:pt x="30028" y="170561"/>
                  </a:lnTo>
                  <a:lnTo>
                    <a:pt x="59433" y="196343"/>
                  </a:lnTo>
                  <a:lnTo>
                    <a:pt x="96466" y="208909"/>
                  </a:lnTo>
                  <a:lnTo>
                    <a:pt x="102970" y="209549"/>
                  </a:lnTo>
                  <a:lnTo>
                    <a:pt x="858819" y="209549"/>
                  </a:lnTo>
                  <a:lnTo>
                    <a:pt x="856304" y="210736"/>
                  </a:lnTo>
                  <a:lnTo>
                    <a:pt x="846136" y="214384"/>
                  </a:lnTo>
                  <a:lnTo>
                    <a:pt x="835760" y="216990"/>
                  </a:lnTo>
                  <a:lnTo>
                    <a:pt x="825177" y="218553"/>
                  </a:lnTo>
                  <a:lnTo>
                    <a:pt x="814387" y="219074"/>
                  </a:lnTo>
                  <a:close/>
                </a:path>
                <a:path w="923925" h="219075">
                  <a:moveTo>
                    <a:pt x="858819" y="209549"/>
                  </a:moveTo>
                  <a:lnTo>
                    <a:pt x="820954" y="209549"/>
                  </a:lnTo>
                  <a:lnTo>
                    <a:pt x="827458" y="208909"/>
                  </a:lnTo>
                  <a:lnTo>
                    <a:pt x="840339" y="206347"/>
                  </a:lnTo>
                  <a:lnTo>
                    <a:pt x="875411" y="189046"/>
                  </a:lnTo>
                  <a:lnTo>
                    <a:pt x="901192" y="159641"/>
                  </a:lnTo>
                  <a:lnTo>
                    <a:pt x="913759" y="122608"/>
                  </a:lnTo>
                  <a:lnTo>
                    <a:pt x="914399" y="116104"/>
                  </a:lnTo>
                  <a:lnTo>
                    <a:pt x="914399" y="102970"/>
                  </a:lnTo>
                  <a:lnTo>
                    <a:pt x="904273" y="65197"/>
                  </a:lnTo>
                  <a:lnTo>
                    <a:pt x="880463" y="34174"/>
                  </a:lnTo>
                  <a:lnTo>
                    <a:pt x="846593" y="14624"/>
                  </a:lnTo>
                  <a:lnTo>
                    <a:pt x="820954" y="9524"/>
                  </a:lnTo>
                  <a:lnTo>
                    <a:pt x="858819" y="9524"/>
                  </a:lnTo>
                  <a:lnTo>
                    <a:pt x="891842" y="32082"/>
                  </a:lnTo>
                  <a:lnTo>
                    <a:pt x="905365" y="48513"/>
                  </a:lnTo>
                  <a:lnTo>
                    <a:pt x="905481" y="48670"/>
                  </a:lnTo>
                  <a:lnTo>
                    <a:pt x="921839" y="88163"/>
                  </a:lnTo>
                  <a:lnTo>
                    <a:pt x="923924" y="109537"/>
                  </a:lnTo>
                  <a:lnTo>
                    <a:pt x="923403" y="120327"/>
                  </a:lnTo>
                  <a:lnTo>
                    <a:pt x="910975" y="161225"/>
                  </a:lnTo>
                  <a:lnTo>
                    <a:pt x="883843" y="194253"/>
                  </a:lnTo>
                  <a:lnTo>
                    <a:pt x="866074" y="206126"/>
                  </a:lnTo>
                  <a:lnTo>
                    <a:pt x="858819" y="209549"/>
                  </a:lnTo>
                  <a:close/>
                </a:path>
              </a:pathLst>
            </a:custGeom>
            <a:solidFill>
              <a:srgbClr val="008159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864999" y="546112"/>
            <a:ext cx="726440" cy="143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Q</a:t>
            </a:r>
            <a:r>
              <a:rPr dirty="0" sz="750" spc="-10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3</a:t>
            </a:r>
            <a:r>
              <a:rPr dirty="0" sz="750" spc="28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098F60"/>
                </a:solidFill>
                <a:latin typeface="Arial"/>
                <a:cs typeface="Arial"/>
              </a:rPr>
              <a:t>R</a:t>
            </a:r>
            <a:r>
              <a:rPr dirty="0" sz="750" spc="-8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098F60"/>
                </a:solidFill>
                <a:latin typeface="Arial"/>
                <a:cs typeface="Arial"/>
              </a:rPr>
              <a:t>E</a:t>
            </a:r>
            <a:r>
              <a:rPr dirty="0" sz="750" spc="-7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65" b="1">
                <a:solidFill>
                  <a:srgbClr val="098F60"/>
                </a:solidFill>
                <a:latin typeface="Arial"/>
                <a:cs typeface="Arial"/>
              </a:rPr>
              <a:t>L</a:t>
            </a:r>
            <a:r>
              <a:rPr dirty="0" sz="750" spc="-8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AXE</a:t>
            </a:r>
            <a:r>
              <a:rPr dirty="0" sz="750" spc="-7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098F60"/>
                </a:solidFill>
                <a:latin typeface="Arial"/>
                <a:cs typeface="Arial"/>
              </a:rPr>
              <a:t>D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95299" y="1019164"/>
            <a:ext cx="2238375" cy="686435"/>
            <a:chOff x="495299" y="1019164"/>
            <a:chExt cx="2238375" cy="686435"/>
          </a:xfrm>
        </p:grpSpPr>
        <p:sp>
          <p:nvSpPr>
            <p:cNvPr id="20" name="object 20"/>
            <p:cNvSpPr/>
            <p:nvPr/>
          </p:nvSpPr>
          <p:spPr>
            <a:xfrm>
              <a:off x="495299" y="1019164"/>
              <a:ext cx="2238375" cy="685800"/>
            </a:xfrm>
            <a:custGeom>
              <a:avLst/>
              <a:gdLst/>
              <a:ahLst/>
              <a:cxnLst/>
              <a:rect l="l" t="t" r="r" b="b"/>
              <a:pathLst>
                <a:path w="2238375" h="685800">
                  <a:moveTo>
                    <a:pt x="2124074" y="685799"/>
                  </a:moveTo>
                  <a:lnTo>
                    <a:pt x="114299" y="685799"/>
                  </a:lnTo>
                  <a:lnTo>
                    <a:pt x="103040" y="685256"/>
                  </a:lnTo>
                  <a:lnTo>
                    <a:pt x="60364" y="672287"/>
                  </a:lnTo>
                  <a:lnTo>
                    <a:pt x="25900" y="643975"/>
                  </a:lnTo>
                  <a:lnTo>
                    <a:pt x="4894" y="604629"/>
                  </a:lnTo>
                  <a:lnTo>
                    <a:pt x="0" y="5714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124074" y="0"/>
                  </a:lnTo>
                  <a:lnTo>
                    <a:pt x="2167815" y="8700"/>
                  </a:lnTo>
                  <a:lnTo>
                    <a:pt x="2204897" y="33477"/>
                  </a:lnTo>
                  <a:lnTo>
                    <a:pt x="2229673" y="70559"/>
                  </a:lnTo>
                  <a:lnTo>
                    <a:pt x="2238374" y="114299"/>
                  </a:lnTo>
                  <a:lnTo>
                    <a:pt x="2238374" y="571499"/>
                  </a:lnTo>
                  <a:lnTo>
                    <a:pt x="2229674" y="615240"/>
                  </a:lnTo>
                  <a:lnTo>
                    <a:pt x="2204897" y="652322"/>
                  </a:lnTo>
                  <a:lnTo>
                    <a:pt x="2167815" y="677099"/>
                  </a:lnTo>
                  <a:lnTo>
                    <a:pt x="2124074" y="6857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95299" y="1019175"/>
              <a:ext cx="2238375" cy="685800"/>
            </a:xfrm>
            <a:custGeom>
              <a:avLst/>
              <a:gdLst/>
              <a:ahLst/>
              <a:cxnLst/>
              <a:rect l="l" t="t" r="r" b="b"/>
              <a:pathLst>
                <a:path w="2238375" h="685800">
                  <a:moveTo>
                    <a:pt x="2124074" y="685799"/>
                  </a:moveTo>
                  <a:lnTo>
                    <a:pt x="114299" y="685799"/>
                  </a:lnTo>
                  <a:lnTo>
                    <a:pt x="103040" y="685256"/>
                  </a:lnTo>
                  <a:lnTo>
                    <a:pt x="60364" y="672288"/>
                  </a:lnTo>
                  <a:lnTo>
                    <a:pt x="25900" y="643975"/>
                  </a:lnTo>
                  <a:lnTo>
                    <a:pt x="4894" y="604629"/>
                  </a:lnTo>
                  <a:lnTo>
                    <a:pt x="0" y="5714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124074" y="0"/>
                  </a:lnTo>
                  <a:lnTo>
                    <a:pt x="2167815" y="8700"/>
                  </a:lnTo>
                  <a:lnTo>
                    <a:pt x="216956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578379"/>
                  </a:lnTo>
                  <a:lnTo>
                    <a:pt x="20133" y="617951"/>
                  </a:lnTo>
                  <a:lnTo>
                    <a:pt x="45077" y="650451"/>
                  </a:lnTo>
                  <a:lnTo>
                    <a:pt x="80560" y="670932"/>
                  </a:lnTo>
                  <a:lnTo>
                    <a:pt x="107420" y="676274"/>
                  </a:lnTo>
                  <a:lnTo>
                    <a:pt x="2169562" y="676274"/>
                  </a:lnTo>
                  <a:lnTo>
                    <a:pt x="2167815" y="677099"/>
                  </a:lnTo>
                  <a:lnTo>
                    <a:pt x="2157204" y="680905"/>
                  </a:lnTo>
                  <a:lnTo>
                    <a:pt x="2146377" y="683624"/>
                  </a:lnTo>
                  <a:lnTo>
                    <a:pt x="2135334" y="685256"/>
                  </a:lnTo>
                  <a:lnTo>
                    <a:pt x="2124074" y="685799"/>
                  </a:lnTo>
                  <a:close/>
                </a:path>
                <a:path w="2238375" h="685800">
                  <a:moveTo>
                    <a:pt x="2169562" y="676274"/>
                  </a:moveTo>
                  <a:lnTo>
                    <a:pt x="2130954" y="676274"/>
                  </a:lnTo>
                  <a:lnTo>
                    <a:pt x="2137767" y="675603"/>
                  </a:lnTo>
                  <a:lnTo>
                    <a:pt x="2151262" y="672919"/>
                  </a:lnTo>
                  <a:lnTo>
                    <a:pt x="2188004" y="654795"/>
                  </a:lnTo>
                  <a:lnTo>
                    <a:pt x="2215013" y="623989"/>
                  </a:lnTo>
                  <a:lnTo>
                    <a:pt x="2228178" y="585193"/>
                  </a:lnTo>
                  <a:lnTo>
                    <a:pt x="2228849" y="578379"/>
                  </a:lnTo>
                  <a:lnTo>
                    <a:pt x="2228849" y="107420"/>
                  </a:lnTo>
                  <a:lnTo>
                    <a:pt x="2218241" y="67848"/>
                  </a:lnTo>
                  <a:lnTo>
                    <a:pt x="2193297" y="35348"/>
                  </a:lnTo>
                  <a:lnTo>
                    <a:pt x="2157814" y="14867"/>
                  </a:lnTo>
                  <a:lnTo>
                    <a:pt x="2130954" y="9524"/>
                  </a:lnTo>
                  <a:lnTo>
                    <a:pt x="2169562" y="9524"/>
                  </a:lnTo>
                  <a:lnTo>
                    <a:pt x="2204897" y="33477"/>
                  </a:lnTo>
                  <a:lnTo>
                    <a:pt x="2229674" y="70559"/>
                  </a:lnTo>
                  <a:lnTo>
                    <a:pt x="2238374" y="114299"/>
                  </a:lnTo>
                  <a:lnTo>
                    <a:pt x="2238374" y="571499"/>
                  </a:lnTo>
                  <a:lnTo>
                    <a:pt x="2237831" y="582759"/>
                  </a:lnTo>
                  <a:lnTo>
                    <a:pt x="2224862" y="625435"/>
                  </a:lnTo>
                  <a:lnTo>
                    <a:pt x="2196550" y="659899"/>
                  </a:lnTo>
                  <a:lnTo>
                    <a:pt x="2178009" y="672288"/>
                  </a:lnTo>
                  <a:lnTo>
                    <a:pt x="2169562" y="6762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44525" y="1040209"/>
            <a:ext cx="1083310" cy="52768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900" spc="-45" b="1">
                <a:solidFill>
                  <a:srgbClr val="C87D09"/>
                </a:solidFill>
                <a:latin typeface="Verdana"/>
                <a:cs typeface="Verdana"/>
              </a:rPr>
              <a:t>6,714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Q</a:t>
            </a:r>
            <a:r>
              <a:rPr dirty="0" sz="850" spc="-13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54">
                <a:solidFill>
                  <a:srgbClr val="8490A3"/>
                </a:solidFill>
                <a:latin typeface="Microsoft Sans Serif"/>
                <a:cs typeface="Microsoft Sans Serif"/>
              </a:rPr>
              <a:t>1</a:t>
            </a:r>
            <a:r>
              <a:rPr dirty="0" sz="850" spc="25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KLY</a:t>
            </a:r>
            <a:r>
              <a:rPr dirty="0" sz="850" spc="18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6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>
                <a:solidFill>
                  <a:srgbClr val="8490A3"/>
                </a:solidFill>
                <a:latin typeface="Microsoft Sans Serif"/>
                <a:cs typeface="Microsoft Sans Serif"/>
              </a:rPr>
              <a:t>L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47974" y="1019164"/>
            <a:ext cx="2238375" cy="686435"/>
            <a:chOff x="2847974" y="1019164"/>
            <a:chExt cx="2238375" cy="686435"/>
          </a:xfrm>
        </p:grpSpPr>
        <p:sp>
          <p:nvSpPr>
            <p:cNvPr id="24" name="object 24"/>
            <p:cNvSpPr/>
            <p:nvPr/>
          </p:nvSpPr>
          <p:spPr>
            <a:xfrm>
              <a:off x="2847974" y="1019164"/>
              <a:ext cx="2238375" cy="685800"/>
            </a:xfrm>
            <a:custGeom>
              <a:avLst/>
              <a:gdLst/>
              <a:ahLst/>
              <a:cxnLst/>
              <a:rect l="l" t="t" r="r" b="b"/>
              <a:pathLst>
                <a:path w="2238375" h="685800">
                  <a:moveTo>
                    <a:pt x="2124074" y="685799"/>
                  </a:moveTo>
                  <a:lnTo>
                    <a:pt x="114299" y="685799"/>
                  </a:lnTo>
                  <a:lnTo>
                    <a:pt x="103040" y="685256"/>
                  </a:lnTo>
                  <a:lnTo>
                    <a:pt x="60364" y="672287"/>
                  </a:lnTo>
                  <a:lnTo>
                    <a:pt x="25900" y="643975"/>
                  </a:lnTo>
                  <a:lnTo>
                    <a:pt x="4893" y="604629"/>
                  </a:lnTo>
                  <a:lnTo>
                    <a:pt x="0" y="5714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124074" y="0"/>
                  </a:lnTo>
                  <a:lnTo>
                    <a:pt x="2167814" y="8700"/>
                  </a:lnTo>
                  <a:lnTo>
                    <a:pt x="2204896" y="33477"/>
                  </a:lnTo>
                  <a:lnTo>
                    <a:pt x="2229673" y="70559"/>
                  </a:lnTo>
                  <a:lnTo>
                    <a:pt x="2238374" y="114299"/>
                  </a:lnTo>
                  <a:lnTo>
                    <a:pt x="2238374" y="571499"/>
                  </a:lnTo>
                  <a:lnTo>
                    <a:pt x="2229673" y="615240"/>
                  </a:lnTo>
                  <a:lnTo>
                    <a:pt x="2204896" y="652322"/>
                  </a:lnTo>
                  <a:lnTo>
                    <a:pt x="2167814" y="677099"/>
                  </a:lnTo>
                  <a:lnTo>
                    <a:pt x="2124074" y="6857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847974" y="1019175"/>
              <a:ext cx="2238375" cy="685800"/>
            </a:xfrm>
            <a:custGeom>
              <a:avLst/>
              <a:gdLst/>
              <a:ahLst/>
              <a:cxnLst/>
              <a:rect l="l" t="t" r="r" b="b"/>
              <a:pathLst>
                <a:path w="2238375" h="685800">
                  <a:moveTo>
                    <a:pt x="2124074" y="685799"/>
                  </a:moveTo>
                  <a:lnTo>
                    <a:pt x="114299" y="685799"/>
                  </a:lnTo>
                  <a:lnTo>
                    <a:pt x="103040" y="685256"/>
                  </a:lnTo>
                  <a:lnTo>
                    <a:pt x="60364" y="672288"/>
                  </a:lnTo>
                  <a:lnTo>
                    <a:pt x="25900" y="643975"/>
                  </a:lnTo>
                  <a:lnTo>
                    <a:pt x="4893" y="604629"/>
                  </a:lnTo>
                  <a:lnTo>
                    <a:pt x="0" y="5714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124074" y="0"/>
                  </a:lnTo>
                  <a:lnTo>
                    <a:pt x="2167814" y="8700"/>
                  </a:lnTo>
                  <a:lnTo>
                    <a:pt x="216956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578379"/>
                  </a:lnTo>
                  <a:lnTo>
                    <a:pt x="20133" y="617951"/>
                  </a:lnTo>
                  <a:lnTo>
                    <a:pt x="45077" y="650451"/>
                  </a:lnTo>
                  <a:lnTo>
                    <a:pt x="80560" y="670932"/>
                  </a:lnTo>
                  <a:lnTo>
                    <a:pt x="107420" y="676274"/>
                  </a:lnTo>
                  <a:lnTo>
                    <a:pt x="2169561" y="676274"/>
                  </a:lnTo>
                  <a:lnTo>
                    <a:pt x="2167814" y="677099"/>
                  </a:lnTo>
                  <a:lnTo>
                    <a:pt x="2157204" y="680905"/>
                  </a:lnTo>
                  <a:lnTo>
                    <a:pt x="2146377" y="683624"/>
                  </a:lnTo>
                  <a:lnTo>
                    <a:pt x="2135334" y="685256"/>
                  </a:lnTo>
                  <a:lnTo>
                    <a:pt x="2124074" y="685799"/>
                  </a:lnTo>
                  <a:close/>
                </a:path>
                <a:path w="2238375" h="685800">
                  <a:moveTo>
                    <a:pt x="2169561" y="676274"/>
                  </a:moveTo>
                  <a:lnTo>
                    <a:pt x="2130954" y="676274"/>
                  </a:lnTo>
                  <a:lnTo>
                    <a:pt x="2137767" y="675603"/>
                  </a:lnTo>
                  <a:lnTo>
                    <a:pt x="2151262" y="672919"/>
                  </a:lnTo>
                  <a:lnTo>
                    <a:pt x="2188004" y="654795"/>
                  </a:lnTo>
                  <a:lnTo>
                    <a:pt x="2215013" y="623989"/>
                  </a:lnTo>
                  <a:lnTo>
                    <a:pt x="2228178" y="585193"/>
                  </a:lnTo>
                  <a:lnTo>
                    <a:pt x="2228849" y="578379"/>
                  </a:lnTo>
                  <a:lnTo>
                    <a:pt x="2228849" y="107420"/>
                  </a:lnTo>
                  <a:lnTo>
                    <a:pt x="2218241" y="67848"/>
                  </a:lnTo>
                  <a:lnTo>
                    <a:pt x="2193297" y="35348"/>
                  </a:lnTo>
                  <a:lnTo>
                    <a:pt x="2157814" y="14867"/>
                  </a:lnTo>
                  <a:lnTo>
                    <a:pt x="2130954" y="9524"/>
                  </a:lnTo>
                  <a:lnTo>
                    <a:pt x="2169561" y="9524"/>
                  </a:lnTo>
                  <a:lnTo>
                    <a:pt x="2204896" y="33477"/>
                  </a:lnTo>
                  <a:lnTo>
                    <a:pt x="2229673" y="70559"/>
                  </a:lnTo>
                  <a:lnTo>
                    <a:pt x="2238374" y="114299"/>
                  </a:lnTo>
                  <a:lnTo>
                    <a:pt x="2238374" y="571499"/>
                  </a:lnTo>
                  <a:lnTo>
                    <a:pt x="2237830" y="582759"/>
                  </a:lnTo>
                  <a:lnTo>
                    <a:pt x="2224862" y="625435"/>
                  </a:lnTo>
                  <a:lnTo>
                    <a:pt x="2196550" y="659899"/>
                  </a:lnTo>
                  <a:lnTo>
                    <a:pt x="2178009" y="672288"/>
                  </a:lnTo>
                  <a:lnTo>
                    <a:pt x="2169561" y="676274"/>
                  </a:lnTo>
                  <a:close/>
                </a:path>
              </a:pathLst>
            </a:custGeom>
            <a:solidFill>
              <a:srgbClr val="162E52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995562" y="1040209"/>
            <a:ext cx="1109345" cy="52768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900" spc="-10" b="1">
                <a:solidFill>
                  <a:srgbClr val="F77070"/>
                </a:solidFill>
                <a:latin typeface="Verdana"/>
                <a:cs typeface="Verdana"/>
              </a:rPr>
              <a:t>7,584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Q</a:t>
            </a:r>
            <a:r>
              <a:rPr dirty="0" sz="850" spc="-13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2</a:t>
            </a:r>
            <a:r>
              <a:rPr dirty="0" sz="850" spc="20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KLY</a:t>
            </a:r>
            <a:r>
              <a:rPr dirty="0" sz="850" spc="18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6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>
                <a:solidFill>
                  <a:srgbClr val="8490A3"/>
                </a:solidFill>
                <a:latin typeface="Microsoft Sans Serif"/>
                <a:cs typeface="Microsoft Sans Serif"/>
              </a:rPr>
              <a:t>L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95299" y="1819264"/>
            <a:ext cx="2238375" cy="686435"/>
            <a:chOff x="495299" y="1819264"/>
            <a:chExt cx="2238375" cy="686435"/>
          </a:xfrm>
        </p:grpSpPr>
        <p:sp>
          <p:nvSpPr>
            <p:cNvPr id="28" name="object 28"/>
            <p:cNvSpPr/>
            <p:nvPr/>
          </p:nvSpPr>
          <p:spPr>
            <a:xfrm>
              <a:off x="495299" y="1819264"/>
              <a:ext cx="2238375" cy="685800"/>
            </a:xfrm>
            <a:custGeom>
              <a:avLst/>
              <a:gdLst/>
              <a:ahLst/>
              <a:cxnLst/>
              <a:rect l="l" t="t" r="r" b="b"/>
              <a:pathLst>
                <a:path w="2238375" h="685800">
                  <a:moveTo>
                    <a:pt x="2124074" y="685799"/>
                  </a:moveTo>
                  <a:lnTo>
                    <a:pt x="114299" y="685799"/>
                  </a:lnTo>
                  <a:lnTo>
                    <a:pt x="103040" y="685256"/>
                  </a:lnTo>
                  <a:lnTo>
                    <a:pt x="60364" y="672287"/>
                  </a:lnTo>
                  <a:lnTo>
                    <a:pt x="25900" y="643975"/>
                  </a:lnTo>
                  <a:lnTo>
                    <a:pt x="4894" y="604629"/>
                  </a:lnTo>
                  <a:lnTo>
                    <a:pt x="0" y="5714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124074" y="0"/>
                  </a:lnTo>
                  <a:lnTo>
                    <a:pt x="2167815" y="8700"/>
                  </a:lnTo>
                  <a:lnTo>
                    <a:pt x="2204897" y="33477"/>
                  </a:lnTo>
                  <a:lnTo>
                    <a:pt x="2229673" y="70559"/>
                  </a:lnTo>
                  <a:lnTo>
                    <a:pt x="2238374" y="114299"/>
                  </a:lnTo>
                  <a:lnTo>
                    <a:pt x="2238374" y="571499"/>
                  </a:lnTo>
                  <a:lnTo>
                    <a:pt x="2229674" y="615240"/>
                  </a:lnTo>
                  <a:lnTo>
                    <a:pt x="2204897" y="652322"/>
                  </a:lnTo>
                  <a:lnTo>
                    <a:pt x="2167815" y="677099"/>
                  </a:lnTo>
                  <a:lnTo>
                    <a:pt x="2124074" y="6857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5299" y="1819274"/>
              <a:ext cx="2238375" cy="685800"/>
            </a:xfrm>
            <a:custGeom>
              <a:avLst/>
              <a:gdLst/>
              <a:ahLst/>
              <a:cxnLst/>
              <a:rect l="l" t="t" r="r" b="b"/>
              <a:pathLst>
                <a:path w="2238375" h="685800">
                  <a:moveTo>
                    <a:pt x="2124074" y="685799"/>
                  </a:moveTo>
                  <a:lnTo>
                    <a:pt x="114299" y="685799"/>
                  </a:lnTo>
                  <a:lnTo>
                    <a:pt x="103040" y="685256"/>
                  </a:lnTo>
                  <a:lnTo>
                    <a:pt x="60364" y="672287"/>
                  </a:lnTo>
                  <a:lnTo>
                    <a:pt x="25900" y="643975"/>
                  </a:lnTo>
                  <a:lnTo>
                    <a:pt x="4894" y="604629"/>
                  </a:lnTo>
                  <a:lnTo>
                    <a:pt x="0" y="5714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2124074" y="0"/>
                  </a:lnTo>
                  <a:lnTo>
                    <a:pt x="2167815" y="8700"/>
                  </a:lnTo>
                  <a:lnTo>
                    <a:pt x="216956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578379"/>
                  </a:lnTo>
                  <a:lnTo>
                    <a:pt x="20133" y="617951"/>
                  </a:lnTo>
                  <a:lnTo>
                    <a:pt x="45077" y="650451"/>
                  </a:lnTo>
                  <a:lnTo>
                    <a:pt x="80560" y="670932"/>
                  </a:lnTo>
                  <a:lnTo>
                    <a:pt x="107420" y="676274"/>
                  </a:lnTo>
                  <a:lnTo>
                    <a:pt x="2169561" y="676274"/>
                  </a:lnTo>
                  <a:lnTo>
                    <a:pt x="2167815" y="677099"/>
                  </a:lnTo>
                  <a:lnTo>
                    <a:pt x="2157204" y="680905"/>
                  </a:lnTo>
                  <a:lnTo>
                    <a:pt x="2146377" y="683624"/>
                  </a:lnTo>
                  <a:lnTo>
                    <a:pt x="2135334" y="685256"/>
                  </a:lnTo>
                  <a:lnTo>
                    <a:pt x="2124074" y="685799"/>
                  </a:lnTo>
                  <a:close/>
                </a:path>
                <a:path w="2238375" h="685800">
                  <a:moveTo>
                    <a:pt x="2169561" y="676274"/>
                  </a:moveTo>
                  <a:lnTo>
                    <a:pt x="2130954" y="676274"/>
                  </a:lnTo>
                  <a:lnTo>
                    <a:pt x="2137767" y="675603"/>
                  </a:lnTo>
                  <a:lnTo>
                    <a:pt x="2151262" y="672919"/>
                  </a:lnTo>
                  <a:lnTo>
                    <a:pt x="2188004" y="654794"/>
                  </a:lnTo>
                  <a:lnTo>
                    <a:pt x="2215013" y="623989"/>
                  </a:lnTo>
                  <a:lnTo>
                    <a:pt x="2228178" y="585193"/>
                  </a:lnTo>
                  <a:lnTo>
                    <a:pt x="2228849" y="578379"/>
                  </a:lnTo>
                  <a:lnTo>
                    <a:pt x="2228849" y="107420"/>
                  </a:lnTo>
                  <a:lnTo>
                    <a:pt x="2218241" y="67848"/>
                  </a:lnTo>
                  <a:lnTo>
                    <a:pt x="2193297" y="35348"/>
                  </a:lnTo>
                  <a:lnTo>
                    <a:pt x="2157814" y="14867"/>
                  </a:lnTo>
                  <a:lnTo>
                    <a:pt x="2130954" y="9524"/>
                  </a:lnTo>
                  <a:lnTo>
                    <a:pt x="2169562" y="9524"/>
                  </a:lnTo>
                  <a:lnTo>
                    <a:pt x="2204897" y="33477"/>
                  </a:lnTo>
                  <a:lnTo>
                    <a:pt x="2229674" y="70559"/>
                  </a:lnTo>
                  <a:lnTo>
                    <a:pt x="2238374" y="114299"/>
                  </a:lnTo>
                  <a:lnTo>
                    <a:pt x="2238374" y="571499"/>
                  </a:lnTo>
                  <a:lnTo>
                    <a:pt x="2237831" y="582759"/>
                  </a:lnTo>
                  <a:lnTo>
                    <a:pt x="2224862" y="625434"/>
                  </a:lnTo>
                  <a:lnTo>
                    <a:pt x="2196550" y="659899"/>
                  </a:lnTo>
                  <a:lnTo>
                    <a:pt x="2178009" y="672287"/>
                  </a:lnTo>
                  <a:lnTo>
                    <a:pt x="2169561" y="676274"/>
                  </a:lnTo>
                  <a:close/>
                </a:path>
              </a:pathLst>
            </a:custGeom>
            <a:solidFill>
              <a:srgbClr val="33D39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44525" y="1840309"/>
            <a:ext cx="1111250" cy="52768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900" spc="-10" b="1">
                <a:solidFill>
                  <a:srgbClr val="098F60"/>
                </a:solidFill>
                <a:latin typeface="Verdana"/>
                <a:cs typeface="Verdana"/>
              </a:rPr>
              <a:t>4,793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50" spc="-10">
                <a:solidFill>
                  <a:srgbClr val="8490A3"/>
                </a:solidFill>
                <a:latin typeface="Microsoft Sans Serif"/>
                <a:cs typeface="Microsoft Sans Serif"/>
              </a:rPr>
              <a:t>Q</a:t>
            </a:r>
            <a:r>
              <a:rPr dirty="0" sz="850" spc="-13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3</a:t>
            </a:r>
            <a:r>
              <a:rPr dirty="0" sz="850" spc="22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WE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KLY</a:t>
            </a:r>
            <a:r>
              <a:rPr dirty="0" sz="850" spc="18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6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>
                <a:solidFill>
                  <a:srgbClr val="8490A3"/>
                </a:solidFill>
                <a:latin typeface="Microsoft Sans Serif"/>
                <a:cs typeface="Microsoft Sans Serif"/>
              </a:rPr>
              <a:t>L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847974" y="1819264"/>
            <a:ext cx="2238375" cy="686435"/>
            <a:chOff x="2847974" y="1819264"/>
            <a:chExt cx="2238375" cy="686435"/>
          </a:xfrm>
        </p:grpSpPr>
        <p:sp>
          <p:nvSpPr>
            <p:cNvPr id="32" name="object 32"/>
            <p:cNvSpPr/>
            <p:nvPr/>
          </p:nvSpPr>
          <p:spPr>
            <a:xfrm>
              <a:off x="2847974" y="1819264"/>
              <a:ext cx="2238375" cy="685800"/>
            </a:xfrm>
            <a:custGeom>
              <a:avLst/>
              <a:gdLst/>
              <a:ahLst/>
              <a:cxnLst/>
              <a:rect l="l" t="t" r="r" b="b"/>
              <a:pathLst>
                <a:path w="2238375" h="685800">
                  <a:moveTo>
                    <a:pt x="2124074" y="685799"/>
                  </a:moveTo>
                  <a:lnTo>
                    <a:pt x="114299" y="685799"/>
                  </a:lnTo>
                  <a:lnTo>
                    <a:pt x="103040" y="685256"/>
                  </a:lnTo>
                  <a:lnTo>
                    <a:pt x="60364" y="672287"/>
                  </a:lnTo>
                  <a:lnTo>
                    <a:pt x="25900" y="643975"/>
                  </a:lnTo>
                  <a:lnTo>
                    <a:pt x="4893" y="604629"/>
                  </a:lnTo>
                  <a:lnTo>
                    <a:pt x="0" y="5714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124074" y="0"/>
                  </a:lnTo>
                  <a:lnTo>
                    <a:pt x="2167814" y="8700"/>
                  </a:lnTo>
                  <a:lnTo>
                    <a:pt x="2204896" y="33477"/>
                  </a:lnTo>
                  <a:lnTo>
                    <a:pt x="2229673" y="70559"/>
                  </a:lnTo>
                  <a:lnTo>
                    <a:pt x="2238374" y="114299"/>
                  </a:lnTo>
                  <a:lnTo>
                    <a:pt x="2238374" y="571499"/>
                  </a:lnTo>
                  <a:lnTo>
                    <a:pt x="2229673" y="615240"/>
                  </a:lnTo>
                  <a:lnTo>
                    <a:pt x="2204896" y="652322"/>
                  </a:lnTo>
                  <a:lnTo>
                    <a:pt x="2167814" y="677099"/>
                  </a:lnTo>
                  <a:lnTo>
                    <a:pt x="2124074" y="685799"/>
                  </a:lnTo>
                  <a:close/>
                </a:path>
              </a:pathLst>
            </a:custGeom>
            <a:solidFill>
              <a:srgbClr val="FFFFFF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847974" y="1819274"/>
              <a:ext cx="2238375" cy="685800"/>
            </a:xfrm>
            <a:custGeom>
              <a:avLst/>
              <a:gdLst/>
              <a:ahLst/>
              <a:cxnLst/>
              <a:rect l="l" t="t" r="r" b="b"/>
              <a:pathLst>
                <a:path w="2238375" h="685800">
                  <a:moveTo>
                    <a:pt x="2124074" y="685799"/>
                  </a:moveTo>
                  <a:lnTo>
                    <a:pt x="114299" y="685799"/>
                  </a:lnTo>
                  <a:lnTo>
                    <a:pt x="103040" y="685256"/>
                  </a:lnTo>
                  <a:lnTo>
                    <a:pt x="60364" y="672287"/>
                  </a:lnTo>
                  <a:lnTo>
                    <a:pt x="25900" y="643975"/>
                  </a:lnTo>
                  <a:lnTo>
                    <a:pt x="4893" y="604629"/>
                  </a:lnTo>
                  <a:lnTo>
                    <a:pt x="0" y="5714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2124074" y="0"/>
                  </a:lnTo>
                  <a:lnTo>
                    <a:pt x="2167814" y="8700"/>
                  </a:lnTo>
                  <a:lnTo>
                    <a:pt x="216956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578379"/>
                  </a:lnTo>
                  <a:lnTo>
                    <a:pt x="20133" y="617951"/>
                  </a:lnTo>
                  <a:lnTo>
                    <a:pt x="45077" y="650451"/>
                  </a:lnTo>
                  <a:lnTo>
                    <a:pt x="80560" y="670932"/>
                  </a:lnTo>
                  <a:lnTo>
                    <a:pt x="107420" y="676274"/>
                  </a:lnTo>
                  <a:lnTo>
                    <a:pt x="2169561" y="676274"/>
                  </a:lnTo>
                  <a:lnTo>
                    <a:pt x="2167814" y="677099"/>
                  </a:lnTo>
                  <a:lnTo>
                    <a:pt x="2157204" y="680905"/>
                  </a:lnTo>
                  <a:lnTo>
                    <a:pt x="2146377" y="683624"/>
                  </a:lnTo>
                  <a:lnTo>
                    <a:pt x="2135334" y="685256"/>
                  </a:lnTo>
                  <a:lnTo>
                    <a:pt x="2124074" y="685799"/>
                  </a:lnTo>
                  <a:close/>
                </a:path>
                <a:path w="2238375" h="685800">
                  <a:moveTo>
                    <a:pt x="2169561" y="676274"/>
                  </a:moveTo>
                  <a:lnTo>
                    <a:pt x="2130954" y="676274"/>
                  </a:lnTo>
                  <a:lnTo>
                    <a:pt x="2137767" y="675603"/>
                  </a:lnTo>
                  <a:lnTo>
                    <a:pt x="2151262" y="672919"/>
                  </a:lnTo>
                  <a:lnTo>
                    <a:pt x="2188004" y="654794"/>
                  </a:lnTo>
                  <a:lnTo>
                    <a:pt x="2215013" y="623989"/>
                  </a:lnTo>
                  <a:lnTo>
                    <a:pt x="2228178" y="585193"/>
                  </a:lnTo>
                  <a:lnTo>
                    <a:pt x="2228849" y="578379"/>
                  </a:lnTo>
                  <a:lnTo>
                    <a:pt x="2228849" y="107420"/>
                  </a:lnTo>
                  <a:lnTo>
                    <a:pt x="2218241" y="67848"/>
                  </a:lnTo>
                  <a:lnTo>
                    <a:pt x="2193297" y="35348"/>
                  </a:lnTo>
                  <a:lnTo>
                    <a:pt x="2157814" y="14867"/>
                  </a:lnTo>
                  <a:lnTo>
                    <a:pt x="2130954" y="9524"/>
                  </a:lnTo>
                  <a:lnTo>
                    <a:pt x="2169561" y="9524"/>
                  </a:lnTo>
                  <a:lnTo>
                    <a:pt x="2204896" y="33477"/>
                  </a:lnTo>
                  <a:lnTo>
                    <a:pt x="2229673" y="70559"/>
                  </a:lnTo>
                  <a:lnTo>
                    <a:pt x="2238374" y="114299"/>
                  </a:lnTo>
                  <a:lnTo>
                    <a:pt x="2238374" y="571499"/>
                  </a:lnTo>
                  <a:lnTo>
                    <a:pt x="2237830" y="582759"/>
                  </a:lnTo>
                  <a:lnTo>
                    <a:pt x="2224862" y="625434"/>
                  </a:lnTo>
                  <a:lnTo>
                    <a:pt x="2196550" y="659899"/>
                  </a:lnTo>
                  <a:lnTo>
                    <a:pt x="2178009" y="672287"/>
                  </a:lnTo>
                  <a:lnTo>
                    <a:pt x="2169561" y="676274"/>
                  </a:lnTo>
                  <a:close/>
                </a:path>
              </a:pathLst>
            </a:custGeom>
            <a:solidFill>
              <a:srgbClr val="33D39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2995562" y="1840309"/>
            <a:ext cx="1668145" cy="52768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900" spc="-10" b="1">
                <a:solidFill>
                  <a:srgbClr val="098F60"/>
                </a:solidFill>
                <a:latin typeface="Verdana"/>
                <a:cs typeface="Verdana"/>
              </a:rPr>
              <a:t>99,892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AN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5">
                <a:solidFill>
                  <a:srgbClr val="8490A3"/>
                </a:solidFill>
                <a:latin typeface="Microsoft Sans Serif"/>
                <a:cs typeface="Microsoft Sans Serif"/>
              </a:rPr>
              <a:t>N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UAL</a:t>
            </a:r>
            <a:r>
              <a:rPr dirty="0" sz="850" spc="229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M</a:t>
            </a:r>
            <a:r>
              <a:rPr dirty="0" sz="850" spc="-1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I</a:t>
            </a:r>
            <a:r>
              <a:rPr dirty="0" sz="850" spc="-5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45">
                <a:solidFill>
                  <a:srgbClr val="8490A3"/>
                </a:solidFill>
                <a:latin typeface="Microsoft Sans Serif"/>
                <a:cs typeface="Microsoft Sans Serif"/>
              </a:rPr>
              <a:t>L</a:t>
            </a:r>
            <a:r>
              <a:rPr dirty="0" sz="850" spc="-11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20">
                <a:solidFill>
                  <a:srgbClr val="8490A3"/>
                </a:solidFill>
                <a:latin typeface="Microsoft Sans Serif"/>
                <a:cs typeface="Microsoft Sans Serif"/>
              </a:rPr>
              <a:t>E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r>
              <a:rPr dirty="0" sz="850" spc="22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90">
                <a:solidFill>
                  <a:srgbClr val="8490A3"/>
                </a:solidFill>
                <a:latin typeface="Microsoft Sans Serif"/>
                <a:cs typeface="Microsoft Sans Serif"/>
              </a:rPr>
              <a:t>S</a:t>
            </a:r>
            <a:r>
              <a:rPr dirty="0" sz="850" spc="-114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AVE</a:t>
            </a:r>
            <a:r>
              <a:rPr dirty="0" sz="850" spc="-95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D</a:t>
            </a:r>
            <a:r>
              <a:rPr dirty="0" sz="850" spc="22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(Q</a:t>
            </a:r>
            <a:r>
              <a:rPr dirty="0" sz="850" spc="-13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8490A3"/>
                </a:solidFill>
                <a:latin typeface="Microsoft Sans Serif"/>
                <a:cs typeface="Microsoft Sans Serif"/>
              </a:rPr>
              <a:t>3</a:t>
            </a:r>
            <a:r>
              <a:rPr dirty="0" sz="850" spc="-100">
                <a:solidFill>
                  <a:srgbClr val="8490A3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50">
                <a:solidFill>
                  <a:srgbClr val="8490A3"/>
                </a:solidFill>
                <a:latin typeface="Microsoft Sans Serif"/>
                <a:cs typeface="Microsoft Sans Serif"/>
              </a:rPr>
              <a:t>)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5299" y="2638414"/>
            <a:ext cx="4591050" cy="3896360"/>
            <a:chOff x="495299" y="2638414"/>
            <a:chExt cx="4591050" cy="3896360"/>
          </a:xfrm>
        </p:grpSpPr>
        <p:sp>
          <p:nvSpPr>
            <p:cNvPr id="36" name="object 36"/>
            <p:cNvSpPr/>
            <p:nvPr/>
          </p:nvSpPr>
          <p:spPr>
            <a:xfrm>
              <a:off x="495299" y="2638414"/>
              <a:ext cx="4591050" cy="3895725"/>
            </a:xfrm>
            <a:custGeom>
              <a:avLst/>
              <a:gdLst/>
              <a:ahLst/>
              <a:cxnLst/>
              <a:rect l="l" t="t" r="r" b="b"/>
              <a:pathLst>
                <a:path w="4591050" h="3895725">
                  <a:moveTo>
                    <a:pt x="4457699" y="3895724"/>
                  </a:moveTo>
                  <a:lnTo>
                    <a:pt x="133349" y="3895724"/>
                  </a:lnTo>
                  <a:lnTo>
                    <a:pt x="120213" y="3895089"/>
                  </a:lnTo>
                  <a:lnTo>
                    <a:pt x="82319" y="3885573"/>
                  </a:lnTo>
                  <a:lnTo>
                    <a:pt x="48794" y="3865507"/>
                  </a:lnTo>
                  <a:lnTo>
                    <a:pt x="22452" y="3836473"/>
                  </a:lnTo>
                  <a:lnTo>
                    <a:pt x="5709" y="3801025"/>
                  </a:lnTo>
                  <a:lnTo>
                    <a:pt x="0" y="37623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4457699" y="0"/>
                  </a:lnTo>
                  <a:lnTo>
                    <a:pt x="4496350" y="5709"/>
                  </a:lnTo>
                  <a:lnTo>
                    <a:pt x="4531798" y="22452"/>
                  </a:lnTo>
                  <a:lnTo>
                    <a:pt x="4560832" y="48794"/>
                  </a:lnTo>
                  <a:lnTo>
                    <a:pt x="4580898" y="82318"/>
                  </a:lnTo>
                  <a:lnTo>
                    <a:pt x="4590414" y="120213"/>
                  </a:lnTo>
                  <a:lnTo>
                    <a:pt x="4591049" y="133349"/>
                  </a:lnTo>
                  <a:lnTo>
                    <a:pt x="4591049" y="3762374"/>
                  </a:lnTo>
                  <a:lnTo>
                    <a:pt x="4585339" y="3801025"/>
                  </a:lnTo>
                  <a:lnTo>
                    <a:pt x="4568596" y="3836473"/>
                  </a:lnTo>
                  <a:lnTo>
                    <a:pt x="4542254" y="3865507"/>
                  </a:lnTo>
                  <a:lnTo>
                    <a:pt x="4508729" y="3885573"/>
                  </a:lnTo>
                  <a:lnTo>
                    <a:pt x="4470835" y="3895089"/>
                  </a:lnTo>
                  <a:lnTo>
                    <a:pt x="4457699" y="3895724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95299" y="2638424"/>
              <a:ext cx="4591050" cy="3895725"/>
            </a:xfrm>
            <a:custGeom>
              <a:avLst/>
              <a:gdLst/>
              <a:ahLst/>
              <a:cxnLst/>
              <a:rect l="l" t="t" r="r" b="b"/>
              <a:pathLst>
                <a:path w="4591050" h="3895725">
                  <a:moveTo>
                    <a:pt x="4457699" y="3895724"/>
                  </a:moveTo>
                  <a:lnTo>
                    <a:pt x="133349" y="3895724"/>
                  </a:lnTo>
                  <a:lnTo>
                    <a:pt x="120213" y="3895090"/>
                  </a:lnTo>
                  <a:lnTo>
                    <a:pt x="82319" y="3885573"/>
                  </a:lnTo>
                  <a:lnTo>
                    <a:pt x="48794" y="3865507"/>
                  </a:lnTo>
                  <a:lnTo>
                    <a:pt x="22452" y="3836473"/>
                  </a:lnTo>
                  <a:lnTo>
                    <a:pt x="5709" y="3801025"/>
                  </a:lnTo>
                  <a:lnTo>
                    <a:pt x="0" y="376237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4457699" y="0"/>
                  </a:lnTo>
                  <a:lnTo>
                    <a:pt x="4470835" y="634"/>
                  </a:lnTo>
                  <a:lnTo>
                    <a:pt x="4483719" y="2537"/>
                  </a:lnTo>
                  <a:lnTo>
                    <a:pt x="4496350" y="5709"/>
                  </a:lnTo>
                  <a:lnTo>
                    <a:pt x="4506986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3770505"/>
                  </a:lnTo>
                  <a:lnTo>
                    <a:pt x="22061" y="3817271"/>
                  </a:lnTo>
                  <a:lnTo>
                    <a:pt x="51541" y="3855681"/>
                  </a:lnTo>
                  <a:lnTo>
                    <a:pt x="93475" y="3879885"/>
                  </a:lnTo>
                  <a:lnTo>
                    <a:pt x="125219" y="3886199"/>
                  </a:lnTo>
                  <a:lnTo>
                    <a:pt x="4506983" y="3886199"/>
                  </a:lnTo>
                  <a:lnTo>
                    <a:pt x="4496350" y="3890014"/>
                  </a:lnTo>
                  <a:lnTo>
                    <a:pt x="4483719" y="3893186"/>
                  </a:lnTo>
                  <a:lnTo>
                    <a:pt x="4470835" y="3895090"/>
                  </a:lnTo>
                  <a:lnTo>
                    <a:pt x="4457699" y="3895724"/>
                  </a:lnTo>
                  <a:close/>
                </a:path>
                <a:path w="4591050" h="3895725">
                  <a:moveTo>
                    <a:pt x="4506983" y="3886199"/>
                  </a:moveTo>
                  <a:lnTo>
                    <a:pt x="4465829" y="3886199"/>
                  </a:lnTo>
                  <a:lnTo>
                    <a:pt x="4473882" y="3885406"/>
                  </a:lnTo>
                  <a:lnTo>
                    <a:pt x="4489830" y="3882233"/>
                  </a:lnTo>
                  <a:lnTo>
                    <a:pt x="4533252" y="3860814"/>
                  </a:lnTo>
                  <a:lnTo>
                    <a:pt x="4565173" y="3824407"/>
                  </a:lnTo>
                  <a:lnTo>
                    <a:pt x="4580731" y="3778557"/>
                  </a:lnTo>
                  <a:lnTo>
                    <a:pt x="4581524" y="3770505"/>
                  </a:lnTo>
                  <a:lnTo>
                    <a:pt x="4581524" y="125219"/>
                  </a:lnTo>
                  <a:lnTo>
                    <a:pt x="4568987" y="78452"/>
                  </a:lnTo>
                  <a:lnTo>
                    <a:pt x="4539507" y="40043"/>
                  </a:lnTo>
                  <a:lnTo>
                    <a:pt x="4497324" y="15763"/>
                  </a:lnTo>
                  <a:lnTo>
                    <a:pt x="4465829" y="9524"/>
                  </a:lnTo>
                  <a:lnTo>
                    <a:pt x="4506986" y="9524"/>
                  </a:lnTo>
                  <a:lnTo>
                    <a:pt x="4542254" y="30217"/>
                  </a:lnTo>
                  <a:lnTo>
                    <a:pt x="4568596" y="59250"/>
                  </a:lnTo>
                  <a:lnTo>
                    <a:pt x="4585339" y="94698"/>
                  </a:lnTo>
                  <a:lnTo>
                    <a:pt x="4591049" y="133349"/>
                  </a:lnTo>
                  <a:lnTo>
                    <a:pt x="4591049" y="3762374"/>
                  </a:lnTo>
                  <a:lnTo>
                    <a:pt x="4590415" y="3775510"/>
                  </a:lnTo>
                  <a:lnTo>
                    <a:pt x="4580898" y="3813405"/>
                  </a:lnTo>
                  <a:lnTo>
                    <a:pt x="4560832" y="3846929"/>
                  </a:lnTo>
                  <a:lnTo>
                    <a:pt x="4531798" y="3873271"/>
                  </a:lnTo>
                  <a:lnTo>
                    <a:pt x="4508730" y="3885573"/>
                  </a:lnTo>
                  <a:lnTo>
                    <a:pt x="4506983" y="3886199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82625" y="2817661"/>
            <a:ext cx="1972310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70" b="1">
                <a:solidFill>
                  <a:srgbClr val="798FAC"/>
                </a:solidFill>
                <a:latin typeface="Verdana"/>
                <a:cs typeface="Verdana"/>
              </a:rPr>
              <a:t>CU</a:t>
            </a:r>
            <a:r>
              <a:rPr dirty="0" sz="85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2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5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55" b="1">
                <a:solidFill>
                  <a:srgbClr val="798FAC"/>
                </a:solidFill>
                <a:latin typeface="Verdana"/>
                <a:cs typeface="Verdana"/>
              </a:rPr>
              <a:t>U</a:t>
            </a:r>
            <a:r>
              <a:rPr dirty="0" sz="85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75" b="1">
                <a:solidFill>
                  <a:srgbClr val="798FAC"/>
                </a:solidFill>
                <a:latin typeface="Verdana"/>
                <a:cs typeface="Verdana"/>
              </a:rPr>
              <a:t>L</a:t>
            </a:r>
            <a:r>
              <a:rPr dirty="0" sz="85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AT</a:t>
            </a:r>
            <a:r>
              <a:rPr dirty="0" sz="850" spc="-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254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50" spc="-8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10" b="1">
                <a:solidFill>
                  <a:srgbClr val="798FAC"/>
                </a:solidFill>
                <a:latin typeface="Verdana"/>
                <a:cs typeface="Verdana"/>
              </a:rPr>
              <a:t>V</a:t>
            </a:r>
            <a:r>
              <a:rPr dirty="0" sz="85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50" spc="18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25" b="1">
                <a:solidFill>
                  <a:srgbClr val="798FAC"/>
                </a:solidFill>
                <a:latin typeface="Verdana"/>
                <a:cs typeface="Verdana"/>
              </a:rPr>
              <a:t>WE</a:t>
            </a:r>
            <a:r>
              <a:rPr dirty="0" sz="850" spc="-13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5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KLY</a:t>
            </a:r>
            <a:r>
              <a:rPr dirty="0" sz="850" spc="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2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5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254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50" spc="-8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75" b="1">
                <a:solidFill>
                  <a:srgbClr val="798FAC"/>
                </a:solidFill>
                <a:latin typeface="Verdana"/>
                <a:cs typeface="Verdana"/>
              </a:rPr>
              <a:t>L</a:t>
            </a:r>
            <a:r>
              <a:rPr dirty="0" sz="85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50" spc="-14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276849" y="1019164"/>
            <a:ext cx="6419850" cy="5515610"/>
            <a:chOff x="5276849" y="1019164"/>
            <a:chExt cx="6419850" cy="5515610"/>
          </a:xfrm>
        </p:grpSpPr>
        <p:sp>
          <p:nvSpPr>
            <p:cNvPr id="40" name="object 40"/>
            <p:cNvSpPr/>
            <p:nvPr/>
          </p:nvSpPr>
          <p:spPr>
            <a:xfrm>
              <a:off x="5276849" y="1019164"/>
              <a:ext cx="6419850" cy="5514975"/>
            </a:xfrm>
            <a:custGeom>
              <a:avLst/>
              <a:gdLst/>
              <a:ahLst/>
              <a:cxnLst/>
              <a:rect l="l" t="t" r="r" b="b"/>
              <a:pathLst>
                <a:path w="6419850" h="5514975">
                  <a:moveTo>
                    <a:pt x="6286499" y="5514974"/>
                  </a:moveTo>
                  <a:lnTo>
                    <a:pt x="133349" y="5514974"/>
                  </a:lnTo>
                  <a:lnTo>
                    <a:pt x="120213" y="5514339"/>
                  </a:lnTo>
                  <a:lnTo>
                    <a:pt x="82318" y="5504822"/>
                  </a:lnTo>
                  <a:lnTo>
                    <a:pt x="48794" y="5484756"/>
                  </a:lnTo>
                  <a:lnTo>
                    <a:pt x="22452" y="5455723"/>
                  </a:lnTo>
                  <a:lnTo>
                    <a:pt x="5709" y="5420275"/>
                  </a:lnTo>
                  <a:lnTo>
                    <a:pt x="0" y="538162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6286499" y="0"/>
                  </a:lnTo>
                  <a:lnTo>
                    <a:pt x="6325150" y="5709"/>
                  </a:lnTo>
                  <a:lnTo>
                    <a:pt x="6360598" y="22452"/>
                  </a:lnTo>
                  <a:lnTo>
                    <a:pt x="6389631" y="48794"/>
                  </a:lnTo>
                  <a:lnTo>
                    <a:pt x="6409697" y="82319"/>
                  </a:lnTo>
                  <a:lnTo>
                    <a:pt x="6419214" y="120213"/>
                  </a:lnTo>
                  <a:lnTo>
                    <a:pt x="6419849" y="133349"/>
                  </a:lnTo>
                  <a:lnTo>
                    <a:pt x="6419849" y="5381624"/>
                  </a:lnTo>
                  <a:lnTo>
                    <a:pt x="6414138" y="5420275"/>
                  </a:lnTo>
                  <a:lnTo>
                    <a:pt x="6397395" y="5455723"/>
                  </a:lnTo>
                  <a:lnTo>
                    <a:pt x="6371054" y="5484756"/>
                  </a:lnTo>
                  <a:lnTo>
                    <a:pt x="6337528" y="5504822"/>
                  </a:lnTo>
                  <a:lnTo>
                    <a:pt x="6299635" y="5514339"/>
                  </a:lnTo>
                  <a:lnTo>
                    <a:pt x="6286499" y="5514974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276849" y="1019175"/>
              <a:ext cx="6419850" cy="5514975"/>
            </a:xfrm>
            <a:custGeom>
              <a:avLst/>
              <a:gdLst/>
              <a:ahLst/>
              <a:cxnLst/>
              <a:rect l="l" t="t" r="r" b="b"/>
              <a:pathLst>
                <a:path w="6419850" h="5514975">
                  <a:moveTo>
                    <a:pt x="6286499" y="5514974"/>
                  </a:moveTo>
                  <a:lnTo>
                    <a:pt x="133349" y="5514974"/>
                  </a:lnTo>
                  <a:lnTo>
                    <a:pt x="120213" y="5514340"/>
                  </a:lnTo>
                  <a:lnTo>
                    <a:pt x="82318" y="5504823"/>
                  </a:lnTo>
                  <a:lnTo>
                    <a:pt x="48794" y="5484757"/>
                  </a:lnTo>
                  <a:lnTo>
                    <a:pt x="22452" y="5455723"/>
                  </a:lnTo>
                  <a:lnTo>
                    <a:pt x="5709" y="5420275"/>
                  </a:lnTo>
                  <a:lnTo>
                    <a:pt x="0" y="5381624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6286499" y="0"/>
                  </a:lnTo>
                  <a:lnTo>
                    <a:pt x="6299635" y="634"/>
                  </a:lnTo>
                  <a:lnTo>
                    <a:pt x="6312519" y="2537"/>
                  </a:lnTo>
                  <a:lnTo>
                    <a:pt x="6325150" y="5709"/>
                  </a:lnTo>
                  <a:lnTo>
                    <a:pt x="6335785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5389755"/>
                  </a:lnTo>
                  <a:lnTo>
                    <a:pt x="22061" y="5436521"/>
                  </a:lnTo>
                  <a:lnTo>
                    <a:pt x="51541" y="5474931"/>
                  </a:lnTo>
                  <a:lnTo>
                    <a:pt x="93475" y="5499134"/>
                  </a:lnTo>
                  <a:lnTo>
                    <a:pt x="125219" y="5505449"/>
                  </a:lnTo>
                  <a:lnTo>
                    <a:pt x="6335783" y="5505449"/>
                  </a:lnTo>
                  <a:lnTo>
                    <a:pt x="6325150" y="5509264"/>
                  </a:lnTo>
                  <a:lnTo>
                    <a:pt x="6312519" y="5512436"/>
                  </a:lnTo>
                  <a:lnTo>
                    <a:pt x="6299635" y="5514340"/>
                  </a:lnTo>
                  <a:lnTo>
                    <a:pt x="6286499" y="5514974"/>
                  </a:lnTo>
                  <a:close/>
                </a:path>
                <a:path w="6419850" h="5514975">
                  <a:moveTo>
                    <a:pt x="6335783" y="5505449"/>
                  </a:moveTo>
                  <a:lnTo>
                    <a:pt x="6294629" y="5505449"/>
                  </a:lnTo>
                  <a:lnTo>
                    <a:pt x="6302681" y="5504656"/>
                  </a:lnTo>
                  <a:lnTo>
                    <a:pt x="6318630" y="5501484"/>
                  </a:lnTo>
                  <a:lnTo>
                    <a:pt x="6362052" y="5480064"/>
                  </a:lnTo>
                  <a:lnTo>
                    <a:pt x="6393972" y="5443657"/>
                  </a:lnTo>
                  <a:lnTo>
                    <a:pt x="6409530" y="5397807"/>
                  </a:lnTo>
                  <a:lnTo>
                    <a:pt x="6410324" y="5389755"/>
                  </a:lnTo>
                  <a:lnTo>
                    <a:pt x="6410324" y="125219"/>
                  </a:lnTo>
                  <a:lnTo>
                    <a:pt x="6397786" y="78452"/>
                  </a:lnTo>
                  <a:lnTo>
                    <a:pt x="6368307" y="40043"/>
                  </a:lnTo>
                  <a:lnTo>
                    <a:pt x="6326124" y="15763"/>
                  </a:lnTo>
                  <a:lnTo>
                    <a:pt x="6294629" y="9524"/>
                  </a:lnTo>
                  <a:lnTo>
                    <a:pt x="6335785" y="9524"/>
                  </a:lnTo>
                  <a:lnTo>
                    <a:pt x="6371054" y="30217"/>
                  </a:lnTo>
                  <a:lnTo>
                    <a:pt x="6397396" y="59250"/>
                  </a:lnTo>
                  <a:lnTo>
                    <a:pt x="6414139" y="94698"/>
                  </a:lnTo>
                  <a:lnTo>
                    <a:pt x="6419849" y="133349"/>
                  </a:lnTo>
                  <a:lnTo>
                    <a:pt x="6419849" y="5381624"/>
                  </a:lnTo>
                  <a:lnTo>
                    <a:pt x="6419214" y="5394760"/>
                  </a:lnTo>
                  <a:lnTo>
                    <a:pt x="6409697" y="5432655"/>
                  </a:lnTo>
                  <a:lnTo>
                    <a:pt x="6389632" y="5466179"/>
                  </a:lnTo>
                  <a:lnTo>
                    <a:pt x="6360598" y="5492521"/>
                  </a:lnTo>
                  <a:lnTo>
                    <a:pt x="6337529" y="5504823"/>
                  </a:lnTo>
                  <a:lnTo>
                    <a:pt x="6335783" y="5505449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5460900" y="1198411"/>
            <a:ext cx="2719705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-30" b="1">
                <a:solidFill>
                  <a:srgbClr val="798FAC"/>
                </a:solidFill>
                <a:latin typeface="Verdana"/>
                <a:cs typeface="Verdana"/>
              </a:rPr>
              <a:t>DAI</a:t>
            </a:r>
            <a:r>
              <a:rPr dirty="0" sz="850" spc="-8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LY</a:t>
            </a:r>
            <a:r>
              <a:rPr dirty="0" sz="850" spc="14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25" b="1">
                <a:solidFill>
                  <a:srgbClr val="798FAC"/>
                </a:solidFill>
                <a:latin typeface="Verdana"/>
                <a:cs typeface="Verdana"/>
              </a:rPr>
              <a:t>M</a:t>
            </a:r>
            <a:r>
              <a:rPr dirty="0" sz="85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254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50" spc="-8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75" b="1">
                <a:solidFill>
                  <a:srgbClr val="798FAC"/>
                </a:solidFill>
                <a:latin typeface="Verdana"/>
                <a:cs typeface="Verdana"/>
              </a:rPr>
              <a:t>L</a:t>
            </a:r>
            <a:r>
              <a:rPr dirty="0" sz="85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5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50" spc="16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55" b="1">
                <a:solidFill>
                  <a:srgbClr val="798FAC"/>
                </a:solidFill>
                <a:latin typeface="Verdana"/>
                <a:cs typeface="Verdana"/>
              </a:rPr>
              <a:t>T</a:t>
            </a:r>
            <a:r>
              <a:rPr dirty="0" sz="850" spc="-17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35" b="1">
                <a:solidFill>
                  <a:srgbClr val="798FAC"/>
                </a:solidFill>
                <a:latin typeface="Verdana"/>
                <a:cs typeface="Verdana"/>
              </a:rPr>
              <a:t>R</a:t>
            </a:r>
            <a:r>
              <a:rPr dirty="0" sz="850" spc="-18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110" b="1">
                <a:solidFill>
                  <a:srgbClr val="798FAC"/>
                </a:solidFill>
                <a:latin typeface="Verdana"/>
                <a:cs typeface="Verdana"/>
              </a:rPr>
              <a:t>E</a:t>
            </a:r>
            <a:r>
              <a:rPr dirty="0" sz="850" spc="-13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10" b="1">
                <a:solidFill>
                  <a:srgbClr val="798FAC"/>
                </a:solidFill>
                <a:latin typeface="Verdana"/>
                <a:cs typeface="Verdana"/>
              </a:rPr>
              <a:t>N</a:t>
            </a:r>
            <a:r>
              <a:rPr dirty="0" sz="85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D</a:t>
            </a:r>
            <a:r>
              <a:rPr dirty="0" sz="850" spc="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—</a:t>
            </a:r>
            <a:r>
              <a:rPr dirty="0" sz="850" spc="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AL</a:t>
            </a:r>
            <a:r>
              <a:rPr dirty="0" sz="850" spc="-15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L</a:t>
            </a:r>
            <a:r>
              <a:rPr dirty="0" sz="850" spc="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3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r>
              <a:rPr dirty="0" sz="850" spc="-16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CE</a:t>
            </a:r>
            <a:r>
              <a:rPr dirty="0" sz="850" spc="-135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10" b="1">
                <a:solidFill>
                  <a:srgbClr val="798FAC"/>
                </a:solidFill>
                <a:latin typeface="Verdana"/>
                <a:cs typeface="Verdana"/>
              </a:rPr>
              <a:t>N</a:t>
            </a:r>
            <a:r>
              <a:rPr dirty="0" sz="850" spc="-13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AR</a:t>
            </a:r>
            <a:r>
              <a:rPr dirty="0" sz="850" spc="-18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254" b="1">
                <a:solidFill>
                  <a:srgbClr val="798FAC"/>
                </a:solidFill>
                <a:latin typeface="Verdana"/>
                <a:cs typeface="Verdana"/>
              </a:rPr>
              <a:t>I</a:t>
            </a:r>
            <a:r>
              <a:rPr dirty="0" sz="850" spc="-8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b="1">
                <a:solidFill>
                  <a:srgbClr val="798FAC"/>
                </a:solidFill>
                <a:latin typeface="Verdana"/>
                <a:cs typeface="Verdana"/>
              </a:rPr>
              <a:t>O</a:t>
            </a:r>
            <a:r>
              <a:rPr dirty="0" sz="850" spc="-170" b="1">
                <a:solidFill>
                  <a:srgbClr val="798FAC"/>
                </a:solidFill>
                <a:latin typeface="Verdana"/>
                <a:cs typeface="Verdana"/>
              </a:rPr>
              <a:t> </a:t>
            </a:r>
            <a:r>
              <a:rPr dirty="0" sz="850" spc="-50" b="1">
                <a:solidFill>
                  <a:srgbClr val="798FAC"/>
                </a:solidFill>
                <a:latin typeface="Verdana"/>
                <a:cs typeface="Verdana"/>
              </a:rPr>
              <a:t>S</a:t>
            </a:r>
            <a:endParaRPr sz="850">
              <a:latin typeface="Verdana"/>
              <a:cs typeface="Verdana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5873898" y="5792799"/>
          <a:ext cx="5302885" cy="527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685"/>
                <a:gridCol w="1222375"/>
                <a:gridCol w="1215389"/>
                <a:gridCol w="1220470"/>
                <a:gridCol w="786129"/>
              </a:tblGrid>
              <a:tr h="123189">
                <a:tc>
                  <a:txBody>
                    <a:bodyPr/>
                    <a:lstStyle/>
                    <a:p>
                      <a:pPr marL="46990">
                        <a:lnSpc>
                          <a:spcPts val="735"/>
                        </a:lnSpc>
                      </a:pPr>
                      <a:r>
                        <a:rPr dirty="0" sz="750" spc="-25">
                          <a:solidFill>
                            <a:srgbClr val="798FAC"/>
                          </a:solidFill>
                          <a:latin typeface="Microsoft Sans Serif"/>
                          <a:cs typeface="Microsoft Sans Serif"/>
                        </a:rPr>
                        <a:t>MON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735"/>
                        </a:lnSpc>
                      </a:pPr>
                      <a:r>
                        <a:rPr dirty="0" sz="750" spc="-25">
                          <a:solidFill>
                            <a:srgbClr val="798FAC"/>
                          </a:solidFill>
                          <a:latin typeface="Microsoft Sans Serif"/>
                          <a:cs typeface="Microsoft Sans Serif"/>
                        </a:rPr>
                        <a:t>TUE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735"/>
                        </a:lnSpc>
                      </a:pPr>
                      <a:r>
                        <a:rPr dirty="0" sz="750" spc="-25">
                          <a:solidFill>
                            <a:srgbClr val="798FAC"/>
                          </a:solidFill>
                          <a:latin typeface="Microsoft Sans Serif"/>
                          <a:cs typeface="Microsoft Sans Serif"/>
                        </a:rPr>
                        <a:t>WED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ts val="735"/>
                        </a:lnSpc>
                      </a:pPr>
                      <a:r>
                        <a:rPr dirty="0" sz="750" spc="-25">
                          <a:solidFill>
                            <a:srgbClr val="798FAC"/>
                          </a:solidFill>
                          <a:latin typeface="Microsoft Sans Serif"/>
                          <a:cs typeface="Microsoft Sans Serif"/>
                        </a:rPr>
                        <a:t>THU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4139">
                        <a:lnSpc>
                          <a:spcPts val="735"/>
                        </a:lnSpc>
                      </a:pPr>
                      <a:r>
                        <a:rPr dirty="0" sz="750" spc="-25">
                          <a:solidFill>
                            <a:srgbClr val="798FAC"/>
                          </a:solidFill>
                          <a:latin typeface="Microsoft Sans Serif"/>
                          <a:cs typeface="Microsoft Sans Serif"/>
                        </a:rPr>
                        <a:t>FRI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</a:tr>
              <a:tr h="153670">
                <a:tc>
                  <a:txBody>
                    <a:bodyPr/>
                    <a:lstStyle/>
                    <a:p>
                      <a:pPr marL="43180">
                        <a:lnSpc>
                          <a:spcPts val="1000"/>
                        </a:lnSpc>
                        <a:spcBef>
                          <a:spcPts val="110"/>
                        </a:spcBef>
                      </a:pPr>
                      <a:r>
                        <a:rPr dirty="0" sz="850" spc="-10" b="1">
                          <a:solidFill>
                            <a:srgbClr val="0086A7"/>
                          </a:solidFill>
                          <a:latin typeface="Verdana"/>
                          <a:cs typeface="Verdana"/>
                        </a:rPr>
                        <a:t>1,361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110"/>
                        </a:spcBef>
                      </a:pPr>
                      <a:r>
                        <a:rPr dirty="0" sz="850" spc="-10" b="1">
                          <a:solidFill>
                            <a:srgbClr val="0086A7"/>
                          </a:solidFill>
                          <a:latin typeface="Verdana"/>
                          <a:cs typeface="Verdana"/>
                        </a:rPr>
                        <a:t>1,543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00"/>
                        </a:lnSpc>
                        <a:spcBef>
                          <a:spcPts val="110"/>
                        </a:spcBef>
                      </a:pPr>
                      <a:r>
                        <a:rPr dirty="0" sz="850" spc="-10" b="1">
                          <a:solidFill>
                            <a:srgbClr val="0086A7"/>
                          </a:solidFill>
                          <a:latin typeface="Verdana"/>
                          <a:cs typeface="Verdana"/>
                        </a:rPr>
                        <a:t>1,196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110"/>
                        </a:spcBef>
                      </a:pPr>
                      <a:r>
                        <a:rPr dirty="0" sz="850" spc="-10" b="1">
                          <a:solidFill>
                            <a:srgbClr val="0086A7"/>
                          </a:solidFill>
                          <a:latin typeface="Verdana"/>
                          <a:cs typeface="Verdana"/>
                        </a:rPr>
                        <a:t>1,411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000"/>
                        </a:lnSpc>
                        <a:spcBef>
                          <a:spcPts val="110"/>
                        </a:spcBef>
                      </a:pPr>
                      <a:r>
                        <a:rPr dirty="0" sz="850" spc="-10" b="1">
                          <a:solidFill>
                            <a:srgbClr val="0086A7"/>
                          </a:solidFill>
                          <a:latin typeface="Verdana"/>
                          <a:cs typeface="Verdana"/>
                        </a:rPr>
                        <a:t>1,203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</a:tr>
              <a:tr h="132715">
                <a:tc>
                  <a:txBody>
                    <a:bodyPr/>
                    <a:lstStyle/>
                    <a:p>
                      <a:pPr marL="31750">
                        <a:lnSpc>
                          <a:spcPts val="950"/>
                        </a:lnSpc>
                      </a:pPr>
                      <a:r>
                        <a:rPr dirty="0" sz="850" spc="-10" b="1">
                          <a:solidFill>
                            <a:srgbClr val="C87D09"/>
                          </a:solidFill>
                          <a:latin typeface="Verdana"/>
                          <a:cs typeface="Verdana"/>
                        </a:rPr>
                        <a:t>1,585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50"/>
                        </a:lnSpc>
                      </a:pPr>
                      <a:r>
                        <a:rPr dirty="0" sz="850" spc="-10" b="1">
                          <a:solidFill>
                            <a:srgbClr val="C87D09"/>
                          </a:solidFill>
                          <a:latin typeface="Verdana"/>
                          <a:cs typeface="Verdana"/>
                        </a:rPr>
                        <a:t>1,656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50"/>
                        </a:lnSpc>
                      </a:pPr>
                      <a:r>
                        <a:rPr dirty="0" sz="850" spc="-10" b="1">
                          <a:solidFill>
                            <a:srgbClr val="C87D09"/>
                          </a:solidFill>
                          <a:latin typeface="Verdana"/>
                          <a:cs typeface="Verdana"/>
                        </a:rPr>
                        <a:t>1,392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950"/>
                        </a:lnSpc>
                      </a:pPr>
                      <a:r>
                        <a:rPr dirty="0" sz="850" spc="-10" b="1">
                          <a:solidFill>
                            <a:srgbClr val="C87D09"/>
                          </a:solidFill>
                          <a:latin typeface="Verdana"/>
                          <a:cs typeface="Verdana"/>
                        </a:rPr>
                        <a:t>1,702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ts val="950"/>
                        </a:lnSpc>
                      </a:pPr>
                      <a:r>
                        <a:rPr dirty="0" sz="850" spc="-10" b="1">
                          <a:solidFill>
                            <a:srgbClr val="C87D09"/>
                          </a:solidFill>
                          <a:latin typeface="Verdana"/>
                          <a:cs typeface="Verdana"/>
                        </a:rPr>
                        <a:t>1,249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  <a:tr h="118110">
                <a:tc>
                  <a:txBody>
                    <a:bodyPr/>
                    <a:lstStyle/>
                    <a:p>
                      <a:pPr marL="31750">
                        <a:lnSpc>
                          <a:spcPts val="830"/>
                        </a:lnSpc>
                      </a:pPr>
                      <a:r>
                        <a:rPr dirty="0" sz="850" spc="-10" b="1">
                          <a:solidFill>
                            <a:srgbClr val="098F60"/>
                          </a:solidFill>
                          <a:latin typeface="Verdana"/>
                          <a:cs typeface="Verdana"/>
                        </a:rPr>
                        <a:t>1,674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0"/>
                        </a:lnSpc>
                      </a:pPr>
                      <a:r>
                        <a:rPr dirty="0" sz="850" spc="-10" b="1">
                          <a:solidFill>
                            <a:srgbClr val="098F60"/>
                          </a:solidFill>
                          <a:latin typeface="Verdana"/>
                          <a:cs typeface="Verdana"/>
                        </a:rPr>
                        <a:t>1,350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0"/>
                        </a:lnSpc>
                      </a:pPr>
                      <a:r>
                        <a:rPr dirty="0" sz="850" spc="-25" b="1">
                          <a:solidFill>
                            <a:srgbClr val="098F60"/>
                          </a:solidFill>
                          <a:latin typeface="Verdana"/>
                          <a:cs typeface="Verdana"/>
                        </a:rPr>
                        <a:t>475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830"/>
                        </a:lnSpc>
                      </a:pPr>
                      <a:r>
                        <a:rPr dirty="0" sz="850" spc="-25" b="1">
                          <a:solidFill>
                            <a:srgbClr val="098F60"/>
                          </a:solidFill>
                          <a:latin typeface="Verdana"/>
                          <a:cs typeface="Verdana"/>
                        </a:rPr>
                        <a:t>649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830"/>
                        </a:lnSpc>
                      </a:pPr>
                      <a:r>
                        <a:rPr dirty="0" sz="850" spc="-25" b="1">
                          <a:solidFill>
                            <a:srgbClr val="098F60"/>
                          </a:solidFill>
                          <a:latin typeface="Verdana"/>
                          <a:cs typeface="Verdana"/>
                        </a:rPr>
                        <a:t>645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44" name="object 44"/>
          <p:cNvGrpSpPr/>
          <p:nvPr/>
        </p:nvGrpSpPr>
        <p:grpSpPr>
          <a:xfrm>
            <a:off x="695325" y="1466850"/>
            <a:ext cx="10801350" cy="4867275"/>
            <a:chOff x="695325" y="1466850"/>
            <a:chExt cx="10801350" cy="4867275"/>
          </a:xfrm>
        </p:grpSpPr>
        <p:sp>
          <p:nvSpPr>
            <p:cNvPr id="45" name="object 45"/>
            <p:cNvSpPr/>
            <p:nvPr/>
          </p:nvSpPr>
          <p:spPr>
            <a:xfrm>
              <a:off x="5476874" y="5553071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60197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019799" y="0"/>
                  </a:lnTo>
                  <a:lnTo>
                    <a:pt x="6019799" y="952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325" y="3086100"/>
              <a:ext cx="4181474" cy="324802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6875" y="1466850"/>
              <a:ext cx="6019799" cy="3876674"/>
            </a:xfrm>
            <a:prstGeom prst="rect">
              <a:avLst/>
            </a:prstGeom>
          </p:spPr>
        </p:pic>
      </p:grp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10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12192000" cy="6858000"/>
            <a:chOff x="0" y="-3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2705" y="0"/>
              <a:ext cx="6289294" cy="610031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96899" y="475299"/>
            <a:ext cx="105410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K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 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Y</a:t>
            </a:r>
            <a:r>
              <a:rPr dirty="0" sz="800" spc="29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105" b="1">
                <a:solidFill>
                  <a:srgbClr val="C87D09"/>
                </a:solidFill>
                <a:latin typeface="Verdana"/>
                <a:cs typeface="Verdana"/>
              </a:rPr>
              <a:t>F</a:t>
            </a:r>
            <a:r>
              <a:rPr dirty="0" sz="800" spc="-5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N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5" b="1">
                <a:solidFill>
                  <a:srgbClr val="C87D09"/>
                </a:solidFill>
                <a:latin typeface="Verdana"/>
                <a:cs typeface="Verdana"/>
              </a:rPr>
              <a:t>D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N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G</a:t>
            </a:r>
            <a:r>
              <a:rPr dirty="0" sz="800" spc="-9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6899" y="497430"/>
            <a:ext cx="3581400" cy="855980"/>
          </a:xfrm>
          <a:prstGeom prst="rect"/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3150" spc="-325"/>
              <a:t>Insights</a:t>
            </a:r>
            <a:r>
              <a:rPr dirty="0" sz="3150" spc="-560"/>
              <a:t> </a:t>
            </a:r>
            <a:r>
              <a:rPr dirty="0" sz="3150" spc="-465"/>
              <a:t>&amp;</a:t>
            </a:r>
            <a:r>
              <a:rPr dirty="0" sz="3150" spc="-645"/>
              <a:t> </a:t>
            </a:r>
            <a:r>
              <a:rPr dirty="0" sz="3150" spc="-275"/>
              <a:t>Anal</a:t>
            </a:r>
            <a:r>
              <a:rPr dirty="0" sz="3050" spc="-275"/>
              <a:t>y</a:t>
            </a:r>
            <a:r>
              <a:rPr dirty="0" sz="3150" spc="-275"/>
              <a:t>sis</a:t>
            </a:r>
            <a:endParaRPr sz="3150"/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Four</a:t>
            </a:r>
            <a:r>
              <a:rPr dirty="0" sz="1000" spc="6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core</a:t>
            </a:r>
            <a:r>
              <a:rPr dirty="0" sz="1000" spc="5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findings</a:t>
            </a:r>
            <a:r>
              <a:rPr dirty="0" sz="1000" spc="8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from</a:t>
            </a:r>
            <a:r>
              <a:rPr dirty="0" sz="1000" spc="4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the</a:t>
            </a:r>
            <a:r>
              <a:rPr dirty="0" sz="1000" spc="5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three-scenario</a:t>
            </a:r>
            <a:r>
              <a:rPr dirty="0" sz="1000" spc="6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5" b="0">
                <a:solidFill>
                  <a:srgbClr val="6E7D93"/>
                </a:solidFill>
                <a:latin typeface="Microsoft Sans Serif"/>
                <a:cs typeface="Microsoft Sans Serif"/>
              </a:rPr>
              <a:t>VRP</a:t>
            </a:r>
            <a:r>
              <a:rPr dirty="0" sz="1000" spc="5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analysis.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9599" y="1552564"/>
            <a:ext cx="5400675" cy="2324735"/>
            <a:chOff x="609599" y="1552564"/>
            <a:chExt cx="5400675" cy="2324735"/>
          </a:xfrm>
        </p:grpSpPr>
        <p:sp>
          <p:nvSpPr>
            <p:cNvPr id="8" name="object 8"/>
            <p:cNvSpPr/>
            <p:nvPr/>
          </p:nvSpPr>
          <p:spPr>
            <a:xfrm>
              <a:off x="609599" y="1552564"/>
              <a:ext cx="5400675" cy="2324100"/>
            </a:xfrm>
            <a:custGeom>
              <a:avLst/>
              <a:gdLst/>
              <a:ahLst/>
              <a:cxnLst/>
              <a:rect l="l" t="t" r="r" b="b"/>
              <a:pathLst>
                <a:path w="5400675" h="2324100">
                  <a:moveTo>
                    <a:pt x="5267324" y="2324099"/>
                  </a:moveTo>
                  <a:lnTo>
                    <a:pt x="133349" y="2324099"/>
                  </a:lnTo>
                  <a:lnTo>
                    <a:pt x="120213" y="2323465"/>
                  </a:lnTo>
                  <a:lnTo>
                    <a:pt x="82319" y="2313949"/>
                  </a:lnTo>
                  <a:lnTo>
                    <a:pt x="48794" y="2293882"/>
                  </a:lnTo>
                  <a:lnTo>
                    <a:pt x="22452" y="2264848"/>
                  </a:lnTo>
                  <a:lnTo>
                    <a:pt x="5709" y="2229401"/>
                  </a:lnTo>
                  <a:lnTo>
                    <a:pt x="0" y="219074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67324" y="0"/>
                  </a:lnTo>
                  <a:lnTo>
                    <a:pt x="5305975" y="5709"/>
                  </a:lnTo>
                  <a:lnTo>
                    <a:pt x="5341423" y="22452"/>
                  </a:lnTo>
                  <a:lnTo>
                    <a:pt x="5370456" y="48794"/>
                  </a:lnTo>
                  <a:lnTo>
                    <a:pt x="5390522" y="82318"/>
                  </a:lnTo>
                  <a:lnTo>
                    <a:pt x="5400039" y="120213"/>
                  </a:lnTo>
                  <a:lnTo>
                    <a:pt x="5400674" y="133349"/>
                  </a:lnTo>
                  <a:lnTo>
                    <a:pt x="5400674" y="2190749"/>
                  </a:lnTo>
                  <a:lnTo>
                    <a:pt x="5394963" y="2229401"/>
                  </a:lnTo>
                  <a:lnTo>
                    <a:pt x="5378221" y="2264848"/>
                  </a:lnTo>
                  <a:lnTo>
                    <a:pt x="5351879" y="2293882"/>
                  </a:lnTo>
                  <a:lnTo>
                    <a:pt x="5318354" y="2313949"/>
                  </a:lnTo>
                  <a:lnTo>
                    <a:pt x="5280460" y="2323465"/>
                  </a:lnTo>
                  <a:lnTo>
                    <a:pt x="5267324" y="232409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599" y="1552574"/>
              <a:ext cx="5400675" cy="2324100"/>
            </a:xfrm>
            <a:custGeom>
              <a:avLst/>
              <a:gdLst/>
              <a:ahLst/>
              <a:cxnLst/>
              <a:rect l="l" t="t" r="r" b="b"/>
              <a:pathLst>
                <a:path w="5400675" h="2324100">
                  <a:moveTo>
                    <a:pt x="5267324" y="2324099"/>
                  </a:moveTo>
                  <a:lnTo>
                    <a:pt x="133349" y="2324099"/>
                  </a:lnTo>
                  <a:lnTo>
                    <a:pt x="120213" y="2323465"/>
                  </a:lnTo>
                  <a:lnTo>
                    <a:pt x="82319" y="2313949"/>
                  </a:lnTo>
                  <a:lnTo>
                    <a:pt x="48794" y="2293882"/>
                  </a:lnTo>
                  <a:lnTo>
                    <a:pt x="22452" y="2264848"/>
                  </a:lnTo>
                  <a:lnTo>
                    <a:pt x="5709" y="2229401"/>
                  </a:lnTo>
                  <a:lnTo>
                    <a:pt x="0" y="219074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67324" y="0"/>
                  </a:lnTo>
                  <a:lnTo>
                    <a:pt x="5280460" y="634"/>
                  </a:lnTo>
                  <a:lnTo>
                    <a:pt x="5293344" y="2537"/>
                  </a:lnTo>
                  <a:lnTo>
                    <a:pt x="5305975" y="5709"/>
                  </a:lnTo>
                  <a:lnTo>
                    <a:pt x="5316611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198880"/>
                  </a:lnTo>
                  <a:lnTo>
                    <a:pt x="22061" y="2245647"/>
                  </a:lnTo>
                  <a:lnTo>
                    <a:pt x="51541" y="2284056"/>
                  </a:lnTo>
                  <a:lnTo>
                    <a:pt x="93475" y="2308260"/>
                  </a:lnTo>
                  <a:lnTo>
                    <a:pt x="125219" y="2314574"/>
                  </a:lnTo>
                  <a:lnTo>
                    <a:pt x="5316610" y="2314574"/>
                  </a:lnTo>
                  <a:lnTo>
                    <a:pt x="5305975" y="2318389"/>
                  </a:lnTo>
                  <a:lnTo>
                    <a:pt x="5293344" y="2321561"/>
                  </a:lnTo>
                  <a:lnTo>
                    <a:pt x="5280460" y="2323465"/>
                  </a:lnTo>
                  <a:lnTo>
                    <a:pt x="5267324" y="2324099"/>
                  </a:lnTo>
                  <a:close/>
                </a:path>
                <a:path w="5400675" h="2324100">
                  <a:moveTo>
                    <a:pt x="5316610" y="2314574"/>
                  </a:moveTo>
                  <a:lnTo>
                    <a:pt x="5275455" y="2314574"/>
                  </a:lnTo>
                  <a:lnTo>
                    <a:pt x="5283507" y="2313781"/>
                  </a:lnTo>
                  <a:lnTo>
                    <a:pt x="5299455" y="2310609"/>
                  </a:lnTo>
                  <a:lnTo>
                    <a:pt x="5342877" y="2289189"/>
                  </a:lnTo>
                  <a:lnTo>
                    <a:pt x="5374797" y="2252782"/>
                  </a:lnTo>
                  <a:lnTo>
                    <a:pt x="5390356" y="2206932"/>
                  </a:lnTo>
                  <a:lnTo>
                    <a:pt x="5391149" y="2198880"/>
                  </a:lnTo>
                  <a:lnTo>
                    <a:pt x="5391149" y="125219"/>
                  </a:lnTo>
                  <a:lnTo>
                    <a:pt x="5378611" y="78452"/>
                  </a:lnTo>
                  <a:lnTo>
                    <a:pt x="5349132" y="40043"/>
                  </a:lnTo>
                  <a:lnTo>
                    <a:pt x="5306948" y="15763"/>
                  </a:lnTo>
                  <a:lnTo>
                    <a:pt x="5275455" y="9524"/>
                  </a:lnTo>
                  <a:lnTo>
                    <a:pt x="5316611" y="9524"/>
                  </a:lnTo>
                  <a:lnTo>
                    <a:pt x="5351879" y="30216"/>
                  </a:lnTo>
                  <a:lnTo>
                    <a:pt x="5378221" y="59250"/>
                  </a:lnTo>
                  <a:lnTo>
                    <a:pt x="5394964" y="94698"/>
                  </a:lnTo>
                  <a:lnTo>
                    <a:pt x="5400674" y="133349"/>
                  </a:lnTo>
                  <a:lnTo>
                    <a:pt x="5400674" y="2190749"/>
                  </a:lnTo>
                  <a:lnTo>
                    <a:pt x="5400040" y="2203886"/>
                  </a:lnTo>
                  <a:lnTo>
                    <a:pt x="5390523" y="2241780"/>
                  </a:lnTo>
                  <a:lnTo>
                    <a:pt x="5370457" y="2275305"/>
                  </a:lnTo>
                  <a:lnTo>
                    <a:pt x="5341423" y="2301647"/>
                  </a:lnTo>
                  <a:lnTo>
                    <a:pt x="5318355" y="2313949"/>
                  </a:lnTo>
                  <a:lnTo>
                    <a:pt x="5316610" y="231457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7724" y="179069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50404" y="457199"/>
                  </a:moveTo>
                  <a:lnTo>
                    <a:pt x="106794" y="457199"/>
                  </a:lnTo>
                  <a:lnTo>
                    <a:pt x="99361" y="456465"/>
                  </a:lnTo>
                  <a:lnTo>
                    <a:pt x="57038" y="442084"/>
                  </a:lnTo>
                  <a:lnTo>
                    <a:pt x="23432" y="412625"/>
                  </a:lnTo>
                  <a:lnTo>
                    <a:pt x="3660" y="372554"/>
                  </a:lnTo>
                  <a:lnTo>
                    <a:pt x="0" y="350406"/>
                  </a:lnTo>
                  <a:lnTo>
                    <a:pt x="0" y="342899"/>
                  </a:lnTo>
                  <a:lnTo>
                    <a:pt x="0" y="106793"/>
                  </a:lnTo>
                  <a:lnTo>
                    <a:pt x="11572" y="63624"/>
                  </a:lnTo>
                  <a:lnTo>
                    <a:pt x="38784" y="28156"/>
                  </a:lnTo>
                  <a:lnTo>
                    <a:pt x="77492" y="5814"/>
                  </a:lnTo>
                  <a:lnTo>
                    <a:pt x="106794" y="0"/>
                  </a:lnTo>
                  <a:lnTo>
                    <a:pt x="350404" y="0"/>
                  </a:lnTo>
                  <a:lnTo>
                    <a:pt x="393574" y="11562"/>
                  </a:lnTo>
                  <a:lnTo>
                    <a:pt x="429029" y="38769"/>
                  </a:lnTo>
                  <a:lnTo>
                    <a:pt x="451371" y="77483"/>
                  </a:lnTo>
                  <a:lnTo>
                    <a:pt x="457199" y="106793"/>
                  </a:lnTo>
                  <a:lnTo>
                    <a:pt x="457199" y="350406"/>
                  </a:lnTo>
                  <a:lnTo>
                    <a:pt x="445627" y="393557"/>
                  </a:lnTo>
                  <a:lnTo>
                    <a:pt x="418415" y="429015"/>
                  </a:lnTo>
                  <a:lnTo>
                    <a:pt x="379706" y="451358"/>
                  </a:lnTo>
                  <a:lnTo>
                    <a:pt x="357837" y="456465"/>
                  </a:lnTo>
                  <a:lnTo>
                    <a:pt x="350404" y="457199"/>
                  </a:lnTo>
                  <a:close/>
                </a:path>
              </a:pathLst>
            </a:custGeom>
            <a:solidFill>
              <a:srgbClr val="0086A7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39800" y="1873250"/>
            <a:ext cx="27305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50">
                <a:solidFill>
                  <a:srgbClr val="0086A7"/>
                </a:solidFill>
                <a:latin typeface="Arial MT"/>
                <a:cs typeface="Arial MT"/>
              </a:rPr>
              <a:t>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5024" y="2355835"/>
            <a:ext cx="4942840" cy="84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5" b="1">
                <a:solidFill>
                  <a:srgbClr val="1B3258"/>
                </a:solidFill>
                <a:latin typeface="Verdana"/>
                <a:cs typeface="Verdana"/>
              </a:rPr>
              <a:t>Sched</a:t>
            </a:r>
            <a:r>
              <a:rPr dirty="0" sz="1100" spc="-105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05" b="1">
                <a:solidFill>
                  <a:srgbClr val="1B3258"/>
                </a:solidFill>
                <a:latin typeface="Verdana"/>
                <a:cs typeface="Verdana"/>
              </a:rPr>
              <a:t>le</a:t>
            </a:r>
            <a:r>
              <a:rPr dirty="0" sz="11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5" b="1">
                <a:solidFill>
                  <a:srgbClr val="1B3258"/>
                </a:solidFill>
                <a:latin typeface="Verdana"/>
                <a:cs typeface="Verdana"/>
              </a:rPr>
              <a:t>Infle</a:t>
            </a:r>
            <a:r>
              <a:rPr dirty="0" sz="1100" spc="-105" b="1">
                <a:solidFill>
                  <a:srgbClr val="1B3258"/>
                </a:solidFill>
                <a:latin typeface="Verdana"/>
                <a:cs typeface="Verdana"/>
              </a:rPr>
              <a:t>x</a:t>
            </a:r>
            <a:r>
              <a:rPr dirty="0" sz="1150" spc="-105" b="1">
                <a:solidFill>
                  <a:srgbClr val="1B3258"/>
                </a:solidFill>
                <a:latin typeface="Verdana"/>
                <a:cs typeface="Verdana"/>
              </a:rPr>
              <a:t>ibilit</a:t>
            </a:r>
            <a:r>
              <a:rPr dirty="0" sz="1100" spc="-105" b="1">
                <a:solidFill>
                  <a:srgbClr val="1B3258"/>
                </a:solidFill>
                <a:latin typeface="Verdana"/>
                <a:cs typeface="Verdana"/>
              </a:rPr>
              <a:t>y</a:t>
            </a:r>
            <a:r>
              <a:rPr dirty="0" sz="110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75" b="1">
                <a:solidFill>
                  <a:srgbClr val="1B3258"/>
                </a:solidFill>
                <a:latin typeface="Verdana"/>
                <a:cs typeface="Verdana"/>
              </a:rPr>
              <a:t>is</a:t>
            </a:r>
            <a:r>
              <a:rPr dirty="0" sz="1150" spc="-15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the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5" b="1">
                <a:solidFill>
                  <a:srgbClr val="1B3258"/>
                </a:solidFill>
                <a:latin typeface="Verdana"/>
                <a:cs typeface="Verdana"/>
              </a:rPr>
              <a:t>Root</a:t>
            </a:r>
            <a:r>
              <a:rPr dirty="0" sz="1150" spc="-14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70" b="1">
                <a:solidFill>
                  <a:srgbClr val="1B3258"/>
                </a:solidFill>
                <a:latin typeface="Verdana"/>
                <a:cs typeface="Verdana"/>
              </a:rPr>
              <a:t>Cost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Dri</a:t>
            </a:r>
            <a:r>
              <a:rPr dirty="0" sz="1100" spc="-10" b="1">
                <a:solidFill>
                  <a:srgbClr val="1B3258"/>
                </a:solidFill>
                <a:latin typeface="Verdana"/>
                <a:cs typeface="Verdana"/>
              </a:rPr>
              <a:t>v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er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9000"/>
              </a:lnSpc>
              <a:spcBef>
                <a:spcPts val="580"/>
              </a:spcBef>
            </a:pP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fixed</a:t>
            </a:r>
            <a:r>
              <a:rPr dirty="0" sz="105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Mon–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Fri</a:t>
            </a:r>
            <a:r>
              <a:rPr dirty="0" sz="1050" spc="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schedule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forces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scattered</a:t>
            </a:r>
            <a:r>
              <a:rPr dirty="0" sz="105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geographic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coverage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each</a:t>
            </a:r>
            <a:r>
              <a:rPr dirty="0" sz="105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85">
                <a:solidFill>
                  <a:srgbClr val="768499"/>
                </a:solidFill>
                <a:latin typeface="Microsoft Sans Serif"/>
                <a:cs typeface="Microsoft Sans Serif"/>
              </a:rPr>
              <a:t>day,</a:t>
            </a:r>
            <a:r>
              <a:rPr dirty="0" sz="105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inflating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average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route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distances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to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239.8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mi/route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80">
                <a:solidFill>
                  <a:srgbClr val="768499"/>
                </a:solidFill>
                <a:latin typeface="Microsoft Sans Serif"/>
                <a:cs typeface="Microsoft Sans Serif"/>
              </a:rPr>
              <a:t>Q1.</a:t>
            </a:r>
            <a:r>
              <a:rPr dirty="0" sz="105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Geographic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clustering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Q3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reduced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this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768499"/>
                </a:solidFill>
                <a:latin typeface="Microsoft Sans Serif"/>
                <a:cs typeface="Microsoft Sans Serif"/>
              </a:rPr>
              <a:t>184.3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mi/route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0">
                <a:solidFill>
                  <a:srgbClr val="768499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95">
                <a:solidFill>
                  <a:srgbClr val="768499"/>
                </a:solidFill>
                <a:latin typeface="Microsoft Sans Serif"/>
                <a:cs typeface="Microsoft Sans Serif"/>
              </a:rPr>
              <a:t>23%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improvement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without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changing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total</a:t>
            </a:r>
            <a:r>
              <a:rPr dirty="0" sz="1050" spc="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deliveries.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81724" y="1552564"/>
            <a:ext cx="5400675" cy="2324735"/>
            <a:chOff x="6181724" y="1552564"/>
            <a:chExt cx="5400675" cy="2324735"/>
          </a:xfrm>
        </p:grpSpPr>
        <p:sp>
          <p:nvSpPr>
            <p:cNvPr id="14" name="object 14"/>
            <p:cNvSpPr/>
            <p:nvPr/>
          </p:nvSpPr>
          <p:spPr>
            <a:xfrm>
              <a:off x="6181724" y="1552564"/>
              <a:ext cx="5400675" cy="2324100"/>
            </a:xfrm>
            <a:custGeom>
              <a:avLst/>
              <a:gdLst/>
              <a:ahLst/>
              <a:cxnLst/>
              <a:rect l="l" t="t" r="r" b="b"/>
              <a:pathLst>
                <a:path w="5400675" h="2324100">
                  <a:moveTo>
                    <a:pt x="5267324" y="2324099"/>
                  </a:moveTo>
                  <a:lnTo>
                    <a:pt x="133349" y="2324099"/>
                  </a:lnTo>
                  <a:lnTo>
                    <a:pt x="120213" y="2323465"/>
                  </a:lnTo>
                  <a:lnTo>
                    <a:pt x="82318" y="2313949"/>
                  </a:lnTo>
                  <a:lnTo>
                    <a:pt x="48794" y="2293882"/>
                  </a:lnTo>
                  <a:lnTo>
                    <a:pt x="22452" y="2264848"/>
                  </a:lnTo>
                  <a:lnTo>
                    <a:pt x="5709" y="2229401"/>
                  </a:lnTo>
                  <a:lnTo>
                    <a:pt x="0" y="219074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67324" y="0"/>
                  </a:lnTo>
                  <a:lnTo>
                    <a:pt x="5305974" y="5709"/>
                  </a:lnTo>
                  <a:lnTo>
                    <a:pt x="5341422" y="22452"/>
                  </a:lnTo>
                  <a:lnTo>
                    <a:pt x="5370456" y="48794"/>
                  </a:lnTo>
                  <a:lnTo>
                    <a:pt x="5390522" y="82318"/>
                  </a:lnTo>
                  <a:lnTo>
                    <a:pt x="5400039" y="120213"/>
                  </a:lnTo>
                  <a:lnTo>
                    <a:pt x="5400674" y="133349"/>
                  </a:lnTo>
                  <a:lnTo>
                    <a:pt x="5400674" y="2190749"/>
                  </a:lnTo>
                  <a:lnTo>
                    <a:pt x="5394963" y="2229401"/>
                  </a:lnTo>
                  <a:lnTo>
                    <a:pt x="5378220" y="2264848"/>
                  </a:lnTo>
                  <a:lnTo>
                    <a:pt x="5351879" y="2293882"/>
                  </a:lnTo>
                  <a:lnTo>
                    <a:pt x="5318353" y="2313949"/>
                  </a:lnTo>
                  <a:lnTo>
                    <a:pt x="5280460" y="2323465"/>
                  </a:lnTo>
                  <a:lnTo>
                    <a:pt x="5267324" y="232409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81724" y="1552574"/>
              <a:ext cx="5400675" cy="2324100"/>
            </a:xfrm>
            <a:custGeom>
              <a:avLst/>
              <a:gdLst/>
              <a:ahLst/>
              <a:cxnLst/>
              <a:rect l="l" t="t" r="r" b="b"/>
              <a:pathLst>
                <a:path w="5400675" h="2324100">
                  <a:moveTo>
                    <a:pt x="5267324" y="2324099"/>
                  </a:moveTo>
                  <a:lnTo>
                    <a:pt x="133349" y="2324099"/>
                  </a:lnTo>
                  <a:lnTo>
                    <a:pt x="120213" y="2323465"/>
                  </a:lnTo>
                  <a:lnTo>
                    <a:pt x="82318" y="2313949"/>
                  </a:lnTo>
                  <a:lnTo>
                    <a:pt x="48794" y="2293882"/>
                  </a:lnTo>
                  <a:lnTo>
                    <a:pt x="22452" y="2264848"/>
                  </a:lnTo>
                  <a:lnTo>
                    <a:pt x="5709" y="2229401"/>
                  </a:lnTo>
                  <a:lnTo>
                    <a:pt x="0" y="219074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67324" y="0"/>
                  </a:lnTo>
                  <a:lnTo>
                    <a:pt x="5280460" y="634"/>
                  </a:lnTo>
                  <a:lnTo>
                    <a:pt x="5293343" y="2537"/>
                  </a:lnTo>
                  <a:lnTo>
                    <a:pt x="5305974" y="5709"/>
                  </a:lnTo>
                  <a:lnTo>
                    <a:pt x="5316610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198880"/>
                  </a:lnTo>
                  <a:lnTo>
                    <a:pt x="22061" y="2245647"/>
                  </a:lnTo>
                  <a:lnTo>
                    <a:pt x="51541" y="2284056"/>
                  </a:lnTo>
                  <a:lnTo>
                    <a:pt x="93475" y="2308260"/>
                  </a:lnTo>
                  <a:lnTo>
                    <a:pt x="125219" y="2314574"/>
                  </a:lnTo>
                  <a:lnTo>
                    <a:pt x="5316609" y="2314574"/>
                  </a:lnTo>
                  <a:lnTo>
                    <a:pt x="5305974" y="2318389"/>
                  </a:lnTo>
                  <a:lnTo>
                    <a:pt x="5293343" y="2321561"/>
                  </a:lnTo>
                  <a:lnTo>
                    <a:pt x="5280460" y="2323465"/>
                  </a:lnTo>
                  <a:lnTo>
                    <a:pt x="5267324" y="2324099"/>
                  </a:lnTo>
                  <a:close/>
                </a:path>
                <a:path w="5400675" h="2324100">
                  <a:moveTo>
                    <a:pt x="5316609" y="2314574"/>
                  </a:moveTo>
                  <a:lnTo>
                    <a:pt x="5275454" y="2314574"/>
                  </a:lnTo>
                  <a:lnTo>
                    <a:pt x="5283507" y="2313781"/>
                  </a:lnTo>
                  <a:lnTo>
                    <a:pt x="5299455" y="2310609"/>
                  </a:lnTo>
                  <a:lnTo>
                    <a:pt x="5342877" y="2289189"/>
                  </a:lnTo>
                  <a:lnTo>
                    <a:pt x="5374797" y="2252782"/>
                  </a:lnTo>
                  <a:lnTo>
                    <a:pt x="5390356" y="2206932"/>
                  </a:lnTo>
                  <a:lnTo>
                    <a:pt x="5391149" y="2198880"/>
                  </a:lnTo>
                  <a:lnTo>
                    <a:pt x="5391149" y="125219"/>
                  </a:lnTo>
                  <a:lnTo>
                    <a:pt x="5378611" y="78452"/>
                  </a:lnTo>
                  <a:lnTo>
                    <a:pt x="5349132" y="40043"/>
                  </a:lnTo>
                  <a:lnTo>
                    <a:pt x="5306948" y="15763"/>
                  </a:lnTo>
                  <a:lnTo>
                    <a:pt x="5275454" y="9524"/>
                  </a:lnTo>
                  <a:lnTo>
                    <a:pt x="5316610" y="9524"/>
                  </a:lnTo>
                  <a:lnTo>
                    <a:pt x="5351879" y="30216"/>
                  </a:lnTo>
                  <a:lnTo>
                    <a:pt x="5378220" y="59250"/>
                  </a:lnTo>
                  <a:lnTo>
                    <a:pt x="5394963" y="94698"/>
                  </a:lnTo>
                  <a:lnTo>
                    <a:pt x="5400674" y="133349"/>
                  </a:lnTo>
                  <a:lnTo>
                    <a:pt x="5400674" y="2190749"/>
                  </a:lnTo>
                  <a:lnTo>
                    <a:pt x="5400040" y="2203886"/>
                  </a:lnTo>
                  <a:lnTo>
                    <a:pt x="5390522" y="2241780"/>
                  </a:lnTo>
                  <a:lnTo>
                    <a:pt x="5370456" y="2275305"/>
                  </a:lnTo>
                  <a:lnTo>
                    <a:pt x="5341423" y="2301647"/>
                  </a:lnTo>
                  <a:lnTo>
                    <a:pt x="5318354" y="2313949"/>
                  </a:lnTo>
                  <a:lnTo>
                    <a:pt x="5316609" y="231457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19849" y="179069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50404" y="457199"/>
                  </a:moveTo>
                  <a:lnTo>
                    <a:pt x="106794" y="457199"/>
                  </a:lnTo>
                  <a:lnTo>
                    <a:pt x="99361" y="456465"/>
                  </a:lnTo>
                  <a:lnTo>
                    <a:pt x="57037" y="442084"/>
                  </a:lnTo>
                  <a:lnTo>
                    <a:pt x="23432" y="412625"/>
                  </a:lnTo>
                  <a:lnTo>
                    <a:pt x="3660" y="372554"/>
                  </a:lnTo>
                  <a:lnTo>
                    <a:pt x="0" y="350406"/>
                  </a:lnTo>
                  <a:lnTo>
                    <a:pt x="0" y="342899"/>
                  </a:lnTo>
                  <a:lnTo>
                    <a:pt x="0" y="106793"/>
                  </a:lnTo>
                  <a:lnTo>
                    <a:pt x="11571" y="63624"/>
                  </a:lnTo>
                  <a:lnTo>
                    <a:pt x="38784" y="28156"/>
                  </a:lnTo>
                  <a:lnTo>
                    <a:pt x="77492" y="5814"/>
                  </a:lnTo>
                  <a:lnTo>
                    <a:pt x="106794" y="0"/>
                  </a:lnTo>
                  <a:lnTo>
                    <a:pt x="350404" y="0"/>
                  </a:lnTo>
                  <a:lnTo>
                    <a:pt x="393573" y="11562"/>
                  </a:lnTo>
                  <a:lnTo>
                    <a:pt x="429028" y="38769"/>
                  </a:lnTo>
                  <a:lnTo>
                    <a:pt x="451370" y="77483"/>
                  </a:lnTo>
                  <a:lnTo>
                    <a:pt x="457199" y="106793"/>
                  </a:lnTo>
                  <a:lnTo>
                    <a:pt x="457199" y="350406"/>
                  </a:lnTo>
                  <a:lnTo>
                    <a:pt x="445626" y="393557"/>
                  </a:lnTo>
                  <a:lnTo>
                    <a:pt x="418414" y="429015"/>
                  </a:lnTo>
                  <a:lnTo>
                    <a:pt x="379706" y="451358"/>
                  </a:lnTo>
                  <a:lnTo>
                    <a:pt x="357837" y="456465"/>
                  </a:lnTo>
                  <a:lnTo>
                    <a:pt x="350404" y="457199"/>
                  </a:lnTo>
                  <a:close/>
                </a:path>
              </a:pathLst>
            </a:custGeom>
            <a:solidFill>
              <a:srgbClr val="EF4444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511925" y="1873250"/>
            <a:ext cx="27305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50">
                <a:solidFill>
                  <a:srgbClr val="F77070"/>
                </a:solidFill>
                <a:latin typeface="Arial MT"/>
                <a:cs typeface="Arial MT"/>
              </a:rPr>
              <a:t>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07150" y="2355835"/>
            <a:ext cx="4871085" cy="84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Straight</a:t>
            </a:r>
            <a:r>
              <a:rPr dirty="0" sz="1150" spc="-14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Tr</a:t>
            </a:r>
            <a:r>
              <a:rPr dirty="0" sz="1100" spc="-120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cks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Are</a:t>
            </a:r>
            <a:r>
              <a:rPr dirty="0" sz="1150" spc="-170" b="1">
                <a:solidFill>
                  <a:srgbClr val="1B3258"/>
                </a:solidFill>
                <a:latin typeface="Verdana"/>
                <a:cs typeface="Verdana"/>
              </a:rPr>
              <a:t> a</a:t>
            </a: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70" b="1">
                <a:solidFill>
                  <a:srgbClr val="1B3258"/>
                </a:solidFill>
                <a:latin typeface="Verdana"/>
                <a:cs typeface="Verdana"/>
              </a:rPr>
              <a:t>Cost</a:t>
            </a:r>
            <a:r>
              <a:rPr dirty="0" sz="1150" spc="-14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M</a:t>
            </a:r>
            <a:r>
              <a:rPr dirty="0" sz="1100" spc="-10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ltiplier</a:t>
            </a:r>
            <a:endParaRPr sz="1150">
              <a:latin typeface="Verdana"/>
              <a:cs typeface="Verdana"/>
            </a:endParaRPr>
          </a:p>
          <a:p>
            <a:pPr algn="just" marL="12700" marR="5080">
              <a:lnSpc>
                <a:spcPct val="119000"/>
              </a:lnSpc>
              <a:spcBef>
                <a:spcPts val="580"/>
              </a:spcBef>
            </a:pP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Introducing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60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0">
                <a:solidFill>
                  <a:srgbClr val="768499"/>
                </a:solidFill>
                <a:latin typeface="Microsoft Sans Serif"/>
                <a:cs typeface="Microsoft Sans Serif"/>
              </a:rPr>
              <a:t>ST-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mandatory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orders</a:t>
            </a:r>
            <a:r>
              <a:rPr dirty="0" sz="1050" spc="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raised</a:t>
            </a:r>
            <a:r>
              <a:rPr dirty="0" sz="1050" spc="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weekly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miles</a:t>
            </a:r>
            <a:r>
              <a:rPr dirty="0" sz="1050" spc="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25">
                <a:solidFill>
                  <a:srgbClr val="768499"/>
                </a:solidFill>
                <a:latin typeface="Microsoft Sans Serif"/>
                <a:cs typeface="Microsoft Sans Serif"/>
              </a:rPr>
              <a:t>6,714</a:t>
            </a:r>
            <a:r>
              <a:rPr dirty="0" sz="1050" spc="5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5">
                <a:solidFill>
                  <a:srgbClr val="768499"/>
                </a:solidFill>
                <a:latin typeface="Microsoft Sans Serif"/>
                <a:cs typeface="Microsoft Sans Serif"/>
              </a:rPr>
              <a:t>7,584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30">
                <a:solidFill>
                  <a:srgbClr val="768499"/>
                </a:solidFill>
                <a:latin typeface="Microsoft Sans Serif"/>
                <a:cs typeface="Microsoft Sans Serif"/>
              </a:rPr>
              <a:t>(+13%).</a:t>
            </a:r>
            <a:r>
              <a:rPr dirty="0" sz="1050" spc="6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The </a:t>
            </a: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1,400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ft³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cap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less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than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half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85">
                <a:solidFill>
                  <a:srgbClr val="768499"/>
                </a:solidFill>
                <a:latin typeface="Microsoft Sans Serif"/>
                <a:cs typeface="Microsoft Sans Serif"/>
              </a:rPr>
              <a:t>van</a:t>
            </a:r>
            <a:r>
              <a:rPr dirty="0" sz="105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capacity,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forcing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route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fragmentation.</a:t>
            </a:r>
            <a:r>
              <a:rPr dirty="0" sz="1050" spc="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Thursday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saw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sharpest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impact: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35">
                <a:solidFill>
                  <a:srgbClr val="768499"/>
                </a:solidFill>
                <a:latin typeface="Microsoft Sans Serif"/>
                <a:cs typeface="Microsoft Sans Serif"/>
              </a:rPr>
              <a:t>+291</a:t>
            </a:r>
            <a:r>
              <a:rPr dirty="0" sz="1050" spc="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mi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50">
                <a:solidFill>
                  <a:srgbClr val="768499"/>
                </a:solidFill>
                <a:latin typeface="Microsoft Sans Serif"/>
                <a:cs typeface="Microsoft Sans Serif"/>
              </a:rPr>
              <a:t>STs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alone.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9599" y="4048114"/>
            <a:ext cx="5400675" cy="2315210"/>
            <a:chOff x="609599" y="4048114"/>
            <a:chExt cx="5400675" cy="2315210"/>
          </a:xfrm>
        </p:grpSpPr>
        <p:sp>
          <p:nvSpPr>
            <p:cNvPr id="20" name="object 20"/>
            <p:cNvSpPr/>
            <p:nvPr/>
          </p:nvSpPr>
          <p:spPr>
            <a:xfrm>
              <a:off x="609599" y="4048114"/>
              <a:ext cx="5400675" cy="2314575"/>
            </a:xfrm>
            <a:custGeom>
              <a:avLst/>
              <a:gdLst/>
              <a:ahLst/>
              <a:cxnLst/>
              <a:rect l="l" t="t" r="r" b="b"/>
              <a:pathLst>
                <a:path w="5400675" h="2314575">
                  <a:moveTo>
                    <a:pt x="5267324" y="2314574"/>
                  </a:moveTo>
                  <a:lnTo>
                    <a:pt x="133349" y="2314574"/>
                  </a:lnTo>
                  <a:lnTo>
                    <a:pt x="120213" y="2313940"/>
                  </a:lnTo>
                  <a:lnTo>
                    <a:pt x="82319" y="2304423"/>
                  </a:lnTo>
                  <a:lnTo>
                    <a:pt x="48794" y="2284357"/>
                  </a:lnTo>
                  <a:lnTo>
                    <a:pt x="22452" y="2255323"/>
                  </a:lnTo>
                  <a:lnTo>
                    <a:pt x="5709" y="2219876"/>
                  </a:lnTo>
                  <a:lnTo>
                    <a:pt x="0" y="21812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67324" y="0"/>
                  </a:lnTo>
                  <a:lnTo>
                    <a:pt x="5305975" y="5709"/>
                  </a:lnTo>
                  <a:lnTo>
                    <a:pt x="5341423" y="22452"/>
                  </a:lnTo>
                  <a:lnTo>
                    <a:pt x="5370456" y="48794"/>
                  </a:lnTo>
                  <a:lnTo>
                    <a:pt x="5390522" y="82318"/>
                  </a:lnTo>
                  <a:lnTo>
                    <a:pt x="5400039" y="120213"/>
                  </a:lnTo>
                  <a:lnTo>
                    <a:pt x="5400674" y="133349"/>
                  </a:lnTo>
                  <a:lnTo>
                    <a:pt x="5400674" y="2181224"/>
                  </a:lnTo>
                  <a:lnTo>
                    <a:pt x="5394963" y="2219876"/>
                  </a:lnTo>
                  <a:lnTo>
                    <a:pt x="5378221" y="2255323"/>
                  </a:lnTo>
                  <a:lnTo>
                    <a:pt x="5351879" y="2284357"/>
                  </a:lnTo>
                  <a:lnTo>
                    <a:pt x="5318354" y="2304423"/>
                  </a:lnTo>
                  <a:lnTo>
                    <a:pt x="5280460" y="2313940"/>
                  </a:lnTo>
                  <a:lnTo>
                    <a:pt x="5267324" y="2314574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9599" y="4048125"/>
              <a:ext cx="5400675" cy="2314575"/>
            </a:xfrm>
            <a:custGeom>
              <a:avLst/>
              <a:gdLst/>
              <a:ahLst/>
              <a:cxnLst/>
              <a:rect l="l" t="t" r="r" b="b"/>
              <a:pathLst>
                <a:path w="5400675" h="2314575">
                  <a:moveTo>
                    <a:pt x="5267324" y="2314574"/>
                  </a:moveTo>
                  <a:lnTo>
                    <a:pt x="133349" y="2314574"/>
                  </a:lnTo>
                  <a:lnTo>
                    <a:pt x="120213" y="2313940"/>
                  </a:lnTo>
                  <a:lnTo>
                    <a:pt x="82319" y="2304423"/>
                  </a:lnTo>
                  <a:lnTo>
                    <a:pt x="48794" y="2284357"/>
                  </a:lnTo>
                  <a:lnTo>
                    <a:pt x="22452" y="2255323"/>
                  </a:lnTo>
                  <a:lnTo>
                    <a:pt x="5709" y="2219876"/>
                  </a:lnTo>
                  <a:lnTo>
                    <a:pt x="0" y="21812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67324" y="0"/>
                  </a:lnTo>
                  <a:lnTo>
                    <a:pt x="5280460" y="634"/>
                  </a:lnTo>
                  <a:lnTo>
                    <a:pt x="5293344" y="2537"/>
                  </a:lnTo>
                  <a:lnTo>
                    <a:pt x="5305975" y="5709"/>
                  </a:lnTo>
                  <a:lnTo>
                    <a:pt x="5316611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189355"/>
                  </a:lnTo>
                  <a:lnTo>
                    <a:pt x="22061" y="2236121"/>
                  </a:lnTo>
                  <a:lnTo>
                    <a:pt x="51541" y="2274531"/>
                  </a:lnTo>
                  <a:lnTo>
                    <a:pt x="93475" y="2298735"/>
                  </a:lnTo>
                  <a:lnTo>
                    <a:pt x="125219" y="2305049"/>
                  </a:lnTo>
                  <a:lnTo>
                    <a:pt x="5316608" y="2305049"/>
                  </a:lnTo>
                  <a:lnTo>
                    <a:pt x="5305975" y="2308864"/>
                  </a:lnTo>
                  <a:lnTo>
                    <a:pt x="5293344" y="2312036"/>
                  </a:lnTo>
                  <a:lnTo>
                    <a:pt x="5280460" y="2313940"/>
                  </a:lnTo>
                  <a:lnTo>
                    <a:pt x="5267324" y="2314574"/>
                  </a:lnTo>
                  <a:close/>
                </a:path>
                <a:path w="5400675" h="2314575">
                  <a:moveTo>
                    <a:pt x="5316608" y="2305049"/>
                  </a:moveTo>
                  <a:lnTo>
                    <a:pt x="5275455" y="2305049"/>
                  </a:lnTo>
                  <a:lnTo>
                    <a:pt x="5283507" y="2304256"/>
                  </a:lnTo>
                  <a:lnTo>
                    <a:pt x="5299455" y="2301083"/>
                  </a:lnTo>
                  <a:lnTo>
                    <a:pt x="5342877" y="2279664"/>
                  </a:lnTo>
                  <a:lnTo>
                    <a:pt x="5374797" y="2243257"/>
                  </a:lnTo>
                  <a:lnTo>
                    <a:pt x="5390356" y="2197407"/>
                  </a:lnTo>
                  <a:lnTo>
                    <a:pt x="5391149" y="2189355"/>
                  </a:lnTo>
                  <a:lnTo>
                    <a:pt x="5391149" y="125219"/>
                  </a:lnTo>
                  <a:lnTo>
                    <a:pt x="5378611" y="78452"/>
                  </a:lnTo>
                  <a:lnTo>
                    <a:pt x="5349132" y="40043"/>
                  </a:lnTo>
                  <a:lnTo>
                    <a:pt x="5306948" y="15763"/>
                  </a:lnTo>
                  <a:lnTo>
                    <a:pt x="5275455" y="9524"/>
                  </a:lnTo>
                  <a:lnTo>
                    <a:pt x="5316611" y="9524"/>
                  </a:lnTo>
                  <a:lnTo>
                    <a:pt x="5351879" y="30216"/>
                  </a:lnTo>
                  <a:lnTo>
                    <a:pt x="5378221" y="59250"/>
                  </a:lnTo>
                  <a:lnTo>
                    <a:pt x="5394964" y="94697"/>
                  </a:lnTo>
                  <a:lnTo>
                    <a:pt x="5400674" y="133349"/>
                  </a:lnTo>
                  <a:lnTo>
                    <a:pt x="5400674" y="2181224"/>
                  </a:lnTo>
                  <a:lnTo>
                    <a:pt x="5400040" y="2194361"/>
                  </a:lnTo>
                  <a:lnTo>
                    <a:pt x="5390523" y="2232255"/>
                  </a:lnTo>
                  <a:lnTo>
                    <a:pt x="5370457" y="2265779"/>
                  </a:lnTo>
                  <a:lnTo>
                    <a:pt x="5341423" y="2292121"/>
                  </a:lnTo>
                  <a:lnTo>
                    <a:pt x="5318355" y="2304423"/>
                  </a:lnTo>
                  <a:lnTo>
                    <a:pt x="5316608" y="2305049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47724" y="428624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50404" y="457199"/>
                  </a:moveTo>
                  <a:lnTo>
                    <a:pt x="106794" y="457199"/>
                  </a:lnTo>
                  <a:lnTo>
                    <a:pt x="99361" y="456465"/>
                  </a:lnTo>
                  <a:lnTo>
                    <a:pt x="57038" y="442094"/>
                  </a:lnTo>
                  <a:lnTo>
                    <a:pt x="23432" y="412625"/>
                  </a:lnTo>
                  <a:lnTo>
                    <a:pt x="3660" y="372544"/>
                  </a:lnTo>
                  <a:lnTo>
                    <a:pt x="0" y="350406"/>
                  </a:lnTo>
                  <a:lnTo>
                    <a:pt x="0" y="342899"/>
                  </a:lnTo>
                  <a:lnTo>
                    <a:pt x="0" y="106793"/>
                  </a:lnTo>
                  <a:lnTo>
                    <a:pt x="11572" y="63614"/>
                  </a:lnTo>
                  <a:lnTo>
                    <a:pt x="38784" y="28156"/>
                  </a:lnTo>
                  <a:lnTo>
                    <a:pt x="77492" y="5832"/>
                  </a:lnTo>
                  <a:lnTo>
                    <a:pt x="106794" y="0"/>
                  </a:lnTo>
                  <a:lnTo>
                    <a:pt x="350404" y="0"/>
                  </a:lnTo>
                  <a:lnTo>
                    <a:pt x="393574" y="11562"/>
                  </a:lnTo>
                  <a:lnTo>
                    <a:pt x="429029" y="38779"/>
                  </a:lnTo>
                  <a:lnTo>
                    <a:pt x="451371" y="77483"/>
                  </a:lnTo>
                  <a:lnTo>
                    <a:pt x="457199" y="106793"/>
                  </a:lnTo>
                  <a:lnTo>
                    <a:pt x="457199" y="350406"/>
                  </a:lnTo>
                  <a:lnTo>
                    <a:pt x="445627" y="393557"/>
                  </a:lnTo>
                  <a:lnTo>
                    <a:pt x="418415" y="429025"/>
                  </a:lnTo>
                  <a:lnTo>
                    <a:pt x="379706" y="451358"/>
                  </a:lnTo>
                  <a:lnTo>
                    <a:pt x="357837" y="456465"/>
                  </a:lnTo>
                  <a:lnTo>
                    <a:pt x="350404" y="457199"/>
                  </a:lnTo>
                  <a:close/>
                </a:path>
              </a:pathLst>
            </a:custGeom>
            <a:solidFill>
              <a:srgbClr val="008159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39800" y="4368800"/>
            <a:ext cx="27305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50">
                <a:solidFill>
                  <a:srgbClr val="098F60"/>
                </a:solidFill>
                <a:latin typeface="Arial MT"/>
                <a:cs typeface="Arial MT"/>
              </a:rPr>
              <a:t>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024" y="4851384"/>
            <a:ext cx="4754245" cy="84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Q3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0" b="1">
                <a:solidFill>
                  <a:srgbClr val="1B3258"/>
                </a:solidFill>
                <a:latin typeface="Verdana"/>
                <a:cs typeface="Verdana"/>
              </a:rPr>
              <a:t>Wednesda</a:t>
            </a:r>
            <a:r>
              <a:rPr dirty="0" sz="1100" spc="-130" b="1">
                <a:solidFill>
                  <a:srgbClr val="1B3258"/>
                </a:solidFill>
                <a:latin typeface="Verdana"/>
                <a:cs typeface="Verdana"/>
              </a:rPr>
              <a:t>y</a:t>
            </a:r>
            <a:r>
              <a:rPr dirty="0" sz="1100" spc="-15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5" b="1">
                <a:solidFill>
                  <a:srgbClr val="1B3258"/>
                </a:solidFill>
                <a:latin typeface="Verdana"/>
                <a:cs typeface="Verdana"/>
              </a:rPr>
              <a:t>Effect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—</a:t>
            </a:r>
            <a:r>
              <a:rPr dirty="0" sz="1150" spc="-21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Geographic</a:t>
            </a:r>
            <a:r>
              <a:rPr dirty="0" sz="1150" spc="-15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Cl</a:t>
            </a:r>
            <a:r>
              <a:rPr dirty="0" sz="1100" spc="-100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stering</a:t>
            </a:r>
            <a:r>
              <a:rPr dirty="0" sz="1150" spc="-10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Works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9000"/>
              </a:lnSpc>
              <a:spcBef>
                <a:spcPts val="580"/>
              </a:spcBef>
            </a:pP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Wednesday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in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Q3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(475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0">
                <a:solidFill>
                  <a:srgbClr val="768499"/>
                </a:solidFill>
                <a:latin typeface="Microsoft Sans Serif"/>
                <a:cs typeface="Microsoft Sans Serif"/>
              </a:rPr>
              <a:t>mi,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3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routes)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0">
                <a:solidFill>
                  <a:srgbClr val="768499"/>
                </a:solidFill>
                <a:latin typeface="Microsoft Sans Serif"/>
                <a:cs typeface="Microsoft Sans Serif"/>
              </a:rPr>
              <a:t>vs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25">
                <a:solidFill>
                  <a:srgbClr val="768499"/>
                </a:solidFill>
                <a:latin typeface="Microsoft Sans Serif"/>
                <a:cs typeface="Microsoft Sans Serif"/>
              </a:rPr>
              <a:t>Q1</a:t>
            </a:r>
            <a:r>
              <a:rPr dirty="0" sz="1050" spc="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30">
                <a:solidFill>
                  <a:srgbClr val="768499"/>
                </a:solidFill>
                <a:latin typeface="Microsoft Sans Serif"/>
                <a:cs typeface="Microsoft Sans Serif"/>
              </a:rPr>
              <a:t>(1,196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0">
                <a:solidFill>
                  <a:srgbClr val="768499"/>
                </a:solidFill>
                <a:latin typeface="Microsoft Sans Serif"/>
                <a:cs typeface="Microsoft Sans Serif"/>
              </a:rPr>
              <a:t>mi,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6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routes)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0">
                <a:solidFill>
                  <a:srgbClr val="768499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60%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single-day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reduction.</a:t>
            </a:r>
            <a:r>
              <a:rPr dirty="0" sz="1050" spc="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concentrating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geographically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proximate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stores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onto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same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85">
                <a:solidFill>
                  <a:srgbClr val="768499"/>
                </a:solidFill>
                <a:latin typeface="Microsoft Sans Serif"/>
                <a:cs typeface="Microsoft Sans Serif"/>
              </a:rPr>
              <a:t>day,</a:t>
            </a:r>
            <a:r>
              <a:rPr dirty="0" sz="105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route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lengths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drop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dramatically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while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serving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equal</a:t>
            </a:r>
            <a:r>
              <a:rPr dirty="0" sz="1050" spc="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order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volumes.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81724" y="4048114"/>
            <a:ext cx="5400675" cy="2315210"/>
            <a:chOff x="6181724" y="4048114"/>
            <a:chExt cx="5400675" cy="2315210"/>
          </a:xfrm>
        </p:grpSpPr>
        <p:sp>
          <p:nvSpPr>
            <p:cNvPr id="26" name="object 26"/>
            <p:cNvSpPr/>
            <p:nvPr/>
          </p:nvSpPr>
          <p:spPr>
            <a:xfrm>
              <a:off x="6181724" y="4048114"/>
              <a:ext cx="5400675" cy="2314575"/>
            </a:xfrm>
            <a:custGeom>
              <a:avLst/>
              <a:gdLst/>
              <a:ahLst/>
              <a:cxnLst/>
              <a:rect l="l" t="t" r="r" b="b"/>
              <a:pathLst>
                <a:path w="5400675" h="2314575">
                  <a:moveTo>
                    <a:pt x="5267324" y="2314574"/>
                  </a:moveTo>
                  <a:lnTo>
                    <a:pt x="133349" y="2314574"/>
                  </a:lnTo>
                  <a:lnTo>
                    <a:pt x="120213" y="2313940"/>
                  </a:lnTo>
                  <a:lnTo>
                    <a:pt x="82318" y="2304423"/>
                  </a:lnTo>
                  <a:lnTo>
                    <a:pt x="48794" y="2284357"/>
                  </a:lnTo>
                  <a:lnTo>
                    <a:pt x="22452" y="2255323"/>
                  </a:lnTo>
                  <a:lnTo>
                    <a:pt x="5709" y="2219876"/>
                  </a:lnTo>
                  <a:lnTo>
                    <a:pt x="0" y="21812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67324" y="0"/>
                  </a:lnTo>
                  <a:lnTo>
                    <a:pt x="5305974" y="5709"/>
                  </a:lnTo>
                  <a:lnTo>
                    <a:pt x="5341422" y="22452"/>
                  </a:lnTo>
                  <a:lnTo>
                    <a:pt x="5370456" y="48794"/>
                  </a:lnTo>
                  <a:lnTo>
                    <a:pt x="5390522" y="82318"/>
                  </a:lnTo>
                  <a:lnTo>
                    <a:pt x="5400039" y="120213"/>
                  </a:lnTo>
                  <a:lnTo>
                    <a:pt x="5400674" y="133349"/>
                  </a:lnTo>
                  <a:lnTo>
                    <a:pt x="5400674" y="2181224"/>
                  </a:lnTo>
                  <a:lnTo>
                    <a:pt x="5394963" y="2219876"/>
                  </a:lnTo>
                  <a:lnTo>
                    <a:pt x="5378220" y="2255323"/>
                  </a:lnTo>
                  <a:lnTo>
                    <a:pt x="5351879" y="2284357"/>
                  </a:lnTo>
                  <a:lnTo>
                    <a:pt x="5318353" y="2304423"/>
                  </a:lnTo>
                  <a:lnTo>
                    <a:pt x="5280460" y="2313940"/>
                  </a:lnTo>
                  <a:lnTo>
                    <a:pt x="5267324" y="2314574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181724" y="4048125"/>
              <a:ext cx="5400675" cy="2314575"/>
            </a:xfrm>
            <a:custGeom>
              <a:avLst/>
              <a:gdLst/>
              <a:ahLst/>
              <a:cxnLst/>
              <a:rect l="l" t="t" r="r" b="b"/>
              <a:pathLst>
                <a:path w="5400675" h="2314575">
                  <a:moveTo>
                    <a:pt x="5267324" y="2314574"/>
                  </a:moveTo>
                  <a:lnTo>
                    <a:pt x="133349" y="2314574"/>
                  </a:lnTo>
                  <a:lnTo>
                    <a:pt x="120213" y="2313940"/>
                  </a:lnTo>
                  <a:lnTo>
                    <a:pt x="82318" y="2304423"/>
                  </a:lnTo>
                  <a:lnTo>
                    <a:pt x="48794" y="2284357"/>
                  </a:lnTo>
                  <a:lnTo>
                    <a:pt x="22452" y="2255323"/>
                  </a:lnTo>
                  <a:lnTo>
                    <a:pt x="5709" y="2219876"/>
                  </a:lnTo>
                  <a:lnTo>
                    <a:pt x="0" y="2181224"/>
                  </a:lnTo>
                  <a:lnTo>
                    <a:pt x="0" y="133349"/>
                  </a:lnTo>
                  <a:lnTo>
                    <a:pt x="5709" y="94697"/>
                  </a:lnTo>
                  <a:lnTo>
                    <a:pt x="22452" y="59250"/>
                  </a:lnTo>
                  <a:lnTo>
                    <a:pt x="48794" y="30216"/>
                  </a:lnTo>
                  <a:lnTo>
                    <a:pt x="82319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5267324" y="0"/>
                  </a:lnTo>
                  <a:lnTo>
                    <a:pt x="5280460" y="634"/>
                  </a:lnTo>
                  <a:lnTo>
                    <a:pt x="5293343" y="2537"/>
                  </a:lnTo>
                  <a:lnTo>
                    <a:pt x="5305974" y="5709"/>
                  </a:lnTo>
                  <a:lnTo>
                    <a:pt x="5316609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2189355"/>
                  </a:lnTo>
                  <a:lnTo>
                    <a:pt x="22061" y="2236121"/>
                  </a:lnTo>
                  <a:lnTo>
                    <a:pt x="51541" y="2274531"/>
                  </a:lnTo>
                  <a:lnTo>
                    <a:pt x="93475" y="2298735"/>
                  </a:lnTo>
                  <a:lnTo>
                    <a:pt x="125219" y="2305049"/>
                  </a:lnTo>
                  <a:lnTo>
                    <a:pt x="5316608" y="2305049"/>
                  </a:lnTo>
                  <a:lnTo>
                    <a:pt x="5305974" y="2308864"/>
                  </a:lnTo>
                  <a:lnTo>
                    <a:pt x="5293343" y="2312036"/>
                  </a:lnTo>
                  <a:lnTo>
                    <a:pt x="5280460" y="2313940"/>
                  </a:lnTo>
                  <a:lnTo>
                    <a:pt x="5267324" y="2314574"/>
                  </a:lnTo>
                  <a:close/>
                </a:path>
                <a:path w="5400675" h="2314575">
                  <a:moveTo>
                    <a:pt x="5316608" y="2305049"/>
                  </a:moveTo>
                  <a:lnTo>
                    <a:pt x="5275454" y="2305049"/>
                  </a:lnTo>
                  <a:lnTo>
                    <a:pt x="5283507" y="2304256"/>
                  </a:lnTo>
                  <a:lnTo>
                    <a:pt x="5299455" y="2301083"/>
                  </a:lnTo>
                  <a:lnTo>
                    <a:pt x="5342877" y="2279664"/>
                  </a:lnTo>
                  <a:lnTo>
                    <a:pt x="5374797" y="2243257"/>
                  </a:lnTo>
                  <a:lnTo>
                    <a:pt x="5390356" y="2197407"/>
                  </a:lnTo>
                  <a:lnTo>
                    <a:pt x="5391149" y="2189355"/>
                  </a:lnTo>
                  <a:lnTo>
                    <a:pt x="5391149" y="125219"/>
                  </a:lnTo>
                  <a:lnTo>
                    <a:pt x="5378611" y="78452"/>
                  </a:lnTo>
                  <a:lnTo>
                    <a:pt x="5349132" y="40043"/>
                  </a:lnTo>
                  <a:lnTo>
                    <a:pt x="5306948" y="15763"/>
                  </a:lnTo>
                  <a:lnTo>
                    <a:pt x="5275454" y="9524"/>
                  </a:lnTo>
                  <a:lnTo>
                    <a:pt x="5316609" y="9524"/>
                  </a:lnTo>
                  <a:lnTo>
                    <a:pt x="5351879" y="30216"/>
                  </a:lnTo>
                  <a:lnTo>
                    <a:pt x="5378220" y="59250"/>
                  </a:lnTo>
                  <a:lnTo>
                    <a:pt x="5394963" y="94697"/>
                  </a:lnTo>
                  <a:lnTo>
                    <a:pt x="5400674" y="133349"/>
                  </a:lnTo>
                  <a:lnTo>
                    <a:pt x="5400674" y="2181224"/>
                  </a:lnTo>
                  <a:lnTo>
                    <a:pt x="5400040" y="2194361"/>
                  </a:lnTo>
                  <a:lnTo>
                    <a:pt x="5390522" y="2232255"/>
                  </a:lnTo>
                  <a:lnTo>
                    <a:pt x="5370456" y="2265779"/>
                  </a:lnTo>
                  <a:lnTo>
                    <a:pt x="5341423" y="2292121"/>
                  </a:lnTo>
                  <a:lnTo>
                    <a:pt x="5318354" y="2304423"/>
                  </a:lnTo>
                  <a:lnTo>
                    <a:pt x="5316608" y="2305049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419849" y="428624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50404" y="457199"/>
                  </a:moveTo>
                  <a:lnTo>
                    <a:pt x="106794" y="457199"/>
                  </a:lnTo>
                  <a:lnTo>
                    <a:pt x="99361" y="456465"/>
                  </a:lnTo>
                  <a:lnTo>
                    <a:pt x="57037" y="442094"/>
                  </a:lnTo>
                  <a:lnTo>
                    <a:pt x="23432" y="412625"/>
                  </a:lnTo>
                  <a:lnTo>
                    <a:pt x="3660" y="372544"/>
                  </a:lnTo>
                  <a:lnTo>
                    <a:pt x="0" y="350406"/>
                  </a:lnTo>
                  <a:lnTo>
                    <a:pt x="0" y="342899"/>
                  </a:lnTo>
                  <a:lnTo>
                    <a:pt x="0" y="106793"/>
                  </a:lnTo>
                  <a:lnTo>
                    <a:pt x="11571" y="63614"/>
                  </a:lnTo>
                  <a:lnTo>
                    <a:pt x="38784" y="28156"/>
                  </a:lnTo>
                  <a:lnTo>
                    <a:pt x="77492" y="5832"/>
                  </a:lnTo>
                  <a:lnTo>
                    <a:pt x="106794" y="0"/>
                  </a:lnTo>
                  <a:lnTo>
                    <a:pt x="350404" y="0"/>
                  </a:lnTo>
                  <a:lnTo>
                    <a:pt x="393573" y="11562"/>
                  </a:lnTo>
                  <a:lnTo>
                    <a:pt x="429028" y="38779"/>
                  </a:lnTo>
                  <a:lnTo>
                    <a:pt x="451370" y="77483"/>
                  </a:lnTo>
                  <a:lnTo>
                    <a:pt x="457199" y="106793"/>
                  </a:lnTo>
                  <a:lnTo>
                    <a:pt x="457199" y="350406"/>
                  </a:lnTo>
                  <a:lnTo>
                    <a:pt x="445626" y="393557"/>
                  </a:lnTo>
                  <a:lnTo>
                    <a:pt x="418414" y="429025"/>
                  </a:lnTo>
                  <a:lnTo>
                    <a:pt x="379706" y="451358"/>
                  </a:lnTo>
                  <a:lnTo>
                    <a:pt x="357837" y="456465"/>
                  </a:lnTo>
                  <a:lnTo>
                    <a:pt x="350404" y="457199"/>
                  </a:lnTo>
                  <a:close/>
                </a:path>
              </a:pathLst>
            </a:custGeom>
            <a:solidFill>
              <a:srgbClr val="C77D09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511925" y="4368800"/>
            <a:ext cx="27305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50">
                <a:solidFill>
                  <a:srgbClr val="C87D09"/>
                </a:solidFill>
                <a:latin typeface="Arial MT"/>
                <a:cs typeface="Arial MT"/>
              </a:rPr>
              <a:t>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10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407150" y="4851384"/>
            <a:ext cx="4912995" cy="84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70" b="1">
                <a:solidFill>
                  <a:srgbClr val="1B3258"/>
                </a:solidFill>
                <a:latin typeface="Verdana"/>
                <a:cs typeface="Verdana"/>
              </a:rPr>
              <a:t>~1</a:t>
            </a:r>
            <a:r>
              <a:rPr dirty="0" sz="1100" spc="-170" b="1">
                <a:solidFill>
                  <a:srgbClr val="1B3258"/>
                </a:solidFill>
                <a:latin typeface="Verdana"/>
                <a:cs typeface="Verdana"/>
              </a:rPr>
              <a:t>00</a:t>
            </a:r>
            <a:r>
              <a:rPr dirty="0" sz="1150" spc="-170" b="1">
                <a:solidFill>
                  <a:srgbClr val="1B3258"/>
                </a:solidFill>
                <a:latin typeface="Verdana"/>
                <a:cs typeface="Verdana"/>
              </a:rPr>
              <a:t>K</a:t>
            </a:r>
            <a:r>
              <a:rPr dirty="0" sz="1150" spc="-23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Ann</a:t>
            </a:r>
            <a:r>
              <a:rPr dirty="0" sz="1100" spc="-135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al</a:t>
            </a:r>
            <a:r>
              <a:rPr dirty="0" sz="1150" spc="-7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90" b="1">
                <a:solidFill>
                  <a:srgbClr val="1B3258"/>
                </a:solidFill>
                <a:latin typeface="Verdana"/>
                <a:cs typeface="Verdana"/>
              </a:rPr>
              <a:t>Miles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90" b="1">
                <a:solidFill>
                  <a:srgbClr val="1B3258"/>
                </a:solidFill>
                <a:latin typeface="Verdana"/>
                <a:cs typeface="Verdana"/>
              </a:rPr>
              <a:t>Is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the</a:t>
            </a:r>
            <a:r>
              <a:rPr dirty="0" sz="11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95" b="1">
                <a:solidFill>
                  <a:srgbClr val="1B3258"/>
                </a:solidFill>
                <a:latin typeface="Verdana"/>
                <a:cs typeface="Verdana"/>
              </a:rPr>
              <a:t>Negotiating</a:t>
            </a: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20" b="1">
                <a:solidFill>
                  <a:srgbClr val="1B3258"/>
                </a:solidFill>
                <a:latin typeface="Verdana"/>
                <a:cs typeface="Verdana"/>
              </a:rPr>
              <a:t>Le</a:t>
            </a:r>
            <a:r>
              <a:rPr dirty="0" sz="1100" spc="-20" b="1">
                <a:solidFill>
                  <a:srgbClr val="1B3258"/>
                </a:solidFill>
                <a:latin typeface="Verdana"/>
                <a:cs typeface="Verdana"/>
              </a:rPr>
              <a:t>v</a:t>
            </a:r>
            <a:r>
              <a:rPr dirty="0" sz="1150" spc="-20" b="1">
                <a:solidFill>
                  <a:srgbClr val="1B3258"/>
                </a:solidFill>
                <a:latin typeface="Verdana"/>
                <a:cs typeface="Verdana"/>
              </a:rPr>
              <a:t>er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Q3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5">
                <a:solidFill>
                  <a:srgbClr val="768499"/>
                </a:solidFill>
                <a:latin typeface="Microsoft Sans Serif"/>
                <a:cs typeface="Microsoft Sans Serif"/>
              </a:rPr>
              <a:t>saves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99,892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annual</a:t>
            </a:r>
            <a:r>
              <a:rPr dirty="0" sz="1050" spc="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miles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0">
                <a:solidFill>
                  <a:srgbClr val="768499"/>
                </a:solidFill>
                <a:latin typeface="Microsoft Sans Serif"/>
                <a:cs typeface="Microsoft Sans Serif"/>
              </a:rPr>
              <a:t>vs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25">
                <a:solidFill>
                  <a:srgbClr val="768499"/>
                </a:solidFill>
                <a:latin typeface="Microsoft Sans Serif"/>
                <a:cs typeface="Microsoft Sans Serif"/>
              </a:rPr>
              <a:t>Q1</a:t>
            </a:r>
            <a:r>
              <a:rPr dirty="0" sz="1050" spc="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(349,128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155">
                <a:solidFill>
                  <a:srgbClr val="768499"/>
                </a:solidFill>
                <a:latin typeface="Lucida Sans Unicode"/>
                <a:cs typeface="Lucida Sans Unicode"/>
              </a:rPr>
              <a:t>→</a:t>
            </a:r>
            <a:r>
              <a:rPr dirty="0" sz="800" spc="20">
                <a:solidFill>
                  <a:srgbClr val="76849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249,236).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At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typical</a:t>
            </a:r>
            <a:r>
              <a:rPr dirty="0" sz="1050" spc="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carrier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rates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of</a:t>
            </a:r>
            <a:endParaRPr sz="1050">
              <a:latin typeface="Microsoft Sans Serif"/>
              <a:cs typeface="Microsoft Sans Serif"/>
            </a:endParaRPr>
          </a:p>
          <a:p>
            <a:pPr marL="12700" marR="5080">
              <a:lnSpc>
                <a:spcPct val="119000"/>
              </a:lnSpc>
            </a:pP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$2.50–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$3.50/mile,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represents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$250K–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$350K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in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potential</a:t>
            </a:r>
            <a:r>
              <a:rPr dirty="0" sz="1050" spc="5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annual</a:t>
            </a:r>
            <a:r>
              <a:rPr dirty="0" sz="1050" spc="5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savings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upper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bound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25">
                <a:solidFill>
                  <a:srgbClr val="768499"/>
                </a:solidFill>
                <a:latin typeface="Microsoft Sans Serif"/>
                <a:cs typeface="Microsoft Sans Serif"/>
              </a:rPr>
              <a:t>NHG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 should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target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768499"/>
                </a:solidFill>
                <a:latin typeface="Microsoft Sans Serif"/>
                <a:cs typeface="Microsoft Sans Serif"/>
              </a:rPr>
              <a:t>MAD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negotiations.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12192000" cy="6858000"/>
            <a:chOff x="0" y="-3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2638" y="470662"/>
              <a:ext cx="6579361" cy="63873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2638" y="4283455"/>
              <a:ext cx="6579361" cy="257454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96899" y="475299"/>
            <a:ext cx="1637664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S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</a:t>
            </a:r>
            <a:r>
              <a:rPr dirty="0" sz="800" spc="-7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C87D09"/>
                </a:solidFill>
                <a:latin typeface="Verdana"/>
                <a:cs typeface="Verdana"/>
              </a:rPr>
              <a:t>R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1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70" b="1">
                <a:solidFill>
                  <a:srgbClr val="C87D09"/>
                </a:solidFill>
                <a:latin typeface="Verdana"/>
                <a:cs typeface="Verdana"/>
              </a:rPr>
              <a:t>T </a:t>
            </a:r>
            <a:r>
              <a:rPr dirty="0" sz="800" spc="-11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G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spc="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55" b="1">
                <a:solidFill>
                  <a:srgbClr val="C87D09"/>
                </a:solidFill>
                <a:latin typeface="Verdana"/>
                <a:cs typeface="Verdana"/>
              </a:rPr>
              <a:t>C</a:t>
            </a:r>
            <a:r>
              <a:rPr dirty="0" sz="800" spc="32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G</a:t>
            </a:r>
            <a:r>
              <a:rPr dirty="0" sz="800" spc="-85" b="1">
                <a:solidFill>
                  <a:srgbClr val="C87D09"/>
                </a:solidFill>
                <a:latin typeface="Verdana"/>
                <a:cs typeface="Verdana"/>
              </a:rPr>
              <a:t> U</a:t>
            </a:r>
            <a:r>
              <a:rPr dirty="0" sz="800" spc="-4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250" b="1">
                <a:solidFill>
                  <a:srgbClr val="C87D09"/>
                </a:solidFill>
                <a:latin typeface="Verdana"/>
                <a:cs typeface="Verdana"/>
              </a:rPr>
              <a:t>I</a:t>
            </a:r>
            <a:r>
              <a:rPr dirty="0" sz="800" spc="1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5" b="1">
                <a:solidFill>
                  <a:srgbClr val="C87D09"/>
                </a:solidFill>
                <a:latin typeface="Verdana"/>
                <a:cs typeface="Verdana"/>
              </a:rPr>
              <a:t>D</a:t>
            </a:r>
            <a:r>
              <a:rPr dirty="0" sz="800" spc="-9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C87D09"/>
                </a:solidFill>
                <a:latin typeface="Verdana"/>
                <a:cs typeface="Verdana"/>
              </a:rPr>
              <a:t>A</a:t>
            </a:r>
            <a:r>
              <a:rPr dirty="0" sz="800" spc="-95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C87D09"/>
                </a:solidFill>
                <a:latin typeface="Verdana"/>
                <a:cs typeface="Verdana"/>
              </a:rPr>
              <a:t>N </a:t>
            </a:r>
            <a:r>
              <a:rPr dirty="0" sz="800" spc="55" b="1">
                <a:solidFill>
                  <a:srgbClr val="C87D09"/>
                </a:solidFill>
                <a:latin typeface="Verdana"/>
                <a:cs typeface="Verdana"/>
              </a:rPr>
              <a:t>C</a:t>
            </a:r>
            <a:r>
              <a:rPr dirty="0" sz="800" spc="-80" b="1">
                <a:solidFill>
                  <a:srgbClr val="C87D09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C87D09"/>
                </a:solidFill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96899" y="497430"/>
            <a:ext cx="6399530" cy="855980"/>
          </a:xfrm>
          <a:prstGeom prst="rect"/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3150" spc="-229"/>
              <a:t>Concl</a:t>
            </a:r>
            <a:r>
              <a:rPr dirty="0" sz="3050" spc="-229"/>
              <a:t>u</a:t>
            </a:r>
            <a:r>
              <a:rPr dirty="0" sz="3150" spc="-229"/>
              <a:t>sions</a:t>
            </a:r>
            <a:r>
              <a:rPr dirty="0" sz="3150" spc="-525"/>
              <a:t> </a:t>
            </a:r>
            <a:r>
              <a:rPr dirty="0" sz="3150" spc="-465"/>
              <a:t>&amp;</a:t>
            </a:r>
            <a:r>
              <a:rPr dirty="0" sz="3150" spc="-610"/>
              <a:t> </a:t>
            </a:r>
            <a:r>
              <a:rPr dirty="0" sz="3150" spc="-315"/>
              <a:t>Recommendations</a:t>
            </a:r>
            <a:endParaRPr sz="3150"/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Four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actionable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recommendations</a:t>
            </a:r>
            <a:r>
              <a:rPr dirty="0" sz="1000" spc="5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for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5" b="0">
                <a:solidFill>
                  <a:srgbClr val="6E7D93"/>
                </a:solidFill>
                <a:latin typeface="Microsoft Sans Serif"/>
                <a:cs typeface="Microsoft Sans Serif"/>
              </a:rPr>
              <a:t>NHG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based</a:t>
            </a:r>
            <a:r>
              <a:rPr dirty="0" sz="1000" spc="5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on</a:t>
            </a:r>
            <a:r>
              <a:rPr dirty="0" sz="1000" spc="5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6E7D93"/>
                </a:solidFill>
                <a:latin typeface="Microsoft Sans Serif"/>
                <a:cs typeface="Microsoft Sans Serif"/>
              </a:rPr>
              <a:t>the</a:t>
            </a:r>
            <a:r>
              <a:rPr dirty="0" sz="1000" spc="30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5" b="0">
                <a:solidFill>
                  <a:srgbClr val="6E7D93"/>
                </a:solidFill>
                <a:latin typeface="Microsoft Sans Serif"/>
                <a:cs typeface="Microsoft Sans Serif"/>
              </a:rPr>
              <a:t>VRP</a:t>
            </a:r>
            <a:r>
              <a:rPr dirty="0" sz="1000" spc="25" b="0">
                <a:solidFill>
                  <a:srgbClr val="6E7D93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 b="0">
                <a:solidFill>
                  <a:srgbClr val="6E7D93"/>
                </a:solidFill>
                <a:latin typeface="Microsoft Sans Serif"/>
                <a:cs typeface="Microsoft Sans Serif"/>
              </a:rPr>
              <a:t>analysis.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9599" y="1514465"/>
            <a:ext cx="10972800" cy="953135"/>
            <a:chOff x="609599" y="1514465"/>
            <a:chExt cx="10972800" cy="953135"/>
          </a:xfrm>
        </p:grpSpPr>
        <p:sp>
          <p:nvSpPr>
            <p:cNvPr id="9" name="object 9"/>
            <p:cNvSpPr/>
            <p:nvPr/>
          </p:nvSpPr>
          <p:spPr>
            <a:xfrm>
              <a:off x="609599" y="1514465"/>
              <a:ext cx="10972800" cy="952500"/>
            </a:xfrm>
            <a:custGeom>
              <a:avLst/>
              <a:gdLst/>
              <a:ahLst/>
              <a:cxnLst/>
              <a:rect l="l" t="t" r="r" b="b"/>
              <a:pathLst>
                <a:path w="10972800" h="952500">
                  <a:moveTo>
                    <a:pt x="10858499" y="952499"/>
                  </a:moveTo>
                  <a:lnTo>
                    <a:pt x="114299" y="952499"/>
                  </a:lnTo>
                  <a:lnTo>
                    <a:pt x="103040" y="951955"/>
                  </a:lnTo>
                  <a:lnTo>
                    <a:pt x="60364" y="938987"/>
                  </a:lnTo>
                  <a:lnTo>
                    <a:pt x="25900" y="910675"/>
                  </a:lnTo>
                  <a:lnTo>
                    <a:pt x="4893" y="871329"/>
                  </a:lnTo>
                  <a:lnTo>
                    <a:pt x="0" y="8381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58499" y="0"/>
                  </a:lnTo>
                  <a:lnTo>
                    <a:pt x="10902238" y="8700"/>
                  </a:lnTo>
                  <a:lnTo>
                    <a:pt x="10939321" y="33477"/>
                  </a:lnTo>
                  <a:lnTo>
                    <a:pt x="10964098" y="70559"/>
                  </a:lnTo>
                  <a:lnTo>
                    <a:pt x="10972799" y="114299"/>
                  </a:lnTo>
                  <a:lnTo>
                    <a:pt x="10972799" y="838199"/>
                  </a:lnTo>
                  <a:lnTo>
                    <a:pt x="10964098" y="881940"/>
                  </a:lnTo>
                  <a:lnTo>
                    <a:pt x="10939321" y="919021"/>
                  </a:lnTo>
                  <a:lnTo>
                    <a:pt x="10902238" y="943798"/>
                  </a:lnTo>
                  <a:lnTo>
                    <a:pt x="10858499" y="95249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09599" y="1514474"/>
              <a:ext cx="10972800" cy="952500"/>
            </a:xfrm>
            <a:custGeom>
              <a:avLst/>
              <a:gdLst/>
              <a:ahLst/>
              <a:cxnLst/>
              <a:rect l="l" t="t" r="r" b="b"/>
              <a:pathLst>
                <a:path w="10972800" h="952500">
                  <a:moveTo>
                    <a:pt x="10858499" y="952499"/>
                  </a:moveTo>
                  <a:lnTo>
                    <a:pt x="114299" y="952499"/>
                  </a:lnTo>
                  <a:lnTo>
                    <a:pt x="103040" y="951956"/>
                  </a:lnTo>
                  <a:lnTo>
                    <a:pt x="60364" y="938987"/>
                  </a:lnTo>
                  <a:lnTo>
                    <a:pt x="25900" y="910675"/>
                  </a:lnTo>
                  <a:lnTo>
                    <a:pt x="4893" y="871329"/>
                  </a:lnTo>
                  <a:lnTo>
                    <a:pt x="0" y="8381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58499" y="0"/>
                  </a:lnTo>
                  <a:lnTo>
                    <a:pt x="10902239" y="8700"/>
                  </a:lnTo>
                  <a:lnTo>
                    <a:pt x="109039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45079"/>
                  </a:lnTo>
                  <a:lnTo>
                    <a:pt x="20133" y="884651"/>
                  </a:lnTo>
                  <a:lnTo>
                    <a:pt x="45077" y="917151"/>
                  </a:lnTo>
                  <a:lnTo>
                    <a:pt x="80560" y="937631"/>
                  </a:lnTo>
                  <a:lnTo>
                    <a:pt x="107420" y="942974"/>
                  </a:lnTo>
                  <a:lnTo>
                    <a:pt x="10903985" y="942974"/>
                  </a:lnTo>
                  <a:lnTo>
                    <a:pt x="10902239" y="943798"/>
                  </a:lnTo>
                  <a:lnTo>
                    <a:pt x="10891628" y="947605"/>
                  </a:lnTo>
                  <a:lnTo>
                    <a:pt x="10880801" y="950324"/>
                  </a:lnTo>
                  <a:lnTo>
                    <a:pt x="10869758" y="951956"/>
                  </a:lnTo>
                  <a:lnTo>
                    <a:pt x="10858499" y="952499"/>
                  </a:lnTo>
                  <a:close/>
                </a:path>
                <a:path w="10972800" h="952500">
                  <a:moveTo>
                    <a:pt x="10903985" y="942974"/>
                  </a:moveTo>
                  <a:lnTo>
                    <a:pt x="10865379" y="942974"/>
                  </a:lnTo>
                  <a:lnTo>
                    <a:pt x="10872192" y="942303"/>
                  </a:lnTo>
                  <a:lnTo>
                    <a:pt x="10885686" y="939619"/>
                  </a:lnTo>
                  <a:lnTo>
                    <a:pt x="10922428" y="921494"/>
                  </a:lnTo>
                  <a:lnTo>
                    <a:pt x="10949437" y="890689"/>
                  </a:lnTo>
                  <a:lnTo>
                    <a:pt x="10962602" y="851893"/>
                  </a:lnTo>
                  <a:lnTo>
                    <a:pt x="10963274" y="845079"/>
                  </a:lnTo>
                  <a:lnTo>
                    <a:pt x="10963274" y="107420"/>
                  </a:lnTo>
                  <a:lnTo>
                    <a:pt x="10952665" y="67848"/>
                  </a:lnTo>
                  <a:lnTo>
                    <a:pt x="10927721" y="35348"/>
                  </a:lnTo>
                  <a:lnTo>
                    <a:pt x="10892238" y="14867"/>
                  </a:lnTo>
                  <a:lnTo>
                    <a:pt x="10865379" y="9524"/>
                  </a:lnTo>
                  <a:lnTo>
                    <a:pt x="10903986" y="9524"/>
                  </a:lnTo>
                  <a:lnTo>
                    <a:pt x="10939321" y="33477"/>
                  </a:lnTo>
                  <a:lnTo>
                    <a:pt x="10964098" y="70559"/>
                  </a:lnTo>
                  <a:lnTo>
                    <a:pt x="10972799" y="114299"/>
                  </a:lnTo>
                  <a:lnTo>
                    <a:pt x="10972799" y="838199"/>
                  </a:lnTo>
                  <a:lnTo>
                    <a:pt x="10972255" y="849459"/>
                  </a:lnTo>
                  <a:lnTo>
                    <a:pt x="10959287" y="892134"/>
                  </a:lnTo>
                  <a:lnTo>
                    <a:pt x="10930975" y="926599"/>
                  </a:lnTo>
                  <a:lnTo>
                    <a:pt x="10912433" y="938987"/>
                  </a:lnTo>
                  <a:lnTo>
                    <a:pt x="10903985" y="94297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15974" y="1583827"/>
            <a:ext cx="142875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035" b="1">
                <a:solidFill>
                  <a:srgbClr val="FCECD2"/>
                </a:solidFill>
                <a:latin typeface="Verdana"/>
                <a:cs typeface="Verdana"/>
              </a:rPr>
              <a:t>1</a:t>
            </a:r>
            <a:endParaRPr sz="26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9375" y="1618585"/>
            <a:ext cx="8931910" cy="6502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Use</a:t>
            </a:r>
            <a:r>
              <a:rPr dirty="0" sz="1150" spc="-17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254" b="1">
                <a:solidFill>
                  <a:srgbClr val="1B3258"/>
                </a:solidFill>
                <a:latin typeface="Verdana"/>
                <a:cs typeface="Verdana"/>
              </a:rPr>
              <a:t>Q1</a:t>
            </a:r>
            <a:r>
              <a:rPr dirty="0" sz="1150" spc="-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Baseline</a:t>
            </a:r>
            <a:r>
              <a:rPr dirty="0" sz="11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75" b="1">
                <a:solidFill>
                  <a:srgbClr val="1B3258"/>
                </a:solidFill>
                <a:latin typeface="Verdana"/>
                <a:cs typeface="Verdana"/>
              </a:rPr>
              <a:t>(349,1</a:t>
            </a:r>
            <a:r>
              <a:rPr dirty="0" sz="1100" spc="-175" b="1">
                <a:solidFill>
                  <a:srgbClr val="1B3258"/>
                </a:solidFill>
                <a:latin typeface="Verdana"/>
                <a:cs typeface="Verdana"/>
              </a:rPr>
              <a:t>2</a:t>
            </a:r>
            <a:r>
              <a:rPr dirty="0" sz="1150" spc="-175" b="1">
                <a:solidFill>
                  <a:srgbClr val="1B3258"/>
                </a:solidFill>
                <a:latin typeface="Verdana"/>
                <a:cs typeface="Verdana"/>
              </a:rPr>
              <a:t>8</a:t>
            </a:r>
            <a:r>
              <a:rPr dirty="0" sz="11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80" b="1">
                <a:solidFill>
                  <a:srgbClr val="1B3258"/>
                </a:solidFill>
                <a:latin typeface="Verdana"/>
                <a:cs typeface="Verdana"/>
              </a:rPr>
              <a:t>mi/</a:t>
            </a:r>
            <a:r>
              <a:rPr dirty="0" sz="1100" spc="-180" b="1">
                <a:solidFill>
                  <a:srgbClr val="1B3258"/>
                </a:solidFill>
                <a:latin typeface="Verdana"/>
                <a:cs typeface="Verdana"/>
              </a:rPr>
              <a:t>y</a:t>
            </a:r>
            <a:r>
              <a:rPr dirty="0" sz="1150" spc="-180" b="1">
                <a:solidFill>
                  <a:srgbClr val="1B3258"/>
                </a:solidFill>
                <a:latin typeface="Verdana"/>
                <a:cs typeface="Verdana"/>
              </a:rPr>
              <a:t>ear)</a:t>
            </a: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as</a:t>
            </a:r>
            <a:r>
              <a:rPr dirty="0" sz="11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the</a:t>
            </a:r>
            <a:r>
              <a:rPr dirty="0" sz="11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MAD</a:t>
            </a:r>
            <a:r>
              <a:rPr dirty="0" sz="1150" spc="-18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95" b="1">
                <a:solidFill>
                  <a:srgbClr val="1B3258"/>
                </a:solidFill>
                <a:latin typeface="Verdana"/>
                <a:cs typeface="Verdana"/>
              </a:rPr>
              <a:t>Negotiation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Anchor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9000"/>
              </a:lnSpc>
              <a:spcBef>
                <a:spcPts val="130"/>
              </a:spcBef>
            </a:pP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all-</a:t>
            </a:r>
            <a:r>
              <a:rPr dirty="0" sz="1050" spc="-90">
                <a:solidFill>
                  <a:srgbClr val="768499"/>
                </a:solidFill>
                <a:latin typeface="Microsoft Sans Serif"/>
                <a:cs typeface="Microsoft Sans Serif"/>
              </a:rPr>
              <a:t>van,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fixed-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schedule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baseline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establishes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0">
                <a:solidFill>
                  <a:srgbClr val="768499"/>
                </a:solidFill>
                <a:latin typeface="Microsoft Sans Serif"/>
                <a:cs typeface="Microsoft Sans Serif"/>
              </a:rPr>
              <a:t>a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credible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upper-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bound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cost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reference.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Any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768499"/>
                </a:solidFill>
                <a:latin typeface="Microsoft Sans Serif"/>
                <a:cs typeface="Microsoft Sans Serif"/>
              </a:rPr>
              <a:t>MAD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proposal</a:t>
            </a:r>
            <a:r>
              <a:rPr dirty="0" sz="1050" spc="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should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be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priced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against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or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below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90">
                <a:solidFill>
                  <a:srgbClr val="768499"/>
                </a:solidFill>
                <a:latin typeface="Microsoft Sans Serif"/>
                <a:cs typeface="Microsoft Sans Serif"/>
              </a:rPr>
              <a:t>349,128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annual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miles.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Reject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proposals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exceed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benchmark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without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justification.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20374" y="1885940"/>
            <a:ext cx="742950" cy="219710"/>
            <a:chOff x="10620374" y="1885940"/>
            <a:chExt cx="742950" cy="219710"/>
          </a:xfrm>
        </p:grpSpPr>
        <p:sp>
          <p:nvSpPr>
            <p:cNvPr id="14" name="object 14"/>
            <p:cNvSpPr/>
            <p:nvPr/>
          </p:nvSpPr>
          <p:spPr>
            <a:xfrm>
              <a:off x="10620374" y="1885940"/>
              <a:ext cx="742950" cy="219075"/>
            </a:xfrm>
            <a:custGeom>
              <a:avLst/>
              <a:gdLst/>
              <a:ahLst/>
              <a:cxnLst/>
              <a:rect l="l" t="t" r="r" b="b"/>
              <a:pathLst>
                <a:path w="742950" h="219075">
                  <a:moveTo>
                    <a:pt x="6334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7" y="206125"/>
                  </a:lnTo>
                  <a:lnTo>
                    <a:pt x="24819" y="178993"/>
                  </a:lnTo>
                  <a:lnTo>
                    <a:pt x="4688" y="141286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79" y="24821"/>
                  </a:lnTo>
                  <a:lnTo>
                    <a:pt x="77786" y="4689"/>
                  </a:lnTo>
                  <a:lnTo>
                    <a:pt x="109537" y="0"/>
                  </a:lnTo>
                  <a:lnTo>
                    <a:pt x="633412" y="0"/>
                  </a:lnTo>
                  <a:lnTo>
                    <a:pt x="675329" y="8337"/>
                  </a:lnTo>
                  <a:lnTo>
                    <a:pt x="710867" y="32082"/>
                  </a:lnTo>
                  <a:lnTo>
                    <a:pt x="734610" y="67619"/>
                  </a:lnTo>
                  <a:lnTo>
                    <a:pt x="742949" y="109537"/>
                  </a:lnTo>
                  <a:lnTo>
                    <a:pt x="742428" y="120327"/>
                  </a:lnTo>
                  <a:lnTo>
                    <a:pt x="729999" y="161225"/>
                  </a:lnTo>
                  <a:lnTo>
                    <a:pt x="702868" y="194253"/>
                  </a:lnTo>
                  <a:lnTo>
                    <a:pt x="665161" y="214384"/>
                  </a:lnTo>
                  <a:lnTo>
                    <a:pt x="633412" y="219074"/>
                  </a:lnTo>
                  <a:close/>
                </a:path>
              </a:pathLst>
            </a:custGeom>
            <a:solidFill>
              <a:srgbClr val="0086A7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620374" y="1885949"/>
              <a:ext cx="742950" cy="219075"/>
            </a:xfrm>
            <a:custGeom>
              <a:avLst/>
              <a:gdLst/>
              <a:ahLst/>
              <a:cxnLst/>
              <a:rect l="l" t="t" r="r" b="b"/>
              <a:pathLst>
                <a:path w="742950" h="219075">
                  <a:moveTo>
                    <a:pt x="6334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7" y="206125"/>
                  </a:lnTo>
                  <a:lnTo>
                    <a:pt x="24819" y="178993"/>
                  </a:lnTo>
                  <a:lnTo>
                    <a:pt x="18558" y="170561"/>
                  </a:lnTo>
                  <a:lnTo>
                    <a:pt x="18441" y="170404"/>
                  </a:lnTo>
                  <a:lnTo>
                    <a:pt x="2083" y="130910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79" y="24821"/>
                  </a:lnTo>
                  <a:lnTo>
                    <a:pt x="77786" y="4689"/>
                  </a:lnTo>
                  <a:lnTo>
                    <a:pt x="109537" y="0"/>
                  </a:lnTo>
                  <a:lnTo>
                    <a:pt x="633412" y="0"/>
                  </a:lnTo>
                  <a:lnTo>
                    <a:pt x="675329" y="8337"/>
                  </a:lnTo>
                  <a:lnTo>
                    <a:pt x="677844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0" y="153877"/>
                  </a:lnTo>
                  <a:lnTo>
                    <a:pt x="43461" y="184900"/>
                  </a:lnTo>
                  <a:lnTo>
                    <a:pt x="77331" y="204449"/>
                  </a:lnTo>
                  <a:lnTo>
                    <a:pt x="102970" y="209549"/>
                  </a:lnTo>
                  <a:lnTo>
                    <a:pt x="677843" y="209549"/>
                  </a:lnTo>
                  <a:lnTo>
                    <a:pt x="675329" y="210736"/>
                  </a:lnTo>
                  <a:lnTo>
                    <a:pt x="665161" y="214384"/>
                  </a:lnTo>
                  <a:lnTo>
                    <a:pt x="654785" y="216990"/>
                  </a:lnTo>
                  <a:lnTo>
                    <a:pt x="644202" y="218553"/>
                  </a:lnTo>
                  <a:lnTo>
                    <a:pt x="633412" y="219074"/>
                  </a:lnTo>
                  <a:close/>
                </a:path>
                <a:path w="742950" h="219075">
                  <a:moveTo>
                    <a:pt x="677843" y="209549"/>
                  </a:moveTo>
                  <a:lnTo>
                    <a:pt x="639979" y="209549"/>
                  </a:lnTo>
                  <a:lnTo>
                    <a:pt x="646482" y="208909"/>
                  </a:lnTo>
                  <a:lnTo>
                    <a:pt x="659364" y="206347"/>
                  </a:lnTo>
                  <a:lnTo>
                    <a:pt x="694436" y="189046"/>
                  </a:lnTo>
                  <a:lnTo>
                    <a:pt x="720217" y="159641"/>
                  </a:lnTo>
                  <a:lnTo>
                    <a:pt x="732784" y="122608"/>
                  </a:lnTo>
                  <a:lnTo>
                    <a:pt x="733424" y="116104"/>
                  </a:lnTo>
                  <a:lnTo>
                    <a:pt x="733424" y="102970"/>
                  </a:lnTo>
                  <a:lnTo>
                    <a:pt x="723298" y="65197"/>
                  </a:lnTo>
                  <a:lnTo>
                    <a:pt x="713025" y="48670"/>
                  </a:lnTo>
                  <a:lnTo>
                    <a:pt x="712921" y="48513"/>
                  </a:lnTo>
                  <a:lnTo>
                    <a:pt x="683515" y="22731"/>
                  </a:lnTo>
                  <a:lnTo>
                    <a:pt x="646482" y="10165"/>
                  </a:lnTo>
                  <a:lnTo>
                    <a:pt x="639979" y="9524"/>
                  </a:lnTo>
                  <a:lnTo>
                    <a:pt x="677844" y="9524"/>
                  </a:lnTo>
                  <a:lnTo>
                    <a:pt x="710867" y="32082"/>
                  </a:lnTo>
                  <a:lnTo>
                    <a:pt x="734610" y="67619"/>
                  </a:lnTo>
                  <a:lnTo>
                    <a:pt x="742949" y="109537"/>
                  </a:lnTo>
                  <a:lnTo>
                    <a:pt x="742428" y="120327"/>
                  </a:lnTo>
                  <a:lnTo>
                    <a:pt x="729999" y="161225"/>
                  </a:lnTo>
                  <a:lnTo>
                    <a:pt x="702868" y="194253"/>
                  </a:lnTo>
                  <a:lnTo>
                    <a:pt x="685099" y="206125"/>
                  </a:lnTo>
                  <a:lnTo>
                    <a:pt x="677843" y="209549"/>
                  </a:lnTo>
                  <a:close/>
                </a:path>
              </a:pathLst>
            </a:custGeom>
            <a:solidFill>
              <a:srgbClr val="00B4D8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0716914" y="1917712"/>
            <a:ext cx="544195" cy="143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spc="-35" b="1">
                <a:solidFill>
                  <a:srgbClr val="0086A7"/>
                </a:solidFill>
                <a:latin typeface="Arial"/>
                <a:cs typeface="Arial"/>
              </a:rPr>
              <a:t>P</a:t>
            </a:r>
            <a:r>
              <a:rPr dirty="0" sz="750" spc="-105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0086A7"/>
                </a:solidFill>
                <a:latin typeface="Arial"/>
                <a:cs typeface="Arial"/>
              </a:rPr>
              <a:t>R</a:t>
            </a:r>
            <a:r>
              <a:rPr dirty="0" sz="750" spc="-9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0086A7"/>
                </a:solidFill>
                <a:latin typeface="Arial"/>
                <a:cs typeface="Arial"/>
              </a:rPr>
              <a:t>I</a:t>
            </a:r>
            <a:r>
              <a:rPr dirty="0" sz="750" spc="-4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086A7"/>
                </a:solidFill>
                <a:latin typeface="Arial"/>
                <a:cs typeface="Arial"/>
              </a:rPr>
              <a:t>OR</a:t>
            </a:r>
            <a:r>
              <a:rPr dirty="0" sz="750" spc="-9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0086A7"/>
                </a:solidFill>
                <a:latin typeface="Arial"/>
                <a:cs typeface="Arial"/>
              </a:rPr>
              <a:t>I</a:t>
            </a:r>
            <a:r>
              <a:rPr dirty="0" sz="750" spc="-40" b="1">
                <a:solidFill>
                  <a:srgbClr val="0086A7"/>
                </a:solidFill>
                <a:latin typeface="Arial"/>
                <a:cs typeface="Arial"/>
              </a:rPr>
              <a:t> </a:t>
            </a:r>
            <a:r>
              <a:rPr dirty="0" sz="750" spc="-25" b="1">
                <a:solidFill>
                  <a:srgbClr val="0086A7"/>
                </a:solidFill>
                <a:latin typeface="Arial"/>
                <a:cs typeface="Arial"/>
              </a:rPr>
              <a:t>TY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9599" y="2619365"/>
            <a:ext cx="10972800" cy="953135"/>
            <a:chOff x="609599" y="2619365"/>
            <a:chExt cx="10972800" cy="953135"/>
          </a:xfrm>
        </p:grpSpPr>
        <p:sp>
          <p:nvSpPr>
            <p:cNvPr id="18" name="object 18"/>
            <p:cNvSpPr/>
            <p:nvPr/>
          </p:nvSpPr>
          <p:spPr>
            <a:xfrm>
              <a:off x="609599" y="2619365"/>
              <a:ext cx="10972800" cy="952500"/>
            </a:xfrm>
            <a:custGeom>
              <a:avLst/>
              <a:gdLst/>
              <a:ahLst/>
              <a:cxnLst/>
              <a:rect l="l" t="t" r="r" b="b"/>
              <a:pathLst>
                <a:path w="10972800" h="952500">
                  <a:moveTo>
                    <a:pt x="10858499" y="952499"/>
                  </a:moveTo>
                  <a:lnTo>
                    <a:pt x="114299" y="952499"/>
                  </a:lnTo>
                  <a:lnTo>
                    <a:pt x="103040" y="951955"/>
                  </a:lnTo>
                  <a:lnTo>
                    <a:pt x="60364" y="938987"/>
                  </a:lnTo>
                  <a:lnTo>
                    <a:pt x="25900" y="910675"/>
                  </a:lnTo>
                  <a:lnTo>
                    <a:pt x="4893" y="871329"/>
                  </a:lnTo>
                  <a:lnTo>
                    <a:pt x="0" y="8381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58499" y="0"/>
                  </a:lnTo>
                  <a:lnTo>
                    <a:pt x="10902238" y="8700"/>
                  </a:lnTo>
                  <a:lnTo>
                    <a:pt x="10939321" y="33477"/>
                  </a:lnTo>
                  <a:lnTo>
                    <a:pt x="10964098" y="70559"/>
                  </a:lnTo>
                  <a:lnTo>
                    <a:pt x="10972799" y="114299"/>
                  </a:lnTo>
                  <a:lnTo>
                    <a:pt x="10972799" y="838199"/>
                  </a:lnTo>
                  <a:lnTo>
                    <a:pt x="10964098" y="881940"/>
                  </a:lnTo>
                  <a:lnTo>
                    <a:pt x="10939321" y="919022"/>
                  </a:lnTo>
                  <a:lnTo>
                    <a:pt x="10902238" y="943798"/>
                  </a:lnTo>
                  <a:lnTo>
                    <a:pt x="10858499" y="95249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09599" y="2619374"/>
              <a:ext cx="10972800" cy="952500"/>
            </a:xfrm>
            <a:custGeom>
              <a:avLst/>
              <a:gdLst/>
              <a:ahLst/>
              <a:cxnLst/>
              <a:rect l="l" t="t" r="r" b="b"/>
              <a:pathLst>
                <a:path w="10972800" h="952500">
                  <a:moveTo>
                    <a:pt x="10858499" y="952499"/>
                  </a:moveTo>
                  <a:lnTo>
                    <a:pt x="114299" y="952499"/>
                  </a:lnTo>
                  <a:lnTo>
                    <a:pt x="103040" y="951955"/>
                  </a:lnTo>
                  <a:lnTo>
                    <a:pt x="60364" y="938987"/>
                  </a:lnTo>
                  <a:lnTo>
                    <a:pt x="25900" y="910675"/>
                  </a:lnTo>
                  <a:lnTo>
                    <a:pt x="4893" y="871329"/>
                  </a:lnTo>
                  <a:lnTo>
                    <a:pt x="0" y="8381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58499" y="0"/>
                  </a:lnTo>
                  <a:lnTo>
                    <a:pt x="10902239" y="8700"/>
                  </a:lnTo>
                  <a:lnTo>
                    <a:pt x="109039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45079"/>
                  </a:lnTo>
                  <a:lnTo>
                    <a:pt x="20133" y="884651"/>
                  </a:lnTo>
                  <a:lnTo>
                    <a:pt x="45077" y="917151"/>
                  </a:lnTo>
                  <a:lnTo>
                    <a:pt x="80560" y="937631"/>
                  </a:lnTo>
                  <a:lnTo>
                    <a:pt x="107420" y="942974"/>
                  </a:lnTo>
                  <a:lnTo>
                    <a:pt x="10903985" y="942974"/>
                  </a:lnTo>
                  <a:lnTo>
                    <a:pt x="10902239" y="943798"/>
                  </a:lnTo>
                  <a:lnTo>
                    <a:pt x="10891628" y="947605"/>
                  </a:lnTo>
                  <a:lnTo>
                    <a:pt x="10880801" y="950324"/>
                  </a:lnTo>
                  <a:lnTo>
                    <a:pt x="10869758" y="951955"/>
                  </a:lnTo>
                  <a:lnTo>
                    <a:pt x="10858499" y="952499"/>
                  </a:lnTo>
                  <a:close/>
                </a:path>
                <a:path w="10972800" h="952500">
                  <a:moveTo>
                    <a:pt x="10903985" y="942974"/>
                  </a:moveTo>
                  <a:lnTo>
                    <a:pt x="10865379" y="942974"/>
                  </a:lnTo>
                  <a:lnTo>
                    <a:pt x="10872192" y="942303"/>
                  </a:lnTo>
                  <a:lnTo>
                    <a:pt x="10885686" y="939619"/>
                  </a:lnTo>
                  <a:lnTo>
                    <a:pt x="10922428" y="921494"/>
                  </a:lnTo>
                  <a:lnTo>
                    <a:pt x="10949437" y="890689"/>
                  </a:lnTo>
                  <a:lnTo>
                    <a:pt x="10962602" y="851893"/>
                  </a:lnTo>
                  <a:lnTo>
                    <a:pt x="10963274" y="845079"/>
                  </a:lnTo>
                  <a:lnTo>
                    <a:pt x="10963274" y="107420"/>
                  </a:lnTo>
                  <a:lnTo>
                    <a:pt x="10952665" y="67848"/>
                  </a:lnTo>
                  <a:lnTo>
                    <a:pt x="10927721" y="35348"/>
                  </a:lnTo>
                  <a:lnTo>
                    <a:pt x="10892238" y="14867"/>
                  </a:lnTo>
                  <a:lnTo>
                    <a:pt x="10865379" y="9524"/>
                  </a:lnTo>
                  <a:lnTo>
                    <a:pt x="10903986" y="9524"/>
                  </a:lnTo>
                  <a:lnTo>
                    <a:pt x="10939321" y="33477"/>
                  </a:lnTo>
                  <a:lnTo>
                    <a:pt x="10964098" y="70559"/>
                  </a:lnTo>
                  <a:lnTo>
                    <a:pt x="10972799" y="114299"/>
                  </a:lnTo>
                  <a:lnTo>
                    <a:pt x="10972799" y="838199"/>
                  </a:lnTo>
                  <a:lnTo>
                    <a:pt x="10972255" y="849459"/>
                  </a:lnTo>
                  <a:lnTo>
                    <a:pt x="10959287" y="892134"/>
                  </a:lnTo>
                  <a:lnTo>
                    <a:pt x="10930975" y="926599"/>
                  </a:lnTo>
                  <a:lnTo>
                    <a:pt x="10912433" y="938987"/>
                  </a:lnTo>
                  <a:lnTo>
                    <a:pt x="10903985" y="94297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15974" y="2697444"/>
            <a:ext cx="221615" cy="4197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50" spc="-340" b="1">
                <a:solidFill>
                  <a:srgbClr val="FCECD2"/>
                </a:solidFill>
                <a:latin typeface="Verdana"/>
                <a:cs typeface="Verdana"/>
              </a:rPr>
              <a:t>2</a:t>
            </a:r>
            <a:endParaRPr sz="25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9375" y="2723485"/>
            <a:ext cx="8941435" cy="6502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Price</a:t>
            </a:r>
            <a:r>
              <a:rPr dirty="0" sz="1150" spc="-17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ST</a:t>
            </a:r>
            <a:r>
              <a:rPr dirty="0" sz="1150" spc="-18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Req</a:t>
            </a:r>
            <a:r>
              <a:rPr dirty="0" sz="1100" spc="-125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irements</a:t>
            </a:r>
            <a:r>
              <a:rPr dirty="0" sz="11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as</a:t>
            </a:r>
            <a:r>
              <a:rPr dirty="0" sz="115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70" b="1">
                <a:solidFill>
                  <a:srgbClr val="1B3258"/>
                </a:solidFill>
                <a:latin typeface="Verdana"/>
                <a:cs typeface="Verdana"/>
              </a:rPr>
              <a:t>a</a:t>
            </a:r>
            <a:r>
              <a:rPr dirty="0" sz="1150" spc="-12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Premi</a:t>
            </a:r>
            <a:r>
              <a:rPr dirty="0" sz="1100" spc="-135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m</a:t>
            </a:r>
            <a:r>
              <a:rPr dirty="0" sz="1150" spc="-17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in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MAD</a:t>
            </a:r>
            <a:r>
              <a:rPr dirty="0" sz="1150" spc="-18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95" b="1">
                <a:solidFill>
                  <a:srgbClr val="1B3258"/>
                </a:solidFill>
                <a:latin typeface="Verdana"/>
                <a:cs typeface="Verdana"/>
              </a:rPr>
              <a:t>Contract</a:t>
            </a:r>
            <a:r>
              <a:rPr dirty="0" sz="1150" spc="-14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Terms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9000"/>
              </a:lnSpc>
              <a:spcBef>
                <a:spcPts val="130"/>
              </a:spcBef>
            </a:pP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60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0">
                <a:solidFill>
                  <a:srgbClr val="768499"/>
                </a:solidFill>
                <a:latin typeface="Microsoft Sans Serif"/>
                <a:cs typeface="Microsoft Sans Serif"/>
              </a:rPr>
              <a:t>ST-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mandatory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orders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impose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0">
                <a:solidFill>
                  <a:srgbClr val="768499"/>
                </a:solidFill>
                <a:latin typeface="Microsoft Sans Serif"/>
                <a:cs typeface="Microsoft Sans Serif"/>
              </a:rPr>
              <a:t>a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80">
                <a:solidFill>
                  <a:srgbClr val="768499"/>
                </a:solidFill>
                <a:latin typeface="Microsoft Sans Serif"/>
                <a:cs typeface="Microsoft Sans Serif"/>
              </a:rPr>
              <a:t>13%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mileage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surcharge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(+870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mi/week).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Any </a:t>
            </a:r>
            <a:r>
              <a:rPr dirty="0" sz="1050" spc="-105">
                <a:solidFill>
                  <a:srgbClr val="768499"/>
                </a:solidFill>
                <a:latin typeface="Microsoft Sans Serif"/>
                <a:cs typeface="Microsoft Sans Serif"/>
              </a:rPr>
              <a:t>MAD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contract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must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explicitly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price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Straight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Truck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routes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0">
                <a:solidFill>
                  <a:srgbClr val="768499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premium,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or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NHG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absorbs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0">
                <a:solidFill>
                  <a:srgbClr val="768499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hidden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cost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equivalent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~$45K–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$63K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annually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typical</a:t>
            </a:r>
            <a:r>
              <a:rPr dirty="0" sz="1050" spc="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carrier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rates.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544174" y="2990840"/>
            <a:ext cx="819150" cy="219710"/>
            <a:chOff x="10544174" y="2990840"/>
            <a:chExt cx="819150" cy="219710"/>
          </a:xfrm>
        </p:grpSpPr>
        <p:sp>
          <p:nvSpPr>
            <p:cNvPr id="23" name="object 23"/>
            <p:cNvSpPr/>
            <p:nvPr/>
          </p:nvSpPr>
          <p:spPr>
            <a:xfrm>
              <a:off x="10544174" y="2990840"/>
              <a:ext cx="819150" cy="219075"/>
            </a:xfrm>
            <a:custGeom>
              <a:avLst/>
              <a:gdLst/>
              <a:ahLst/>
              <a:cxnLst/>
              <a:rect l="l" t="t" r="r" b="b"/>
              <a:pathLst>
                <a:path w="819150" h="219075">
                  <a:moveTo>
                    <a:pt x="7096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8" y="206126"/>
                  </a:lnTo>
                  <a:lnTo>
                    <a:pt x="24820" y="178993"/>
                  </a:lnTo>
                  <a:lnTo>
                    <a:pt x="4689" y="141286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80" y="24820"/>
                  </a:lnTo>
                  <a:lnTo>
                    <a:pt x="77786" y="4690"/>
                  </a:lnTo>
                  <a:lnTo>
                    <a:pt x="109537" y="0"/>
                  </a:lnTo>
                  <a:lnTo>
                    <a:pt x="709612" y="0"/>
                  </a:lnTo>
                  <a:lnTo>
                    <a:pt x="751529" y="8337"/>
                  </a:lnTo>
                  <a:lnTo>
                    <a:pt x="787067" y="32082"/>
                  </a:lnTo>
                  <a:lnTo>
                    <a:pt x="810810" y="67618"/>
                  </a:lnTo>
                  <a:lnTo>
                    <a:pt x="819149" y="109537"/>
                  </a:lnTo>
                  <a:lnTo>
                    <a:pt x="818628" y="120327"/>
                  </a:lnTo>
                  <a:lnTo>
                    <a:pt x="806199" y="161225"/>
                  </a:lnTo>
                  <a:lnTo>
                    <a:pt x="779068" y="194253"/>
                  </a:lnTo>
                  <a:lnTo>
                    <a:pt x="741361" y="214384"/>
                  </a:lnTo>
                  <a:lnTo>
                    <a:pt x="709612" y="219074"/>
                  </a:lnTo>
                  <a:close/>
                </a:path>
              </a:pathLst>
            </a:custGeom>
            <a:solidFill>
              <a:srgbClr val="C77D09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544174" y="2990849"/>
              <a:ext cx="819150" cy="219075"/>
            </a:xfrm>
            <a:custGeom>
              <a:avLst/>
              <a:gdLst/>
              <a:ahLst/>
              <a:cxnLst/>
              <a:rect l="l" t="t" r="r" b="b"/>
              <a:pathLst>
                <a:path w="819150" h="219075">
                  <a:moveTo>
                    <a:pt x="7096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8" y="206126"/>
                  </a:lnTo>
                  <a:lnTo>
                    <a:pt x="24820" y="178993"/>
                  </a:lnTo>
                  <a:lnTo>
                    <a:pt x="18558" y="170561"/>
                  </a:lnTo>
                  <a:lnTo>
                    <a:pt x="18442" y="170404"/>
                  </a:lnTo>
                  <a:lnTo>
                    <a:pt x="2083" y="130910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80" y="24820"/>
                  </a:lnTo>
                  <a:lnTo>
                    <a:pt x="77786" y="4690"/>
                  </a:lnTo>
                  <a:lnTo>
                    <a:pt x="109537" y="0"/>
                  </a:lnTo>
                  <a:lnTo>
                    <a:pt x="709612" y="0"/>
                  </a:lnTo>
                  <a:lnTo>
                    <a:pt x="751529" y="8337"/>
                  </a:lnTo>
                  <a:lnTo>
                    <a:pt x="754044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0" y="153877"/>
                  </a:lnTo>
                  <a:lnTo>
                    <a:pt x="43461" y="184900"/>
                  </a:lnTo>
                  <a:lnTo>
                    <a:pt x="77331" y="204449"/>
                  </a:lnTo>
                  <a:lnTo>
                    <a:pt x="102970" y="209549"/>
                  </a:lnTo>
                  <a:lnTo>
                    <a:pt x="754044" y="209549"/>
                  </a:lnTo>
                  <a:lnTo>
                    <a:pt x="751529" y="210736"/>
                  </a:lnTo>
                  <a:lnTo>
                    <a:pt x="741361" y="214384"/>
                  </a:lnTo>
                  <a:lnTo>
                    <a:pt x="730985" y="216990"/>
                  </a:lnTo>
                  <a:lnTo>
                    <a:pt x="720402" y="218553"/>
                  </a:lnTo>
                  <a:lnTo>
                    <a:pt x="709612" y="219074"/>
                  </a:lnTo>
                  <a:close/>
                </a:path>
                <a:path w="819150" h="219075">
                  <a:moveTo>
                    <a:pt x="754044" y="209549"/>
                  </a:moveTo>
                  <a:lnTo>
                    <a:pt x="716179" y="209549"/>
                  </a:lnTo>
                  <a:lnTo>
                    <a:pt x="722683" y="208909"/>
                  </a:lnTo>
                  <a:lnTo>
                    <a:pt x="735564" y="206347"/>
                  </a:lnTo>
                  <a:lnTo>
                    <a:pt x="770636" y="189046"/>
                  </a:lnTo>
                  <a:lnTo>
                    <a:pt x="796417" y="159641"/>
                  </a:lnTo>
                  <a:lnTo>
                    <a:pt x="808984" y="122608"/>
                  </a:lnTo>
                  <a:lnTo>
                    <a:pt x="809624" y="116104"/>
                  </a:lnTo>
                  <a:lnTo>
                    <a:pt x="809624" y="102970"/>
                  </a:lnTo>
                  <a:lnTo>
                    <a:pt x="799498" y="65197"/>
                  </a:lnTo>
                  <a:lnTo>
                    <a:pt x="775688" y="34174"/>
                  </a:lnTo>
                  <a:lnTo>
                    <a:pt x="741818" y="14624"/>
                  </a:lnTo>
                  <a:lnTo>
                    <a:pt x="716179" y="9524"/>
                  </a:lnTo>
                  <a:lnTo>
                    <a:pt x="754044" y="9524"/>
                  </a:lnTo>
                  <a:lnTo>
                    <a:pt x="787067" y="32082"/>
                  </a:lnTo>
                  <a:lnTo>
                    <a:pt x="810810" y="67618"/>
                  </a:lnTo>
                  <a:lnTo>
                    <a:pt x="819149" y="109537"/>
                  </a:lnTo>
                  <a:lnTo>
                    <a:pt x="818628" y="120327"/>
                  </a:lnTo>
                  <a:lnTo>
                    <a:pt x="806199" y="161225"/>
                  </a:lnTo>
                  <a:lnTo>
                    <a:pt x="779068" y="194253"/>
                  </a:lnTo>
                  <a:lnTo>
                    <a:pt x="761299" y="206126"/>
                  </a:lnTo>
                  <a:lnTo>
                    <a:pt x="754044" y="209549"/>
                  </a:lnTo>
                  <a:close/>
                </a:path>
              </a:pathLst>
            </a:custGeom>
            <a:solidFill>
              <a:srgbClr val="C77D09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0636994" y="3022612"/>
            <a:ext cx="622935" cy="143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C</a:t>
            </a:r>
            <a:r>
              <a:rPr dirty="0" sz="750" spc="-10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OS</a:t>
            </a:r>
            <a:r>
              <a:rPr dirty="0" sz="750" spc="-10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87D09"/>
                </a:solidFill>
                <a:latin typeface="Arial"/>
                <a:cs typeface="Arial"/>
              </a:rPr>
              <a:t>T</a:t>
            </a:r>
            <a:r>
              <a:rPr dirty="0" sz="750" spc="21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C87D09"/>
                </a:solidFill>
                <a:latin typeface="Arial"/>
                <a:cs typeface="Arial"/>
              </a:rPr>
              <a:t>R</a:t>
            </a:r>
            <a:r>
              <a:rPr dirty="0" sz="750" spc="-9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C87D09"/>
                </a:solidFill>
                <a:latin typeface="Arial"/>
                <a:cs typeface="Arial"/>
              </a:rPr>
              <a:t>I</a:t>
            </a:r>
            <a:r>
              <a:rPr dirty="0" sz="750" spc="-4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C87D09"/>
                </a:solidFill>
                <a:latin typeface="Arial"/>
                <a:cs typeface="Arial"/>
              </a:rPr>
              <a:t>S</a:t>
            </a:r>
            <a:r>
              <a:rPr dirty="0" sz="750" spc="-9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750" spc="-50" b="1">
                <a:solidFill>
                  <a:srgbClr val="C87D09"/>
                </a:solidFill>
                <a:latin typeface="Arial"/>
                <a:cs typeface="Arial"/>
              </a:rPr>
              <a:t>K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9599" y="3724265"/>
            <a:ext cx="10972800" cy="953135"/>
            <a:chOff x="609599" y="3724265"/>
            <a:chExt cx="10972800" cy="953135"/>
          </a:xfrm>
        </p:grpSpPr>
        <p:sp>
          <p:nvSpPr>
            <p:cNvPr id="27" name="object 27"/>
            <p:cNvSpPr/>
            <p:nvPr/>
          </p:nvSpPr>
          <p:spPr>
            <a:xfrm>
              <a:off x="609599" y="3724265"/>
              <a:ext cx="10972800" cy="952500"/>
            </a:xfrm>
            <a:custGeom>
              <a:avLst/>
              <a:gdLst/>
              <a:ahLst/>
              <a:cxnLst/>
              <a:rect l="l" t="t" r="r" b="b"/>
              <a:pathLst>
                <a:path w="10972800" h="952500">
                  <a:moveTo>
                    <a:pt x="10858499" y="952499"/>
                  </a:moveTo>
                  <a:lnTo>
                    <a:pt x="114299" y="952499"/>
                  </a:lnTo>
                  <a:lnTo>
                    <a:pt x="103040" y="951955"/>
                  </a:lnTo>
                  <a:lnTo>
                    <a:pt x="60364" y="938987"/>
                  </a:lnTo>
                  <a:lnTo>
                    <a:pt x="25900" y="910675"/>
                  </a:lnTo>
                  <a:lnTo>
                    <a:pt x="4893" y="871329"/>
                  </a:lnTo>
                  <a:lnTo>
                    <a:pt x="0" y="8381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58499" y="0"/>
                  </a:lnTo>
                  <a:lnTo>
                    <a:pt x="10902238" y="8700"/>
                  </a:lnTo>
                  <a:lnTo>
                    <a:pt x="10939321" y="33477"/>
                  </a:lnTo>
                  <a:lnTo>
                    <a:pt x="10964098" y="70559"/>
                  </a:lnTo>
                  <a:lnTo>
                    <a:pt x="10972799" y="114299"/>
                  </a:lnTo>
                  <a:lnTo>
                    <a:pt x="10972799" y="838199"/>
                  </a:lnTo>
                  <a:lnTo>
                    <a:pt x="10964098" y="881940"/>
                  </a:lnTo>
                  <a:lnTo>
                    <a:pt x="10939321" y="919021"/>
                  </a:lnTo>
                  <a:lnTo>
                    <a:pt x="10902237" y="943799"/>
                  </a:lnTo>
                  <a:lnTo>
                    <a:pt x="10858499" y="95249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09599" y="3724275"/>
              <a:ext cx="10972800" cy="952500"/>
            </a:xfrm>
            <a:custGeom>
              <a:avLst/>
              <a:gdLst/>
              <a:ahLst/>
              <a:cxnLst/>
              <a:rect l="l" t="t" r="r" b="b"/>
              <a:pathLst>
                <a:path w="10972800" h="952500">
                  <a:moveTo>
                    <a:pt x="10858499" y="952499"/>
                  </a:moveTo>
                  <a:lnTo>
                    <a:pt x="114299" y="952499"/>
                  </a:lnTo>
                  <a:lnTo>
                    <a:pt x="103040" y="951955"/>
                  </a:lnTo>
                  <a:lnTo>
                    <a:pt x="60364" y="938987"/>
                  </a:lnTo>
                  <a:lnTo>
                    <a:pt x="25900" y="910675"/>
                  </a:lnTo>
                  <a:lnTo>
                    <a:pt x="4893" y="871329"/>
                  </a:lnTo>
                  <a:lnTo>
                    <a:pt x="0" y="8381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58499" y="0"/>
                  </a:lnTo>
                  <a:lnTo>
                    <a:pt x="10902239" y="8700"/>
                  </a:lnTo>
                  <a:lnTo>
                    <a:pt x="109039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45079"/>
                  </a:lnTo>
                  <a:lnTo>
                    <a:pt x="20133" y="884651"/>
                  </a:lnTo>
                  <a:lnTo>
                    <a:pt x="45077" y="917151"/>
                  </a:lnTo>
                  <a:lnTo>
                    <a:pt x="80560" y="937631"/>
                  </a:lnTo>
                  <a:lnTo>
                    <a:pt x="107420" y="942974"/>
                  </a:lnTo>
                  <a:lnTo>
                    <a:pt x="10903984" y="942974"/>
                  </a:lnTo>
                  <a:lnTo>
                    <a:pt x="10902238" y="943799"/>
                  </a:lnTo>
                  <a:lnTo>
                    <a:pt x="10891627" y="947605"/>
                  </a:lnTo>
                  <a:lnTo>
                    <a:pt x="10880801" y="950324"/>
                  </a:lnTo>
                  <a:lnTo>
                    <a:pt x="10869758" y="951955"/>
                  </a:lnTo>
                  <a:lnTo>
                    <a:pt x="10858499" y="952499"/>
                  </a:lnTo>
                  <a:close/>
                </a:path>
                <a:path w="10972800" h="952500">
                  <a:moveTo>
                    <a:pt x="10903984" y="942974"/>
                  </a:moveTo>
                  <a:lnTo>
                    <a:pt x="10865379" y="942974"/>
                  </a:lnTo>
                  <a:lnTo>
                    <a:pt x="10872192" y="942303"/>
                  </a:lnTo>
                  <a:lnTo>
                    <a:pt x="10885686" y="939619"/>
                  </a:lnTo>
                  <a:lnTo>
                    <a:pt x="10922428" y="921494"/>
                  </a:lnTo>
                  <a:lnTo>
                    <a:pt x="10949437" y="890689"/>
                  </a:lnTo>
                  <a:lnTo>
                    <a:pt x="10962602" y="851893"/>
                  </a:lnTo>
                  <a:lnTo>
                    <a:pt x="10963274" y="845079"/>
                  </a:lnTo>
                  <a:lnTo>
                    <a:pt x="10963274" y="107420"/>
                  </a:lnTo>
                  <a:lnTo>
                    <a:pt x="10952665" y="67848"/>
                  </a:lnTo>
                  <a:lnTo>
                    <a:pt x="10927721" y="35348"/>
                  </a:lnTo>
                  <a:lnTo>
                    <a:pt x="10892238" y="14867"/>
                  </a:lnTo>
                  <a:lnTo>
                    <a:pt x="10865379" y="9524"/>
                  </a:lnTo>
                  <a:lnTo>
                    <a:pt x="10903987" y="9524"/>
                  </a:lnTo>
                  <a:lnTo>
                    <a:pt x="10939321" y="33477"/>
                  </a:lnTo>
                  <a:lnTo>
                    <a:pt x="10964098" y="70559"/>
                  </a:lnTo>
                  <a:lnTo>
                    <a:pt x="10972799" y="114299"/>
                  </a:lnTo>
                  <a:lnTo>
                    <a:pt x="10972799" y="838199"/>
                  </a:lnTo>
                  <a:lnTo>
                    <a:pt x="10972255" y="849459"/>
                  </a:lnTo>
                  <a:lnTo>
                    <a:pt x="10959287" y="892134"/>
                  </a:lnTo>
                  <a:lnTo>
                    <a:pt x="10930975" y="926598"/>
                  </a:lnTo>
                  <a:lnTo>
                    <a:pt x="10912433" y="938987"/>
                  </a:lnTo>
                  <a:lnTo>
                    <a:pt x="10903984" y="94297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15974" y="3793626"/>
            <a:ext cx="224790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390" b="1">
                <a:solidFill>
                  <a:srgbClr val="FCECD2"/>
                </a:solidFill>
                <a:latin typeface="Verdana"/>
                <a:cs typeface="Verdana"/>
              </a:rPr>
              <a:t>3</a:t>
            </a:r>
            <a:endParaRPr sz="26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49375" y="3828385"/>
            <a:ext cx="8494395" cy="6502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150" spc="-95" b="1">
                <a:solidFill>
                  <a:srgbClr val="1B3258"/>
                </a:solidFill>
                <a:latin typeface="Verdana"/>
                <a:cs typeface="Verdana"/>
              </a:rPr>
              <a:t>Negotiate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0" b="1">
                <a:solidFill>
                  <a:srgbClr val="1B3258"/>
                </a:solidFill>
                <a:latin typeface="Verdana"/>
                <a:cs typeface="Verdana"/>
              </a:rPr>
              <a:t>for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Deli</a:t>
            </a:r>
            <a:r>
              <a:rPr dirty="0" sz="1100" spc="-110" b="1">
                <a:solidFill>
                  <a:srgbClr val="1B3258"/>
                </a:solidFill>
                <a:latin typeface="Verdana"/>
                <a:cs typeface="Verdana"/>
              </a:rPr>
              <a:t>v</a:t>
            </a: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er</a:t>
            </a:r>
            <a:r>
              <a:rPr dirty="0" sz="1100" spc="-110" b="1">
                <a:solidFill>
                  <a:srgbClr val="1B3258"/>
                </a:solidFill>
                <a:latin typeface="Verdana"/>
                <a:cs typeface="Verdana"/>
              </a:rPr>
              <a:t>y</a:t>
            </a:r>
            <a:r>
              <a:rPr dirty="0" sz="110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Da</a:t>
            </a:r>
            <a:r>
              <a:rPr dirty="0" sz="1100" spc="-135" b="1">
                <a:solidFill>
                  <a:srgbClr val="1B3258"/>
                </a:solidFill>
                <a:latin typeface="Verdana"/>
                <a:cs typeface="Verdana"/>
              </a:rPr>
              <a:t>y</a:t>
            </a:r>
            <a:r>
              <a:rPr dirty="0" sz="1100" spc="-17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90" b="1">
                <a:solidFill>
                  <a:srgbClr val="1B3258"/>
                </a:solidFill>
                <a:latin typeface="Verdana"/>
                <a:cs typeface="Verdana"/>
              </a:rPr>
              <a:t>Fle</a:t>
            </a:r>
            <a:r>
              <a:rPr dirty="0" sz="1100" spc="-90" b="1">
                <a:solidFill>
                  <a:srgbClr val="1B3258"/>
                </a:solidFill>
                <a:latin typeface="Verdana"/>
                <a:cs typeface="Verdana"/>
              </a:rPr>
              <a:t>x</a:t>
            </a:r>
            <a:r>
              <a:rPr dirty="0" sz="1150" spc="-90" b="1">
                <a:solidFill>
                  <a:srgbClr val="1B3258"/>
                </a:solidFill>
                <a:latin typeface="Verdana"/>
                <a:cs typeface="Verdana"/>
              </a:rPr>
              <a:t>ibilit</a:t>
            </a:r>
            <a:r>
              <a:rPr dirty="0" sz="1100" spc="-90" b="1">
                <a:solidFill>
                  <a:srgbClr val="1B3258"/>
                </a:solidFill>
                <a:latin typeface="Verdana"/>
                <a:cs typeface="Verdana"/>
              </a:rPr>
              <a:t>y</a:t>
            </a:r>
            <a:r>
              <a:rPr dirty="0" sz="1100" spc="-1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—</a:t>
            </a:r>
            <a:r>
              <a:rPr dirty="0" sz="1150" spc="-22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50" b="1">
                <a:solidFill>
                  <a:srgbClr val="1B3258"/>
                </a:solidFill>
                <a:latin typeface="Verdana"/>
                <a:cs typeface="Verdana"/>
              </a:rPr>
              <a:t>E</a:t>
            </a:r>
            <a:r>
              <a:rPr dirty="0" sz="1100" spc="-150" b="1">
                <a:solidFill>
                  <a:srgbClr val="1B3258"/>
                </a:solidFill>
                <a:latin typeface="Verdana"/>
                <a:cs typeface="Verdana"/>
              </a:rPr>
              <a:t>v</a:t>
            </a:r>
            <a:r>
              <a:rPr dirty="0" sz="1150" spc="-150" b="1">
                <a:solidFill>
                  <a:srgbClr val="1B3258"/>
                </a:solidFill>
                <a:latin typeface="Verdana"/>
                <a:cs typeface="Verdana"/>
              </a:rPr>
              <a:t>en</a:t>
            </a:r>
            <a:r>
              <a:rPr dirty="0" sz="1150" spc="-114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Partial</a:t>
            </a:r>
            <a:r>
              <a:rPr dirty="0" sz="1150" spc="-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90" b="1">
                <a:solidFill>
                  <a:srgbClr val="1B3258"/>
                </a:solidFill>
                <a:latin typeface="Verdana"/>
                <a:cs typeface="Verdana"/>
              </a:rPr>
              <a:t>Is</a:t>
            </a:r>
            <a:r>
              <a:rPr dirty="0" sz="1150" spc="-15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Val</a:t>
            </a:r>
            <a:r>
              <a:rPr dirty="0" sz="1100" spc="-10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able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9000"/>
              </a:lnSpc>
              <a:spcBef>
                <a:spcPts val="130"/>
              </a:spcBef>
            </a:pPr>
            <a:r>
              <a:rPr dirty="0" sz="1050" spc="-75">
                <a:solidFill>
                  <a:srgbClr val="768499"/>
                </a:solidFill>
                <a:latin typeface="Microsoft Sans Serif"/>
                <a:cs typeface="Microsoft Sans Serif"/>
              </a:rPr>
              <a:t>Full</a:t>
            </a:r>
            <a:r>
              <a:rPr dirty="0" sz="1050" spc="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schedule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relaxation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(Q3)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5">
                <a:solidFill>
                  <a:srgbClr val="768499"/>
                </a:solidFill>
                <a:latin typeface="Microsoft Sans Serif"/>
                <a:cs typeface="Microsoft Sans Serif"/>
              </a:rPr>
              <a:t>saves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90">
                <a:solidFill>
                  <a:srgbClr val="768499"/>
                </a:solidFill>
                <a:latin typeface="Microsoft Sans Serif"/>
                <a:cs typeface="Microsoft Sans Serif"/>
              </a:rPr>
              <a:t>28.6%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mileage.</a:t>
            </a:r>
            <a:r>
              <a:rPr dirty="0" sz="105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95">
                <a:solidFill>
                  <a:srgbClr val="768499"/>
                </a:solidFill>
                <a:latin typeface="Microsoft Sans Serif"/>
                <a:cs typeface="Microsoft Sans Serif"/>
              </a:rPr>
              <a:t>Even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allowing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35">
                <a:solidFill>
                  <a:srgbClr val="768499"/>
                </a:solidFill>
                <a:latin typeface="Microsoft Sans Serif"/>
                <a:cs typeface="Microsoft Sans Serif"/>
              </a:rPr>
              <a:t>2–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3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days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flexibility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could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capture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15–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20%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5">
                <a:solidFill>
                  <a:srgbClr val="768499"/>
                </a:solidFill>
                <a:latin typeface="Microsoft Sans Serif"/>
                <a:cs typeface="Microsoft Sans Serif"/>
              </a:rPr>
              <a:t>savings.</a:t>
            </a:r>
            <a:r>
              <a:rPr dirty="0" sz="1050" spc="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0">
                <a:solidFill>
                  <a:srgbClr val="768499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single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highest-leverage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operational</a:t>
            </a:r>
            <a:r>
              <a:rPr dirty="0" sz="1050" spc="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change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25">
                <a:solidFill>
                  <a:srgbClr val="768499"/>
                </a:solidFill>
                <a:latin typeface="Microsoft Sans Serif"/>
                <a:cs typeface="Microsoft Sans Serif"/>
              </a:rPr>
              <a:t>NHG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can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make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in-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house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or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with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MAD.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391774" y="4095740"/>
            <a:ext cx="971550" cy="219710"/>
            <a:chOff x="10391774" y="4095740"/>
            <a:chExt cx="971550" cy="219710"/>
          </a:xfrm>
        </p:grpSpPr>
        <p:sp>
          <p:nvSpPr>
            <p:cNvPr id="32" name="object 32"/>
            <p:cNvSpPr/>
            <p:nvPr/>
          </p:nvSpPr>
          <p:spPr>
            <a:xfrm>
              <a:off x="10391774" y="4095740"/>
              <a:ext cx="971550" cy="219075"/>
            </a:xfrm>
            <a:custGeom>
              <a:avLst/>
              <a:gdLst/>
              <a:ahLst/>
              <a:cxnLst/>
              <a:rect l="l" t="t" r="r" b="b"/>
              <a:pathLst>
                <a:path w="971550" h="219075">
                  <a:moveTo>
                    <a:pt x="8620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7" y="206125"/>
                  </a:lnTo>
                  <a:lnTo>
                    <a:pt x="24819" y="178993"/>
                  </a:lnTo>
                  <a:lnTo>
                    <a:pt x="4688" y="141286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79" y="24820"/>
                  </a:lnTo>
                  <a:lnTo>
                    <a:pt x="77786" y="4690"/>
                  </a:lnTo>
                  <a:lnTo>
                    <a:pt x="109537" y="0"/>
                  </a:lnTo>
                  <a:lnTo>
                    <a:pt x="862012" y="0"/>
                  </a:lnTo>
                  <a:lnTo>
                    <a:pt x="903929" y="8337"/>
                  </a:lnTo>
                  <a:lnTo>
                    <a:pt x="939466" y="32082"/>
                  </a:lnTo>
                  <a:lnTo>
                    <a:pt x="963210" y="67618"/>
                  </a:lnTo>
                  <a:lnTo>
                    <a:pt x="971549" y="109537"/>
                  </a:lnTo>
                  <a:lnTo>
                    <a:pt x="971028" y="120327"/>
                  </a:lnTo>
                  <a:lnTo>
                    <a:pt x="958599" y="161225"/>
                  </a:lnTo>
                  <a:lnTo>
                    <a:pt x="931468" y="194253"/>
                  </a:lnTo>
                  <a:lnTo>
                    <a:pt x="893761" y="214384"/>
                  </a:lnTo>
                  <a:lnTo>
                    <a:pt x="862012" y="219074"/>
                  </a:lnTo>
                  <a:close/>
                </a:path>
              </a:pathLst>
            </a:custGeom>
            <a:solidFill>
              <a:srgbClr val="008159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391774" y="4095750"/>
              <a:ext cx="971550" cy="219075"/>
            </a:xfrm>
            <a:custGeom>
              <a:avLst/>
              <a:gdLst/>
              <a:ahLst/>
              <a:cxnLst/>
              <a:rect l="l" t="t" r="r" b="b"/>
              <a:pathLst>
                <a:path w="971550" h="219075">
                  <a:moveTo>
                    <a:pt x="862012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7" y="206125"/>
                  </a:lnTo>
                  <a:lnTo>
                    <a:pt x="24819" y="178993"/>
                  </a:lnTo>
                  <a:lnTo>
                    <a:pt x="4688" y="141286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79" y="24820"/>
                  </a:lnTo>
                  <a:lnTo>
                    <a:pt x="77786" y="4690"/>
                  </a:lnTo>
                  <a:lnTo>
                    <a:pt x="109537" y="0"/>
                  </a:lnTo>
                  <a:lnTo>
                    <a:pt x="862012" y="0"/>
                  </a:lnTo>
                  <a:lnTo>
                    <a:pt x="903929" y="8337"/>
                  </a:lnTo>
                  <a:lnTo>
                    <a:pt x="906444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0" y="153877"/>
                  </a:lnTo>
                  <a:lnTo>
                    <a:pt x="29923" y="170404"/>
                  </a:lnTo>
                  <a:lnTo>
                    <a:pt x="30028" y="170561"/>
                  </a:lnTo>
                  <a:lnTo>
                    <a:pt x="59433" y="196343"/>
                  </a:lnTo>
                  <a:lnTo>
                    <a:pt x="96466" y="208909"/>
                  </a:lnTo>
                  <a:lnTo>
                    <a:pt x="102970" y="209549"/>
                  </a:lnTo>
                  <a:lnTo>
                    <a:pt x="906443" y="209549"/>
                  </a:lnTo>
                  <a:lnTo>
                    <a:pt x="903929" y="210736"/>
                  </a:lnTo>
                  <a:lnTo>
                    <a:pt x="893761" y="214384"/>
                  </a:lnTo>
                  <a:lnTo>
                    <a:pt x="883385" y="216990"/>
                  </a:lnTo>
                  <a:lnTo>
                    <a:pt x="872802" y="218553"/>
                  </a:lnTo>
                  <a:lnTo>
                    <a:pt x="862012" y="219074"/>
                  </a:lnTo>
                  <a:close/>
                </a:path>
                <a:path w="971550" h="219075">
                  <a:moveTo>
                    <a:pt x="906443" y="209549"/>
                  </a:moveTo>
                  <a:lnTo>
                    <a:pt x="868579" y="209549"/>
                  </a:lnTo>
                  <a:lnTo>
                    <a:pt x="875083" y="208909"/>
                  </a:lnTo>
                  <a:lnTo>
                    <a:pt x="887964" y="206347"/>
                  </a:lnTo>
                  <a:lnTo>
                    <a:pt x="923036" y="189046"/>
                  </a:lnTo>
                  <a:lnTo>
                    <a:pt x="948817" y="159641"/>
                  </a:lnTo>
                  <a:lnTo>
                    <a:pt x="961384" y="122608"/>
                  </a:lnTo>
                  <a:lnTo>
                    <a:pt x="962024" y="116104"/>
                  </a:lnTo>
                  <a:lnTo>
                    <a:pt x="962024" y="102970"/>
                  </a:lnTo>
                  <a:lnTo>
                    <a:pt x="951898" y="65197"/>
                  </a:lnTo>
                  <a:lnTo>
                    <a:pt x="928088" y="34174"/>
                  </a:lnTo>
                  <a:lnTo>
                    <a:pt x="894218" y="14624"/>
                  </a:lnTo>
                  <a:lnTo>
                    <a:pt x="868579" y="9524"/>
                  </a:lnTo>
                  <a:lnTo>
                    <a:pt x="906444" y="9524"/>
                  </a:lnTo>
                  <a:lnTo>
                    <a:pt x="939467" y="32082"/>
                  </a:lnTo>
                  <a:lnTo>
                    <a:pt x="963210" y="67618"/>
                  </a:lnTo>
                  <a:lnTo>
                    <a:pt x="971549" y="109537"/>
                  </a:lnTo>
                  <a:lnTo>
                    <a:pt x="971028" y="120327"/>
                  </a:lnTo>
                  <a:lnTo>
                    <a:pt x="958599" y="161225"/>
                  </a:lnTo>
                  <a:lnTo>
                    <a:pt x="931468" y="194253"/>
                  </a:lnTo>
                  <a:lnTo>
                    <a:pt x="913699" y="206125"/>
                  </a:lnTo>
                  <a:lnTo>
                    <a:pt x="906443" y="209549"/>
                  </a:lnTo>
                  <a:close/>
                </a:path>
              </a:pathLst>
            </a:custGeom>
            <a:solidFill>
              <a:srgbClr val="008159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0487421" y="4127512"/>
            <a:ext cx="772160" cy="143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spc="-30" b="1">
                <a:solidFill>
                  <a:srgbClr val="098F60"/>
                </a:solidFill>
                <a:latin typeface="Arial"/>
                <a:cs typeface="Arial"/>
              </a:rPr>
              <a:t>H</a:t>
            </a:r>
            <a:r>
              <a:rPr dirty="0" sz="750" spc="-8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098F60"/>
                </a:solidFill>
                <a:latin typeface="Arial"/>
                <a:cs typeface="Arial"/>
              </a:rPr>
              <a:t>I</a:t>
            </a:r>
            <a:r>
              <a:rPr dirty="0" sz="750" spc="-4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098F60"/>
                </a:solidFill>
                <a:latin typeface="Arial"/>
                <a:cs typeface="Arial"/>
              </a:rPr>
              <a:t>G</a:t>
            </a:r>
            <a:r>
              <a:rPr dirty="0" sz="750" spc="-10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H</a:t>
            </a:r>
            <a:r>
              <a:rPr dirty="0" sz="750" spc="229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70" b="1">
                <a:solidFill>
                  <a:srgbClr val="098F60"/>
                </a:solidFill>
                <a:latin typeface="Arial"/>
                <a:cs typeface="Arial"/>
              </a:rPr>
              <a:t>I</a:t>
            </a:r>
            <a:r>
              <a:rPr dirty="0" sz="750" spc="-5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M</a:t>
            </a:r>
            <a:r>
              <a:rPr dirty="0" sz="750" spc="-9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20" b="1">
                <a:solidFill>
                  <a:srgbClr val="098F60"/>
                </a:solidFill>
                <a:latin typeface="Arial"/>
                <a:cs typeface="Arial"/>
              </a:rPr>
              <a:t>PACT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9599" y="4829165"/>
            <a:ext cx="10972800" cy="953135"/>
            <a:chOff x="609599" y="4829165"/>
            <a:chExt cx="10972800" cy="953135"/>
          </a:xfrm>
        </p:grpSpPr>
        <p:sp>
          <p:nvSpPr>
            <p:cNvPr id="36" name="object 36"/>
            <p:cNvSpPr/>
            <p:nvPr/>
          </p:nvSpPr>
          <p:spPr>
            <a:xfrm>
              <a:off x="609599" y="4829165"/>
              <a:ext cx="10972800" cy="952500"/>
            </a:xfrm>
            <a:custGeom>
              <a:avLst/>
              <a:gdLst/>
              <a:ahLst/>
              <a:cxnLst/>
              <a:rect l="l" t="t" r="r" b="b"/>
              <a:pathLst>
                <a:path w="10972800" h="952500">
                  <a:moveTo>
                    <a:pt x="10858499" y="952499"/>
                  </a:moveTo>
                  <a:lnTo>
                    <a:pt x="114299" y="952499"/>
                  </a:lnTo>
                  <a:lnTo>
                    <a:pt x="103040" y="951955"/>
                  </a:lnTo>
                  <a:lnTo>
                    <a:pt x="60364" y="938987"/>
                  </a:lnTo>
                  <a:lnTo>
                    <a:pt x="25900" y="910675"/>
                  </a:lnTo>
                  <a:lnTo>
                    <a:pt x="4893" y="871329"/>
                  </a:lnTo>
                  <a:lnTo>
                    <a:pt x="0" y="8381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58499" y="0"/>
                  </a:lnTo>
                  <a:lnTo>
                    <a:pt x="10902238" y="8700"/>
                  </a:lnTo>
                  <a:lnTo>
                    <a:pt x="10939321" y="33477"/>
                  </a:lnTo>
                  <a:lnTo>
                    <a:pt x="10964098" y="70558"/>
                  </a:lnTo>
                  <a:lnTo>
                    <a:pt x="10972799" y="114299"/>
                  </a:lnTo>
                  <a:lnTo>
                    <a:pt x="10972799" y="838199"/>
                  </a:lnTo>
                  <a:lnTo>
                    <a:pt x="10964098" y="881940"/>
                  </a:lnTo>
                  <a:lnTo>
                    <a:pt x="10939321" y="919021"/>
                  </a:lnTo>
                  <a:lnTo>
                    <a:pt x="10902238" y="943798"/>
                  </a:lnTo>
                  <a:lnTo>
                    <a:pt x="10858499" y="952499"/>
                  </a:lnTo>
                  <a:close/>
                </a:path>
              </a:pathLst>
            </a:custGeom>
            <a:solidFill>
              <a:srgbClr val="162E52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09599" y="4829175"/>
              <a:ext cx="10972800" cy="952500"/>
            </a:xfrm>
            <a:custGeom>
              <a:avLst/>
              <a:gdLst/>
              <a:ahLst/>
              <a:cxnLst/>
              <a:rect l="l" t="t" r="r" b="b"/>
              <a:pathLst>
                <a:path w="10972800" h="952500">
                  <a:moveTo>
                    <a:pt x="10858499" y="952499"/>
                  </a:moveTo>
                  <a:lnTo>
                    <a:pt x="114299" y="952499"/>
                  </a:lnTo>
                  <a:lnTo>
                    <a:pt x="103040" y="951955"/>
                  </a:lnTo>
                  <a:lnTo>
                    <a:pt x="60364" y="938987"/>
                  </a:lnTo>
                  <a:lnTo>
                    <a:pt x="25900" y="910675"/>
                  </a:lnTo>
                  <a:lnTo>
                    <a:pt x="4893" y="871329"/>
                  </a:lnTo>
                  <a:lnTo>
                    <a:pt x="0" y="8381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58499" y="0"/>
                  </a:lnTo>
                  <a:lnTo>
                    <a:pt x="10902239" y="8700"/>
                  </a:lnTo>
                  <a:lnTo>
                    <a:pt x="10903987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45079"/>
                  </a:lnTo>
                  <a:lnTo>
                    <a:pt x="20133" y="884651"/>
                  </a:lnTo>
                  <a:lnTo>
                    <a:pt x="45077" y="917151"/>
                  </a:lnTo>
                  <a:lnTo>
                    <a:pt x="80560" y="937631"/>
                  </a:lnTo>
                  <a:lnTo>
                    <a:pt x="107420" y="942974"/>
                  </a:lnTo>
                  <a:lnTo>
                    <a:pt x="10903985" y="942974"/>
                  </a:lnTo>
                  <a:lnTo>
                    <a:pt x="10902239" y="943798"/>
                  </a:lnTo>
                  <a:lnTo>
                    <a:pt x="10891628" y="947605"/>
                  </a:lnTo>
                  <a:lnTo>
                    <a:pt x="10880801" y="950324"/>
                  </a:lnTo>
                  <a:lnTo>
                    <a:pt x="10869758" y="951955"/>
                  </a:lnTo>
                  <a:lnTo>
                    <a:pt x="10858499" y="952499"/>
                  </a:lnTo>
                  <a:close/>
                </a:path>
                <a:path w="10972800" h="952500">
                  <a:moveTo>
                    <a:pt x="10903985" y="942974"/>
                  </a:moveTo>
                  <a:lnTo>
                    <a:pt x="10865379" y="942974"/>
                  </a:lnTo>
                  <a:lnTo>
                    <a:pt x="10872192" y="942303"/>
                  </a:lnTo>
                  <a:lnTo>
                    <a:pt x="10885686" y="939619"/>
                  </a:lnTo>
                  <a:lnTo>
                    <a:pt x="10922428" y="921494"/>
                  </a:lnTo>
                  <a:lnTo>
                    <a:pt x="10949437" y="890689"/>
                  </a:lnTo>
                  <a:lnTo>
                    <a:pt x="10962602" y="851892"/>
                  </a:lnTo>
                  <a:lnTo>
                    <a:pt x="10963274" y="845079"/>
                  </a:lnTo>
                  <a:lnTo>
                    <a:pt x="10963274" y="107420"/>
                  </a:lnTo>
                  <a:lnTo>
                    <a:pt x="10952665" y="67848"/>
                  </a:lnTo>
                  <a:lnTo>
                    <a:pt x="10927721" y="35348"/>
                  </a:lnTo>
                  <a:lnTo>
                    <a:pt x="10892238" y="14867"/>
                  </a:lnTo>
                  <a:lnTo>
                    <a:pt x="10865379" y="9524"/>
                  </a:lnTo>
                  <a:lnTo>
                    <a:pt x="10903987" y="9524"/>
                  </a:lnTo>
                  <a:lnTo>
                    <a:pt x="10939321" y="33477"/>
                  </a:lnTo>
                  <a:lnTo>
                    <a:pt x="10964098" y="70558"/>
                  </a:lnTo>
                  <a:lnTo>
                    <a:pt x="10972799" y="114299"/>
                  </a:lnTo>
                  <a:lnTo>
                    <a:pt x="10972799" y="838199"/>
                  </a:lnTo>
                  <a:lnTo>
                    <a:pt x="10972255" y="849459"/>
                  </a:lnTo>
                  <a:lnTo>
                    <a:pt x="10959287" y="892134"/>
                  </a:lnTo>
                  <a:lnTo>
                    <a:pt x="10930975" y="926599"/>
                  </a:lnTo>
                  <a:lnTo>
                    <a:pt x="10912433" y="938987"/>
                  </a:lnTo>
                  <a:lnTo>
                    <a:pt x="10903985" y="942974"/>
                  </a:lnTo>
                  <a:close/>
                </a:path>
              </a:pathLst>
            </a:custGeom>
            <a:solidFill>
              <a:srgbClr val="162E52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815974" y="4898526"/>
            <a:ext cx="247015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00" b="1">
                <a:solidFill>
                  <a:srgbClr val="FCECD2"/>
                </a:solidFill>
                <a:latin typeface="Verdana"/>
                <a:cs typeface="Verdana"/>
              </a:rPr>
              <a:t>4</a:t>
            </a:r>
            <a:endParaRPr sz="265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49375" y="4933285"/>
            <a:ext cx="8599805" cy="6502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150" spc="-130" b="1">
                <a:solidFill>
                  <a:srgbClr val="1B3258"/>
                </a:solidFill>
                <a:latin typeface="Verdana"/>
                <a:cs typeface="Verdana"/>
              </a:rPr>
              <a:t>Target</a:t>
            </a:r>
            <a:r>
              <a:rPr dirty="0" sz="1150" spc="-14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00" spc="-130" b="1">
                <a:solidFill>
                  <a:srgbClr val="1B3258"/>
                </a:solidFill>
                <a:latin typeface="Verdana"/>
                <a:cs typeface="Verdana"/>
              </a:rPr>
              <a:t>2</a:t>
            </a:r>
            <a:r>
              <a:rPr dirty="0" sz="1150" spc="-130" b="1">
                <a:solidFill>
                  <a:srgbClr val="1B3258"/>
                </a:solidFill>
                <a:latin typeface="Verdana"/>
                <a:cs typeface="Verdana"/>
              </a:rPr>
              <a:t>49,</a:t>
            </a:r>
            <a:r>
              <a:rPr dirty="0" sz="1100" spc="-130" b="1">
                <a:solidFill>
                  <a:srgbClr val="1B3258"/>
                </a:solidFill>
                <a:latin typeface="Verdana"/>
                <a:cs typeface="Verdana"/>
              </a:rPr>
              <a:t>2</a:t>
            </a:r>
            <a:r>
              <a:rPr dirty="0" sz="1150" spc="-130" b="1">
                <a:solidFill>
                  <a:srgbClr val="1B3258"/>
                </a:solidFill>
                <a:latin typeface="Verdana"/>
                <a:cs typeface="Verdana"/>
              </a:rPr>
              <a:t>36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Ann</a:t>
            </a:r>
            <a:r>
              <a:rPr dirty="0" sz="1100" spc="-135" b="1">
                <a:solidFill>
                  <a:srgbClr val="1B3258"/>
                </a:solidFill>
                <a:latin typeface="Verdana"/>
                <a:cs typeface="Verdana"/>
              </a:rPr>
              <a:t>u</a:t>
            </a:r>
            <a:r>
              <a:rPr dirty="0" sz="1150" spc="-135" b="1">
                <a:solidFill>
                  <a:srgbClr val="1B3258"/>
                </a:solidFill>
                <a:latin typeface="Verdana"/>
                <a:cs typeface="Verdana"/>
              </a:rPr>
              <a:t>al</a:t>
            </a:r>
            <a:r>
              <a:rPr dirty="0" sz="1150" spc="-6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90" b="1">
                <a:solidFill>
                  <a:srgbClr val="1B3258"/>
                </a:solidFill>
                <a:latin typeface="Verdana"/>
                <a:cs typeface="Verdana"/>
              </a:rPr>
              <a:t>Miles</a:t>
            </a:r>
            <a:r>
              <a:rPr dirty="0" sz="1150" spc="-155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as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10" b="1">
                <a:solidFill>
                  <a:srgbClr val="1B3258"/>
                </a:solidFill>
                <a:latin typeface="Verdana"/>
                <a:cs typeface="Verdana"/>
              </a:rPr>
              <a:t>the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25" b="1">
                <a:solidFill>
                  <a:srgbClr val="1B3258"/>
                </a:solidFill>
                <a:latin typeface="Verdana"/>
                <a:cs typeface="Verdana"/>
              </a:rPr>
              <a:t>Long-</a:t>
            </a:r>
            <a:r>
              <a:rPr dirty="0" sz="1150" spc="-165" b="1">
                <a:solidFill>
                  <a:srgbClr val="1B3258"/>
                </a:solidFill>
                <a:latin typeface="Verdana"/>
                <a:cs typeface="Verdana"/>
              </a:rPr>
              <a:t>Term</a:t>
            </a:r>
            <a:r>
              <a:rPr dirty="0" sz="1150" spc="-160" b="1">
                <a:solidFill>
                  <a:srgbClr val="1B3258"/>
                </a:solidFill>
                <a:latin typeface="Verdana"/>
                <a:cs typeface="Verdana"/>
              </a:rPr>
              <a:t> </a:t>
            </a:r>
            <a:r>
              <a:rPr dirty="0" sz="1150" spc="-10" b="1">
                <a:solidFill>
                  <a:srgbClr val="1B3258"/>
                </a:solidFill>
                <a:latin typeface="Verdana"/>
                <a:cs typeface="Verdana"/>
              </a:rPr>
              <a:t>Benchmark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19000"/>
              </a:lnSpc>
              <a:spcBef>
                <a:spcPts val="130"/>
              </a:spcBef>
            </a:pP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Q3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demonstrates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249,236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768499"/>
                </a:solidFill>
                <a:latin typeface="Microsoft Sans Serif"/>
                <a:cs typeface="Microsoft Sans Serif"/>
              </a:rPr>
              <a:t>annual</a:t>
            </a:r>
            <a:r>
              <a:rPr dirty="0" sz="1050" spc="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miles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768499"/>
                </a:solidFill>
                <a:latin typeface="Microsoft Sans Serif"/>
                <a:cs typeface="Microsoft Sans Serif"/>
              </a:rPr>
              <a:t>achievable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with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schedule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flexibility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 alone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0">
                <a:solidFill>
                  <a:srgbClr val="76849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no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capital</a:t>
            </a:r>
            <a:r>
              <a:rPr dirty="0" sz="1050" spc="3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investment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68499"/>
                </a:solidFill>
                <a:latin typeface="Microsoft Sans Serif"/>
                <a:cs typeface="Microsoft Sans Serif"/>
              </a:rPr>
              <a:t>required.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Set</a:t>
            </a:r>
            <a:r>
              <a:rPr dirty="0" sz="1050" spc="-1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this </a:t>
            </a:r>
            <a:r>
              <a:rPr dirty="0" sz="1050" spc="-80">
                <a:solidFill>
                  <a:srgbClr val="768499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768499"/>
                </a:solidFill>
                <a:latin typeface="Microsoft Sans Serif"/>
                <a:cs typeface="Microsoft Sans Serif"/>
              </a:rPr>
              <a:t>3-</a:t>
            </a:r>
            <a:r>
              <a:rPr dirty="0" sz="1050" spc="-55">
                <a:solidFill>
                  <a:srgbClr val="768499"/>
                </a:solidFill>
                <a:latin typeface="Microsoft Sans Serif"/>
                <a:cs typeface="Microsoft Sans Serif"/>
              </a:rPr>
              <a:t>year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distribution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efficiency</a:t>
            </a:r>
            <a:r>
              <a:rPr dirty="0" sz="1050" spc="-30">
                <a:solidFill>
                  <a:srgbClr val="768499"/>
                </a:solidFill>
                <a:latin typeface="Microsoft Sans Serif"/>
                <a:cs typeface="Microsoft Sans Serif"/>
              </a:rPr>
              <a:t> target,</a:t>
            </a:r>
            <a:r>
              <a:rPr dirty="0" sz="1050" spc="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768499"/>
                </a:solidFill>
                <a:latin typeface="Microsoft Sans Serif"/>
                <a:cs typeface="Microsoft Sans Serif"/>
              </a:rPr>
              <a:t>use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it</a:t>
            </a:r>
            <a:r>
              <a:rPr dirty="0" sz="1050" spc="1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evaluate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768499"/>
                </a:solidFill>
                <a:latin typeface="Microsoft Sans Serif"/>
                <a:cs typeface="Microsoft Sans Serif"/>
              </a:rPr>
              <a:t>MAD</a:t>
            </a:r>
            <a:r>
              <a:rPr dirty="0" sz="1050" spc="-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768499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105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68499"/>
                </a:solidFill>
                <a:latin typeface="Microsoft Sans Serif"/>
                <a:cs typeface="Microsoft Sans Serif"/>
              </a:rPr>
              <a:t>contractually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68499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25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0">
                <a:solidFill>
                  <a:srgbClr val="768499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20">
                <a:solidFill>
                  <a:srgbClr val="76849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68499"/>
                </a:solidFill>
                <a:latin typeface="Microsoft Sans Serif"/>
                <a:cs typeface="Microsoft Sans Serif"/>
              </a:rPr>
              <a:t>quarterly </a:t>
            </a:r>
            <a:r>
              <a:rPr dirty="0" sz="1050" spc="-10">
                <a:solidFill>
                  <a:srgbClr val="768499"/>
                </a:solidFill>
                <a:latin typeface="Microsoft Sans Serif"/>
                <a:cs typeface="Microsoft Sans Serif"/>
              </a:rPr>
              <a:t>basis.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0458449" y="5200640"/>
            <a:ext cx="904875" cy="219710"/>
            <a:chOff x="10458449" y="5200640"/>
            <a:chExt cx="904875" cy="219710"/>
          </a:xfrm>
        </p:grpSpPr>
        <p:sp>
          <p:nvSpPr>
            <p:cNvPr id="41" name="object 41"/>
            <p:cNvSpPr/>
            <p:nvPr/>
          </p:nvSpPr>
          <p:spPr>
            <a:xfrm>
              <a:off x="10458449" y="5200640"/>
              <a:ext cx="904875" cy="219075"/>
            </a:xfrm>
            <a:custGeom>
              <a:avLst/>
              <a:gdLst/>
              <a:ahLst/>
              <a:cxnLst/>
              <a:rect l="l" t="t" r="r" b="b"/>
              <a:pathLst>
                <a:path w="904875" h="219075">
                  <a:moveTo>
                    <a:pt x="795337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7" y="206125"/>
                  </a:lnTo>
                  <a:lnTo>
                    <a:pt x="24819" y="178992"/>
                  </a:lnTo>
                  <a:lnTo>
                    <a:pt x="4689" y="141286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79" y="24820"/>
                  </a:lnTo>
                  <a:lnTo>
                    <a:pt x="77785" y="4690"/>
                  </a:lnTo>
                  <a:lnTo>
                    <a:pt x="109537" y="0"/>
                  </a:lnTo>
                  <a:lnTo>
                    <a:pt x="795337" y="0"/>
                  </a:lnTo>
                  <a:lnTo>
                    <a:pt x="837254" y="8337"/>
                  </a:lnTo>
                  <a:lnTo>
                    <a:pt x="872791" y="32082"/>
                  </a:lnTo>
                  <a:lnTo>
                    <a:pt x="896535" y="67619"/>
                  </a:lnTo>
                  <a:lnTo>
                    <a:pt x="904874" y="109537"/>
                  </a:lnTo>
                  <a:lnTo>
                    <a:pt x="904353" y="120327"/>
                  </a:lnTo>
                  <a:lnTo>
                    <a:pt x="891924" y="161224"/>
                  </a:lnTo>
                  <a:lnTo>
                    <a:pt x="864793" y="194252"/>
                  </a:lnTo>
                  <a:lnTo>
                    <a:pt x="827086" y="214384"/>
                  </a:lnTo>
                  <a:lnTo>
                    <a:pt x="795337" y="219074"/>
                  </a:lnTo>
                  <a:close/>
                </a:path>
              </a:pathLst>
            </a:custGeom>
            <a:solidFill>
              <a:srgbClr val="008159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458449" y="5200650"/>
              <a:ext cx="904875" cy="219075"/>
            </a:xfrm>
            <a:custGeom>
              <a:avLst/>
              <a:gdLst/>
              <a:ahLst/>
              <a:cxnLst/>
              <a:rect l="l" t="t" r="r" b="b"/>
              <a:pathLst>
                <a:path w="904875" h="219075">
                  <a:moveTo>
                    <a:pt x="795337" y="219074"/>
                  </a:moveTo>
                  <a:lnTo>
                    <a:pt x="109537" y="219074"/>
                  </a:lnTo>
                  <a:lnTo>
                    <a:pt x="98746" y="218553"/>
                  </a:lnTo>
                  <a:lnTo>
                    <a:pt x="57847" y="206125"/>
                  </a:lnTo>
                  <a:lnTo>
                    <a:pt x="24819" y="178992"/>
                  </a:lnTo>
                  <a:lnTo>
                    <a:pt x="18558" y="170561"/>
                  </a:lnTo>
                  <a:lnTo>
                    <a:pt x="18441" y="170403"/>
                  </a:lnTo>
                  <a:lnTo>
                    <a:pt x="2083" y="130910"/>
                  </a:lnTo>
                  <a:lnTo>
                    <a:pt x="0" y="109537"/>
                  </a:lnTo>
                  <a:lnTo>
                    <a:pt x="520" y="98746"/>
                  </a:lnTo>
                  <a:lnTo>
                    <a:pt x="12947" y="57849"/>
                  </a:lnTo>
                  <a:lnTo>
                    <a:pt x="40079" y="24820"/>
                  </a:lnTo>
                  <a:lnTo>
                    <a:pt x="77785" y="4690"/>
                  </a:lnTo>
                  <a:lnTo>
                    <a:pt x="109537" y="0"/>
                  </a:lnTo>
                  <a:lnTo>
                    <a:pt x="795337" y="0"/>
                  </a:lnTo>
                  <a:lnTo>
                    <a:pt x="837254" y="8337"/>
                  </a:lnTo>
                  <a:lnTo>
                    <a:pt x="839769" y="9524"/>
                  </a:lnTo>
                  <a:lnTo>
                    <a:pt x="102970" y="9524"/>
                  </a:lnTo>
                  <a:lnTo>
                    <a:pt x="96466" y="10165"/>
                  </a:lnTo>
                  <a:lnTo>
                    <a:pt x="59433" y="22731"/>
                  </a:lnTo>
                  <a:lnTo>
                    <a:pt x="30028" y="48513"/>
                  </a:lnTo>
                  <a:lnTo>
                    <a:pt x="12727" y="83585"/>
                  </a:lnTo>
                  <a:lnTo>
                    <a:pt x="9524" y="102970"/>
                  </a:lnTo>
                  <a:lnTo>
                    <a:pt x="9524" y="116104"/>
                  </a:lnTo>
                  <a:lnTo>
                    <a:pt x="19650" y="153877"/>
                  </a:lnTo>
                  <a:lnTo>
                    <a:pt x="43461" y="184900"/>
                  </a:lnTo>
                  <a:lnTo>
                    <a:pt x="77331" y="204449"/>
                  </a:lnTo>
                  <a:lnTo>
                    <a:pt x="102970" y="209549"/>
                  </a:lnTo>
                  <a:lnTo>
                    <a:pt x="839767" y="209549"/>
                  </a:lnTo>
                  <a:lnTo>
                    <a:pt x="837254" y="210736"/>
                  </a:lnTo>
                  <a:lnTo>
                    <a:pt x="827086" y="214384"/>
                  </a:lnTo>
                  <a:lnTo>
                    <a:pt x="816710" y="216990"/>
                  </a:lnTo>
                  <a:lnTo>
                    <a:pt x="806127" y="218553"/>
                  </a:lnTo>
                  <a:lnTo>
                    <a:pt x="795337" y="219074"/>
                  </a:lnTo>
                  <a:close/>
                </a:path>
                <a:path w="904875" h="219075">
                  <a:moveTo>
                    <a:pt x="839767" y="209549"/>
                  </a:moveTo>
                  <a:lnTo>
                    <a:pt x="801904" y="209549"/>
                  </a:lnTo>
                  <a:lnTo>
                    <a:pt x="808407" y="208909"/>
                  </a:lnTo>
                  <a:lnTo>
                    <a:pt x="821289" y="206347"/>
                  </a:lnTo>
                  <a:lnTo>
                    <a:pt x="856361" y="189046"/>
                  </a:lnTo>
                  <a:lnTo>
                    <a:pt x="882142" y="159641"/>
                  </a:lnTo>
                  <a:lnTo>
                    <a:pt x="894709" y="122608"/>
                  </a:lnTo>
                  <a:lnTo>
                    <a:pt x="895349" y="116104"/>
                  </a:lnTo>
                  <a:lnTo>
                    <a:pt x="895349" y="102970"/>
                  </a:lnTo>
                  <a:lnTo>
                    <a:pt x="885223" y="65197"/>
                  </a:lnTo>
                  <a:lnTo>
                    <a:pt x="861413" y="34174"/>
                  </a:lnTo>
                  <a:lnTo>
                    <a:pt x="827543" y="14624"/>
                  </a:lnTo>
                  <a:lnTo>
                    <a:pt x="801904" y="9524"/>
                  </a:lnTo>
                  <a:lnTo>
                    <a:pt x="839769" y="9524"/>
                  </a:lnTo>
                  <a:lnTo>
                    <a:pt x="872792" y="32082"/>
                  </a:lnTo>
                  <a:lnTo>
                    <a:pt x="896535" y="67619"/>
                  </a:lnTo>
                  <a:lnTo>
                    <a:pt x="904874" y="109537"/>
                  </a:lnTo>
                  <a:lnTo>
                    <a:pt x="904353" y="120327"/>
                  </a:lnTo>
                  <a:lnTo>
                    <a:pt x="891924" y="161224"/>
                  </a:lnTo>
                  <a:lnTo>
                    <a:pt x="864793" y="194252"/>
                  </a:lnTo>
                  <a:lnTo>
                    <a:pt x="847024" y="206125"/>
                  </a:lnTo>
                  <a:lnTo>
                    <a:pt x="839767" y="209549"/>
                  </a:lnTo>
                  <a:close/>
                </a:path>
              </a:pathLst>
            </a:custGeom>
            <a:solidFill>
              <a:srgbClr val="008159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0552310" y="5232412"/>
            <a:ext cx="704850" cy="143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LON</a:t>
            </a:r>
            <a:r>
              <a:rPr dirty="0" sz="750" spc="-65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098F60"/>
                </a:solidFill>
                <a:latin typeface="Arial"/>
                <a:cs typeface="Arial"/>
              </a:rPr>
              <a:t>G</a:t>
            </a:r>
            <a:r>
              <a:rPr dirty="0" sz="750" spc="-8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145" b="1">
                <a:solidFill>
                  <a:srgbClr val="098F60"/>
                </a:solidFill>
                <a:latin typeface="Arial"/>
                <a:cs typeface="Arial"/>
              </a:rPr>
              <a:t>-</a:t>
            </a:r>
            <a:r>
              <a:rPr dirty="0" sz="750" spc="-9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098F60"/>
                </a:solidFill>
                <a:latin typeface="Arial"/>
                <a:cs typeface="Arial"/>
              </a:rPr>
              <a:t>TE</a:t>
            </a:r>
            <a:r>
              <a:rPr dirty="0" sz="750" spc="-60" b="1">
                <a:solidFill>
                  <a:srgbClr val="098F60"/>
                </a:solidFill>
                <a:latin typeface="Arial"/>
                <a:cs typeface="Arial"/>
              </a:rPr>
              <a:t> </a:t>
            </a:r>
            <a:r>
              <a:rPr dirty="0" sz="750" spc="-75" b="1">
                <a:solidFill>
                  <a:srgbClr val="098F60"/>
                </a:solidFill>
                <a:latin typeface="Arial"/>
                <a:cs typeface="Arial"/>
              </a:rPr>
              <a:t>R </a:t>
            </a:r>
            <a:r>
              <a:rPr dirty="0" sz="750" spc="-50" b="1">
                <a:solidFill>
                  <a:srgbClr val="098F60"/>
                </a:solidFill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0"/>
              </a:lnSpc>
            </a:pPr>
            <a:fld id="{81D60167-4931-47E6-BA6A-407CBD079E47}" type="slidenum">
              <a:rPr dirty="0" spc="-320"/>
              <a:t>10</a:t>
            </a:fld>
            <a:r>
              <a:rPr dirty="0" spc="-114"/>
              <a:t> </a:t>
            </a:r>
            <a:r>
              <a:rPr dirty="0" spc="-260"/>
              <a:t>/</a:t>
            </a:r>
            <a:r>
              <a:rPr dirty="0" spc="-120"/>
              <a:t> </a:t>
            </a:r>
            <a:r>
              <a:rPr dirty="0" spc="-25"/>
              <a:t>15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0"/>
              </a:lnSpc>
            </a:pPr>
            <a:r>
              <a:rPr dirty="0" spc="-85"/>
              <a:t>I</a:t>
            </a:r>
            <a:r>
              <a:rPr dirty="0" spc="-80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 spc="100"/>
              <a:t>7200</a:t>
            </a:r>
            <a:r>
              <a:rPr dirty="0" spc="130"/>
              <a:t> </a:t>
            </a:r>
            <a:r>
              <a:rPr dirty="0"/>
              <a:t>·</a:t>
            </a:r>
            <a:r>
              <a:rPr dirty="0" spc="165"/>
              <a:t> </a:t>
            </a:r>
            <a:r>
              <a:rPr dirty="0"/>
              <a:t>NHG</a:t>
            </a:r>
            <a:r>
              <a:rPr dirty="0" spc="135"/>
              <a:t> </a:t>
            </a:r>
            <a:r>
              <a:rPr dirty="0"/>
              <a:t>VRP</a:t>
            </a:r>
            <a:r>
              <a:rPr dirty="0" spc="125"/>
              <a:t> </a:t>
            </a:r>
            <a:r>
              <a:rPr dirty="0" spc="50"/>
              <a:t>Anal</a:t>
            </a:r>
            <a:r>
              <a:rPr dirty="0" spc="-85"/>
              <a:t> </a:t>
            </a:r>
            <a:r>
              <a:rPr dirty="0" spc="50"/>
              <a:t>ysi</a:t>
            </a:r>
            <a:r>
              <a:rPr dirty="0" spc="-90"/>
              <a:t> </a:t>
            </a:r>
            <a:r>
              <a:rPr dirty="0" spc="-50"/>
              <a:t>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12192000" cy="6858000"/>
            <a:chOff x="0" y="-3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816849" cy="6857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4661" y="1421638"/>
              <a:ext cx="6387337" cy="54363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229224" y="1781174"/>
              <a:ext cx="1733550" cy="266700"/>
            </a:xfrm>
            <a:custGeom>
              <a:avLst/>
              <a:gdLst/>
              <a:ahLst/>
              <a:cxnLst/>
              <a:rect l="l" t="t" r="r" b="b"/>
              <a:pathLst>
                <a:path w="1733550" h="266700">
                  <a:moveTo>
                    <a:pt x="1600199" y="266699"/>
                  </a:moveTo>
                  <a:lnTo>
                    <a:pt x="133349" y="266699"/>
                  </a:lnTo>
                  <a:lnTo>
                    <a:pt x="120213" y="266065"/>
                  </a:lnTo>
                  <a:lnTo>
                    <a:pt x="82318" y="256548"/>
                  </a:lnTo>
                  <a:lnTo>
                    <a:pt x="48793" y="236482"/>
                  </a:lnTo>
                  <a:lnTo>
                    <a:pt x="22451" y="207449"/>
                  </a:lnTo>
                  <a:lnTo>
                    <a:pt x="5709" y="172001"/>
                  </a:lnTo>
                  <a:lnTo>
                    <a:pt x="0" y="133349"/>
                  </a:lnTo>
                  <a:lnTo>
                    <a:pt x="634" y="120213"/>
                  </a:lnTo>
                  <a:lnTo>
                    <a:pt x="10150" y="82318"/>
                  </a:lnTo>
                  <a:lnTo>
                    <a:pt x="30216" y="48794"/>
                  </a:lnTo>
                  <a:lnTo>
                    <a:pt x="59249" y="22452"/>
                  </a:lnTo>
                  <a:lnTo>
                    <a:pt x="94697" y="5709"/>
                  </a:lnTo>
                  <a:lnTo>
                    <a:pt x="133349" y="0"/>
                  </a:lnTo>
                  <a:lnTo>
                    <a:pt x="1600199" y="0"/>
                  </a:lnTo>
                  <a:lnTo>
                    <a:pt x="1638850" y="5709"/>
                  </a:lnTo>
                  <a:lnTo>
                    <a:pt x="1674298" y="22452"/>
                  </a:lnTo>
                  <a:lnTo>
                    <a:pt x="1703332" y="48794"/>
                  </a:lnTo>
                  <a:lnTo>
                    <a:pt x="1723398" y="82318"/>
                  </a:lnTo>
                  <a:lnTo>
                    <a:pt x="1732915" y="120213"/>
                  </a:lnTo>
                  <a:lnTo>
                    <a:pt x="1733549" y="133349"/>
                  </a:lnTo>
                  <a:lnTo>
                    <a:pt x="1732915" y="146486"/>
                  </a:lnTo>
                  <a:lnTo>
                    <a:pt x="1723398" y="184380"/>
                  </a:lnTo>
                  <a:lnTo>
                    <a:pt x="1703332" y="217905"/>
                  </a:lnTo>
                  <a:lnTo>
                    <a:pt x="1674298" y="244247"/>
                  </a:lnTo>
                  <a:lnTo>
                    <a:pt x="1638850" y="260989"/>
                  </a:lnTo>
                  <a:lnTo>
                    <a:pt x="1600199" y="266699"/>
                  </a:lnTo>
                  <a:close/>
                </a:path>
              </a:pathLst>
            </a:custGeom>
            <a:solidFill>
              <a:srgbClr val="C77D09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229225" y="1781174"/>
              <a:ext cx="1733550" cy="266700"/>
            </a:xfrm>
            <a:custGeom>
              <a:avLst/>
              <a:gdLst/>
              <a:ahLst/>
              <a:cxnLst/>
              <a:rect l="l" t="t" r="r" b="b"/>
              <a:pathLst>
                <a:path w="1733550" h="266700">
                  <a:moveTo>
                    <a:pt x="1600199" y="266699"/>
                  </a:moveTo>
                  <a:lnTo>
                    <a:pt x="133349" y="266699"/>
                  </a:lnTo>
                  <a:lnTo>
                    <a:pt x="120213" y="266065"/>
                  </a:lnTo>
                  <a:lnTo>
                    <a:pt x="82318" y="256548"/>
                  </a:lnTo>
                  <a:lnTo>
                    <a:pt x="48793" y="236482"/>
                  </a:lnTo>
                  <a:lnTo>
                    <a:pt x="22451" y="207449"/>
                  </a:lnTo>
                  <a:lnTo>
                    <a:pt x="5709" y="172001"/>
                  </a:lnTo>
                  <a:lnTo>
                    <a:pt x="0" y="133349"/>
                  </a:lnTo>
                  <a:lnTo>
                    <a:pt x="634" y="120213"/>
                  </a:lnTo>
                  <a:lnTo>
                    <a:pt x="10150" y="82318"/>
                  </a:lnTo>
                  <a:lnTo>
                    <a:pt x="30216" y="48794"/>
                  </a:lnTo>
                  <a:lnTo>
                    <a:pt x="59249" y="22452"/>
                  </a:lnTo>
                  <a:lnTo>
                    <a:pt x="94697" y="5709"/>
                  </a:lnTo>
                  <a:lnTo>
                    <a:pt x="133349" y="0"/>
                  </a:lnTo>
                  <a:lnTo>
                    <a:pt x="1600199" y="0"/>
                  </a:lnTo>
                  <a:lnTo>
                    <a:pt x="1613335" y="634"/>
                  </a:lnTo>
                  <a:lnTo>
                    <a:pt x="1626219" y="2537"/>
                  </a:lnTo>
                  <a:lnTo>
                    <a:pt x="1638850" y="5709"/>
                  </a:lnTo>
                  <a:lnTo>
                    <a:pt x="1649486" y="9524"/>
                  </a:lnTo>
                  <a:lnTo>
                    <a:pt x="125219" y="9524"/>
                  </a:lnTo>
                  <a:lnTo>
                    <a:pt x="117167" y="10318"/>
                  </a:lnTo>
                  <a:lnTo>
                    <a:pt x="78452" y="22061"/>
                  </a:lnTo>
                  <a:lnTo>
                    <a:pt x="40043" y="51541"/>
                  </a:lnTo>
                  <a:lnTo>
                    <a:pt x="15839" y="93475"/>
                  </a:lnTo>
                  <a:lnTo>
                    <a:pt x="9524" y="125219"/>
                  </a:lnTo>
                  <a:lnTo>
                    <a:pt x="9524" y="141480"/>
                  </a:lnTo>
                  <a:lnTo>
                    <a:pt x="22061" y="188247"/>
                  </a:lnTo>
                  <a:lnTo>
                    <a:pt x="51541" y="226656"/>
                  </a:lnTo>
                  <a:lnTo>
                    <a:pt x="93475" y="250860"/>
                  </a:lnTo>
                  <a:lnTo>
                    <a:pt x="125219" y="257174"/>
                  </a:lnTo>
                  <a:lnTo>
                    <a:pt x="1649485" y="257174"/>
                  </a:lnTo>
                  <a:lnTo>
                    <a:pt x="1638850" y="260989"/>
                  </a:lnTo>
                  <a:lnTo>
                    <a:pt x="1626219" y="264162"/>
                  </a:lnTo>
                  <a:lnTo>
                    <a:pt x="1613335" y="266065"/>
                  </a:lnTo>
                  <a:lnTo>
                    <a:pt x="1600199" y="266699"/>
                  </a:lnTo>
                  <a:close/>
                </a:path>
                <a:path w="1733550" h="266700">
                  <a:moveTo>
                    <a:pt x="1649485" y="257174"/>
                  </a:moveTo>
                  <a:lnTo>
                    <a:pt x="1608330" y="257174"/>
                  </a:lnTo>
                  <a:lnTo>
                    <a:pt x="1616382" y="256381"/>
                  </a:lnTo>
                  <a:lnTo>
                    <a:pt x="1632330" y="253209"/>
                  </a:lnTo>
                  <a:lnTo>
                    <a:pt x="1675753" y="231789"/>
                  </a:lnTo>
                  <a:lnTo>
                    <a:pt x="1707673" y="195383"/>
                  </a:lnTo>
                  <a:lnTo>
                    <a:pt x="1723231" y="149532"/>
                  </a:lnTo>
                  <a:lnTo>
                    <a:pt x="1724024" y="141480"/>
                  </a:lnTo>
                  <a:lnTo>
                    <a:pt x="1724024" y="125219"/>
                  </a:lnTo>
                  <a:lnTo>
                    <a:pt x="1711487" y="78452"/>
                  </a:lnTo>
                  <a:lnTo>
                    <a:pt x="1682008" y="40043"/>
                  </a:lnTo>
                  <a:lnTo>
                    <a:pt x="1639824" y="15763"/>
                  </a:lnTo>
                  <a:lnTo>
                    <a:pt x="1608330" y="9524"/>
                  </a:lnTo>
                  <a:lnTo>
                    <a:pt x="1649486" y="9524"/>
                  </a:lnTo>
                  <a:lnTo>
                    <a:pt x="1684754" y="30216"/>
                  </a:lnTo>
                  <a:lnTo>
                    <a:pt x="1711096" y="59250"/>
                  </a:lnTo>
                  <a:lnTo>
                    <a:pt x="1727839" y="94698"/>
                  </a:lnTo>
                  <a:lnTo>
                    <a:pt x="1733549" y="133349"/>
                  </a:lnTo>
                  <a:lnTo>
                    <a:pt x="1732915" y="146486"/>
                  </a:lnTo>
                  <a:lnTo>
                    <a:pt x="1723398" y="184380"/>
                  </a:lnTo>
                  <a:lnTo>
                    <a:pt x="1703332" y="217905"/>
                  </a:lnTo>
                  <a:lnTo>
                    <a:pt x="1674298" y="244247"/>
                  </a:lnTo>
                  <a:lnTo>
                    <a:pt x="1651230" y="256548"/>
                  </a:lnTo>
                  <a:lnTo>
                    <a:pt x="1649485" y="257174"/>
                  </a:lnTo>
                  <a:close/>
                </a:path>
              </a:pathLst>
            </a:custGeom>
            <a:solidFill>
              <a:srgbClr val="C77D09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378598" y="1830749"/>
            <a:ext cx="141986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80" b="1">
                <a:solidFill>
                  <a:srgbClr val="C87D09"/>
                </a:solidFill>
                <a:latin typeface="Arial"/>
                <a:cs typeface="Arial"/>
              </a:rPr>
              <a:t>I </a:t>
            </a:r>
            <a:r>
              <a:rPr dirty="0" sz="850" b="1">
                <a:solidFill>
                  <a:srgbClr val="C87D09"/>
                </a:solidFill>
                <a:latin typeface="Arial"/>
                <a:cs typeface="Arial"/>
              </a:rPr>
              <a:t>E</a:t>
            </a:r>
            <a:r>
              <a:rPr dirty="0" sz="850" spc="11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850" spc="114" b="1">
                <a:solidFill>
                  <a:srgbClr val="C87D09"/>
                </a:solidFill>
                <a:latin typeface="Arial"/>
                <a:cs typeface="Arial"/>
              </a:rPr>
              <a:t>7200</a:t>
            </a:r>
            <a:r>
              <a:rPr dirty="0" sz="850" spc="145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C87D09"/>
                </a:solidFill>
                <a:latin typeface="Arial"/>
                <a:cs typeface="Arial"/>
              </a:rPr>
              <a:t>·</a:t>
            </a:r>
            <a:r>
              <a:rPr dirty="0" sz="850" spc="18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850" spc="-85" b="1">
                <a:solidFill>
                  <a:srgbClr val="C87D09"/>
                </a:solidFill>
                <a:latin typeface="Arial"/>
                <a:cs typeface="Arial"/>
              </a:rPr>
              <a:t>S</a:t>
            </a:r>
            <a:r>
              <a:rPr dirty="0" sz="850" spc="-13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850" spc="-40" b="1">
                <a:solidFill>
                  <a:srgbClr val="C87D09"/>
                </a:solidFill>
                <a:latin typeface="Arial"/>
                <a:cs typeface="Arial"/>
              </a:rPr>
              <a:t>PR</a:t>
            </a:r>
            <a:r>
              <a:rPr dirty="0" sz="850" spc="-13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850" spc="-80" b="1">
                <a:solidFill>
                  <a:srgbClr val="C87D09"/>
                </a:solidFill>
                <a:latin typeface="Arial"/>
                <a:cs typeface="Arial"/>
              </a:rPr>
              <a:t>I </a:t>
            </a:r>
            <a:r>
              <a:rPr dirty="0" sz="850" spc="-40" b="1">
                <a:solidFill>
                  <a:srgbClr val="C87D09"/>
                </a:solidFill>
                <a:latin typeface="Arial"/>
                <a:cs typeface="Arial"/>
              </a:rPr>
              <a:t>N</a:t>
            </a:r>
            <a:r>
              <a:rPr dirty="0" sz="850" spc="-114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C87D09"/>
                </a:solidFill>
                <a:latin typeface="Arial"/>
                <a:cs typeface="Arial"/>
              </a:rPr>
              <a:t>G</a:t>
            </a:r>
            <a:r>
              <a:rPr dirty="0" sz="850" spc="150" b="1">
                <a:solidFill>
                  <a:srgbClr val="C87D09"/>
                </a:solidFill>
                <a:latin typeface="Arial"/>
                <a:cs typeface="Arial"/>
              </a:rPr>
              <a:t> </a:t>
            </a:r>
            <a:r>
              <a:rPr dirty="0" sz="850" spc="85" b="1">
                <a:solidFill>
                  <a:srgbClr val="C87D09"/>
                </a:solidFill>
                <a:latin typeface="Arial"/>
                <a:cs typeface="Arial"/>
              </a:rPr>
              <a:t>2026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170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710"/>
              </a:spcBef>
            </a:pPr>
            <a:r>
              <a:rPr dirty="0" spc="-434"/>
              <a:t>Thank</a:t>
            </a:r>
            <a:r>
              <a:rPr dirty="0" spc="-880"/>
              <a:t> </a:t>
            </a:r>
            <a:r>
              <a:rPr dirty="0" spc="-865"/>
              <a:t>Y</a:t>
            </a:r>
            <a:r>
              <a:rPr dirty="0" spc="-459"/>
              <a:t>o</a:t>
            </a:r>
            <a:r>
              <a:rPr dirty="0" sz="4050" spc="-340"/>
              <a:t>u</a:t>
            </a:r>
            <a:endParaRPr sz="4050"/>
          </a:p>
          <a:p>
            <a:pPr marL="24130">
              <a:lnSpc>
                <a:spcPct val="100000"/>
              </a:lnSpc>
              <a:spcBef>
                <a:spcPts val="615"/>
              </a:spcBef>
            </a:pPr>
            <a:r>
              <a:rPr dirty="0" spc="-365">
                <a:solidFill>
                  <a:srgbClr val="C87D09"/>
                </a:solidFill>
              </a:rPr>
              <a:t>Q</a:t>
            </a:r>
            <a:r>
              <a:rPr dirty="0" sz="4050" spc="-365">
                <a:solidFill>
                  <a:srgbClr val="C87D09"/>
                </a:solidFill>
              </a:rPr>
              <a:t>u</a:t>
            </a:r>
            <a:r>
              <a:rPr dirty="0" spc="-365">
                <a:solidFill>
                  <a:srgbClr val="C87D09"/>
                </a:solidFill>
              </a:rPr>
              <a:t>estions?</a:t>
            </a:r>
            <a:endParaRPr sz="4050"/>
          </a:p>
        </p:txBody>
      </p:sp>
      <p:sp>
        <p:nvSpPr>
          <p:cNvPr id="10" name="object 10"/>
          <p:cNvSpPr txBox="1"/>
          <p:nvPr/>
        </p:nvSpPr>
        <p:spPr>
          <a:xfrm>
            <a:off x="3865760" y="3724452"/>
            <a:ext cx="4458970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89584">
              <a:lnSpc>
                <a:spcPct val="135000"/>
              </a:lnSpc>
              <a:spcBef>
                <a:spcPts val="95"/>
              </a:spcBef>
            </a:pPr>
            <a:r>
              <a:rPr dirty="0" sz="1250" spc="-80">
                <a:solidFill>
                  <a:srgbClr val="8F9BAC"/>
                </a:solidFill>
                <a:latin typeface="Microsoft Sans Serif"/>
                <a:cs typeface="Microsoft Sans Serif"/>
              </a:rPr>
              <a:t>NHG</a:t>
            </a:r>
            <a:r>
              <a:rPr dirty="0" sz="1250" spc="-2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8F9BAC"/>
                </a:solidFill>
                <a:latin typeface="Microsoft Sans Serif"/>
                <a:cs typeface="Microsoft Sans Serif"/>
              </a:rPr>
              <a:t>Growing</a:t>
            </a:r>
            <a:r>
              <a:rPr dirty="0" sz="1250" spc="-5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65">
                <a:solidFill>
                  <a:srgbClr val="8F9BAC"/>
                </a:solidFill>
                <a:latin typeface="Microsoft Sans Serif"/>
                <a:cs typeface="Microsoft Sans Serif"/>
              </a:rPr>
              <a:t>Pains:</a:t>
            </a:r>
            <a:r>
              <a:rPr dirty="0" sz="1250" spc="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8F9BAC"/>
                </a:solidFill>
                <a:latin typeface="Microsoft Sans Serif"/>
                <a:cs typeface="Microsoft Sans Serif"/>
              </a:rPr>
              <a:t>Vehicle</a:t>
            </a:r>
            <a:r>
              <a:rPr dirty="0" sz="1250" spc="-2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20">
                <a:solidFill>
                  <a:srgbClr val="8F9BAC"/>
                </a:solidFill>
                <a:latin typeface="Microsoft Sans Serif"/>
                <a:cs typeface="Microsoft Sans Serif"/>
              </a:rPr>
              <a:t>Routing</a:t>
            </a:r>
            <a:r>
              <a:rPr dirty="0" sz="1250" spc="-4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8F9BAC"/>
                </a:solidFill>
                <a:latin typeface="Microsoft Sans Serif"/>
                <a:cs typeface="Microsoft Sans Serif"/>
              </a:rPr>
              <a:t>Optimization </a:t>
            </a:r>
            <a:r>
              <a:rPr dirty="0" sz="1250">
                <a:solidFill>
                  <a:srgbClr val="8F9BAC"/>
                </a:solidFill>
                <a:latin typeface="Microsoft Sans Serif"/>
                <a:cs typeface="Microsoft Sans Serif"/>
              </a:rPr>
              <a:t>Capacitated</a:t>
            </a:r>
            <a:r>
              <a:rPr dirty="0" sz="1250" spc="4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25">
                <a:solidFill>
                  <a:srgbClr val="8F9BAC"/>
                </a:solidFill>
                <a:latin typeface="Microsoft Sans Serif"/>
                <a:cs typeface="Microsoft Sans Serif"/>
              </a:rPr>
              <a:t>VRP</a:t>
            </a:r>
            <a:r>
              <a:rPr dirty="0" sz="1250" spc="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8F9BAC"/>
                </a:solidFill>
                <a:latin typeface="Microsoft Sans Serif"/>
                <a:cs typeface="Microsoft Sans Serif"/>
              </a:rPr>
              <a:t>with</a:t>
            </a:r>
            <a:r>
              <a:rPr dirty="0" sz="1250" spc="4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8F9BAC"/>
                </a:solidFill>
                <a:latin typeface="Microsoft Sans Serif"/>
                <a:cs typeface="Microsoft Sans Serif"/>
              </a:rPr>
              <a:t>Time</a:t>
            </a:r>
            <a:r>
              <a:rPr dirty="0" sz="1250" spc="15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8F9BAC"/>
                </a:solidFill>
                <a:latin typeface="Microsoft Sans Serif"/>
                <a:cs typeface="Microsoft Sans Serif"/>
              </a:rPr>
              <a:t>Windows</a:t>
            </a:r>
            <a:r>
              <a:rPr dirty="0" sz="1250" spc="3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60">
                <a:solidFill>
                  <a:srgbClr val="8F9BAC"/>
                </a:solidFill>
                <a:latin typeface="Microsoft Sans Serif"/>
                <a:cs typeface="Microsoft Sans Serif"/>
              </a:rPr>
              <a:t>·</a:t>
            </a:r>
            <a:r>
              <a:rPr dirty="0" sz="1250" spc="6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8F9BAC"/>
                </a:solidFill>
                <a:latin typeface="Microsoft Sans Serif"/>
                <a:cs typeface="Microsoft Sans Serif"/>
              </a:rPr>
              <a:t>Three-</a:t>
            </a:r>
            <a:r>
              <a:rPr dirty="0" sz="1250" spc="-10">
                <a:solidFill>
                  <a:srgbClr val="8F9BAC"/>
                </a:solidFill>
                <a:latin typeface="Microsoft Sans Serif"/>
                <a:cs typeface="Microsoft Sans Serif"/>
              </a:rPr>
              <a:t>Scenario</a:t>
            </a:r>
            <a:r>
              <a:rPr dirty="0" sz="1250" spc="20">
                <a:solidFill>
                  <a:srgbClr val="8F9BAC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25">
                <a:solidFill>
                  <a:srgbClr val="8F9BAC"/>
                </a:solidFill>
                <a:latin typeface="Microsoft Sans Serif"/>
                <a:cs typeface="Microsoft Sans Serif"/>
              </a:rPr>
              <a:t>Analysis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32695" y="4508015"/>
            <a:ext cx="758190" cy="5537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300" spc="-340" b="1">
                <a:solidFill>
                  <a:srgbClr val="0086A7"/>
                </a:solidFill>
                <a:latin typeface="Verdana"/>
                <a:cs typeface="Verdana"/>
              </a:rPr>
              <a:t>6,714</a:t>
            </a:r>
            <a:endParaRPr sz="2300">
              <a:latin typeface="Verdana"/>
              <a:cs typeface="Verdana"/>
            </a:endParaRPr>
          </a:p>
          <a:p>
            <a:pPr marL="38735">
              <a:lnSpc>
                <a:spcPct val="100000"/>
              </a:lnSpc>
              <a:spcBef>
                <a:spcPts val="140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Q</a:t>
            </a:r>
            <a:r>
              <a:rPr dirty="0" sz="750" spc="-10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60">
                <a:solidFill>
                  <a:srgbClr val="798FAC"/>
                </a:solidFill>
                <a:latin typeface="Microsoft Sans Serif"/>
                <a:cs typeface="Microsoft Sans Serif"/>
              </a:rPr>
              <a:t>1</a:t>
            </a:r>
            <a:r>
              <a:rPr dirty="0" sz="750" spc="14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M</a:t>
            </a:r>
            <a:r>
              <a:rPr dirty="0" sz="750" spc="-8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95">
                <a:solidFill>
                  <a:srgbClr val="798FAC"/>
                </a:solidFill>
                <a:latin typeface="Microsoft Sans Serif"/>
                <a:cs typeface="Microsoft Sans Serif"/>
              </a:rPr>
              <a:t>I</a:t>
            </a:r>
            <a:r>
              <a:rPr dirty="0" sz="750" spc="-4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80">
                <a:solidFill>
                  <a:srgbClr val="798FAC"/>
                </a:solidFill>
                <a:latin typeface="Microsoft Sans Serif"/>
                <a:cs typeface="Microsoft Sans Serif"/>
              </a:rPr>
              <a:t>/</a:t>
            </a:r>
            <a:r>
              <a:rPr dirty="0" sz="750" spc="-9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WE</a:t>
            </a:r>
            <a:r>
              <a:rPr dirty="0" sz="750" spc="-8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90">
                <a:solidFill>
                  <a:srgbClr val="798FAC"/>
                </a:solidFill>
                <a:latin typeface="Microsoft Sans Serif"/>
                <a:cs typeface="Microsoft Sans Serif"/>
              </a:rPr>
              <a:t>E</a:t>
            </a:r>
            <a:r>
              <a:rPr dirty="0" sz="750" spc="-8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50">
                <a:solidFill>
                  <a:srgbClr val="798FAC"/>
                </a:solidFill>
                <a:latin typeface="Microsoft Sans Serif"/>
                <a:cs typeface="Microsoft Sans Serif"/>
              </a:rPr>
              <a:t>K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91037" y="4600575"/>
            <a:ext cx="2495550" cy="476250"/>
          </a:xfrm>
          <a:custGeom>
            <a:avLst/>
            <a:gdLst/>
            <a:ahLst/>
            <a:cxnLst/>
            <a:rect l="l" t="t" r="r" b="b"/>
            <a:pathLst>
              <a:path w="2495550" h="476250">
                <a:moveTo>
                  <a:pt x="9525" y="0"/>
                </a:moveTo>
                <a:lnTo>
                  <a:pt x="0" y="0"/>
                </a:lnTo>
                <a:lnTo>
                  <a:pt x="0" y="476250"/>
                </a:lnTo>
                <a:lnTo>
                  <a:pt x="9525" y="476250"/>
                </a:lnTo>
                <a:lnTo>
                  <a:pt x="9525" y="0"/>
                </a:lnTo>
                <a:close/>
              </a:path>
              <a:path w="2495550" h="476250">
                <a:moveTo>
                  <a:pt x="1257300" y="0"/>
                </a:moveTo>
                <a:lnTo>
                  <a:pt x="1247775" y="0"/>
                </a:lnTo>
                <a:lnTo>
                  <a:pt x="1247775" y="476250"/>
                </a:lnTo>
                <a:lnTo>
                  <a:pt x="1257300" y="476250"/>
                </a:lnTo>
                <a:lnTo>
                  <a:pt x="1257300" y="0"/>
                </a:lnTo>
                <a:close/>
              </a:path>
              <a:path w="2495550" h="476250">
                <a:moveTo>
                  <a:pt x="2495550" y="0"/>
                </a:moveTo>
                <a:lnTo>
                  <a:pt x="2486025" y="0"/>
                </a:lnTo>
                <a:lnTo>
                  <a:pt x="2486025" y="476250"/>
                </a:lnTo>
                <a:lnTo>
                  <a:pt x="2495550" y="476250"/>
                </a:lnTo>
                <a:lnTo>
                  <a:pt x="2495550" y="0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20046" y="4508015"/>
            <a:ext cx="811530" cy="5537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300" spc="-235" b="1">
                <a:solidFill>
                  <a:srgbClr val="C87D09"/>
                </a:solidFill>
                <a:latin typeface="Verdana"/>
                <a:cs typeface="Verdana"/>
              </a:rPr>
              <a:t>7,584</a:t>
            </a:r>
            <a:endParaRPr sz="2300">
              <a:latin typeface="Verdana"/>
              <a:cs typeface="Verdana"/>
            </a:endParaRPr>
          </a:p>
          <a:p>
            <a:pPr marL="53340">
              <a:lnSpc>
                <a:spcPct val="100000"/>
              </a:lnSpc>
              <a:spcBef>
                <a:spcPts val="140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Q</a:t>
            </a:r>
            <a:r>
              <a:rPr dirty="0" sz="750" spc="-10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2</a:t>
            </a:r>
            <a:r>
              <a:rPr dirty="0" sz="750" spc="24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M</a:t>
            </a:r>
            <a:r>
              <a:rPr dirty="0" sz="750" spc="-8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95">
                <a:solidFill>
                  <a:srgbClr val="798FAC"/>
                </a:solidFill>
                <a:latin typeface="Microsoft Sans Serif"/>
                <a:cs typeface="Microsoft Sans Serif"/>
              </a:rPr>
              <a:t>I</a:t>
            </a:r>
            <a:r>
              <a:rPr dirty="0" sz="750" spc="-3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80">
                <a:solidFill>
                  <a:srgbClr val="798FAC"/>
                </a:solidFill>
                <a:latin typeface="Microsoft Sans Serif"/>
                <a:cs typeface="Microsoft Sans Serif"/>
              </a:rPr>
              <a:t>/</a:t>
            </a:r>
            <a:r>
              <a:rPr dirty="0" sz="750" spc="-8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WE</a:t>
            </a:r>
            <a:r>
              <a:rPr dirty="0" sz="750" spc="-7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90">
                <a:solidFill>
                  <a:srgbClr val="798FAC"/>
                </a:solidFill>
                <a:latin typeface="Microsoft Sans Serif"/>
                <a:cs typeface="Microsoft Sans Serif"/>
              </a:rPr>
              <a:t>E</a:t>
            </a:r>
            <a:r>
              <a:rPr dirty="0" sz="750" spc="-7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50">
                <a:solidFill>
                  <a:srgbClr val="798FAC"/>
                </a:solidFill>
                <a:latin typeface="Microsoft Sans Serif"/>
                <a:cs typeface="Microsoft Sans Serif"/>
              </a:rPr>
              <a:t>K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61273" y="4508015"/>
            <a:ext cx="805815" cy="5537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300" spc="-265" b="1">
                <a:solidFill>
                  <a:srgbClr val="098F60"/>
                </a:solidFill>
                <a:latin typeface="Verdana"/>
                <a:cs typeface="Verdana"/>
              </a:rPr>
              <a:t>4,793</a:t>
            </a:r>
            <a:endParaRPr sz="2300">
              <a:latin typeface="Verdana"/>
              <a:cs typeface="Verdana"/>
            </a:endParaRPr>
          </a:p>
          <a:p>
            <a:pPr marL="53340">
              <a:lnSpc>
                <a:spcPct val="100000"/>
              </a:lnSpc>
              <a:spcBef>
                <a:spcPts val="140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Q</a:t>
            </a:r>
            <a:r>
              <a:rPr dirty="0" sz="750" spc="-10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3</a:t>
            </a:r>
            <a:r>
              <a:rPr dirty="0" sz="750" spc="26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M</a:t>
            </a:r>
            <a:r>
              <a:rPr dirty="0" sz="750" spc="-8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95">
                <a:solidFill>
                  <a:srgbClr val="798FAC"/>
                </a:solidFill>
                <a:latin typeface="Microsoft Sans Serif"/>
                <a:cs typeface="Microsoft Sans Serif"/>
              </a:rPr>
              <a:t>I</a:t>
            </a:r>
            <a:r>
              <a:rPr dirty="0" sz="750" spc="-3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80">
                <a:solidFill>
                  <a:srgbClr val="798FAC"/>
                </a:solidFill>
                <a:latin typeface="Microsoft Sans Serif"/>
                <a:cs typeface="Microsoft Sans Serif"/>
              </a:rPr>
              <a:t>/</a:t>
            </a:r>
            <a:r>
              <a:rPr dirty="0" sz="750" spc="-8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WE</a:t>
            </a:r>
            <a:r>
              <a:rPr dirty="0" sz="750" spc="-7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90">
                <a:solidFill>
                  <a:srgbClr val="798FAC"/>
                </a:solidFill>
                <a:latin typeface="Microsoft Sans Serif"/>
                <a:cs typeface="Microsoft Sans Serif"/>
              </a:rPr>
              <a:t>E</a:t>
            </a:r>
            <a:r>
              <a:rPr dirty="0" sz="750" spc="-7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50">
                <a:solidFill>
                  <a:srgbClr val="798FAC"/>
                </a:solidFill>
                <a:latin typeface="Microsoft Sans Serif"/>
                <a:cs typeface="Microsoft Sans Serif"/>
              </a:rPr>
              <a:t>K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04136" y="4508015"/>
            <a:ext cx="1242060" cy="5537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algn="ctr" marL="14604">
              <a:lnSpc>
                <a:spcPct val="100000"/>
              </a:lnSpc>
              <a:spcBef>
                <a:spcPts val="450"/>
              </a:spcBef>
            </a:pPr>
            <a:r>
              <a:rPr dirty="0" sz="2300" spc="-55" b="1">
                <a:solidFill>
                  <a:srgbClr val="8B2EC8"/>
                </a:solidFill>
                <a:latin typeface="Verdana"/>
                <a:cs typeface="Verdana"/>
              </a:rPr>
              <a:t>99,89</a:t>
            </a:r>
            <a:r>
              <a:rPr dirty="0" sz="2250" spc="-55" b="1">
                <a:solidFill>
                  <a:srgbClr val="8B2EC8"/>
                </a:solidFill>
                <a:latin typeface="Verdana"/>
                <a:cs typeface="Verdana"/>
              </a:rPr>
              <a:t>2</a:t>
            </a:r>
            <a:endParaRPr sz="22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AN</a:t>
            </a:r>
            <a:r>
              <a:rPr dirty="0" sz="750" spc="-6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45">
                <a:solidFill>
                  <a:srgbClr val="798FAC"/>
                </a:solidFill>
                <a:latin typeface="Microsoft Sans Serif"/>
                <a:cs typeface="Microsoft Sans Serif"/>
              </a:rPr>
              <a:t>N</a:t>
            </a:r>
            <a:r>
              <a:rPr dirty="0" sz="750" spc="-65">
                <a:solidFill>
                  <a:srgbClr val="798FAC"/>
                </a:solidFill>
                <a:latin typeface="Microsoft Sans Serif"/>
                <a:cs typeface="Microsoft Sans Serif"/>
              </a:rPr>
              <a:t> U</a:t>
            </a:r>
            <a:r>
              <a:rPr dirty="0" sz="750" spc="-9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AL</a:t>
            </a:r>
            <a:r>
              <a:rPr dirty="0" sz="750" spc="26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M</a:t>
            </a:r>
            <a:r>
              <a:rPr dirty="0" sz="750" spc="-7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95">
                <a:solidFill>
                  <a:srgbClr val="798FAC"/>
                </a:solidFill>
                <a:latin typeface="Microsoft Sans Serif"/>
                <a:cs typeface="Microsoft Sans Serif"/>
              </a:rPr>
              <a:t>I</a:t>
            </a:r>
            <a:r>
              <a:rPr dirty="0" sz="750" spc="-25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30">
                <a:solidFill>
                  <a:srgbClr val="798FAC"/>
                </a:solidFill>
                <a:latin typeface="Microsoft Sans Serif"/>
                <a:cs typeface="Microsoft Sans Serif"/>
              </a:rPr>
              <a:t>L</a:t>
            </a:r>
            <a:r>
              <a:rPr dirty="0" sz="750" spc="-8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90">
                <a:solidFill>
                  <a:srgbClr val="798FAC"/>
                </a:solidFill>
                <a:latin typeface="Microsoft Sans Serif"/>
                <a:cs typeface="Microsoft Sans Serif"/>
              </a:rPr>
              <a:t>E</a:t>
            </a:r>
            <a:r>
              <a:rPr dirty="0" sz="750" spc="-7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S</a:t>
            </a:r>
            <a:r>
              <a:rPr dirty="0" sz="750" spc="26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65">
                <a:solidFill>
                  <a:srgbClr val="798FAC"/>
                </a:solidFill>
                <a:latin typeface="Microsoft Sans Serif"/>
                <a:cs typeface="Microsoft Sans Serif"/>
              </a:rPr>
              <a:t>S</a:t>
            </a:r>
            <a:r>
              <a:rPr dirty="0" sz="750" spc="-8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798FAC"/>
                </a:solidFill>
                <a:latin typeface="Microsoft Sans Serif"/>
                <a:cs typeface="Microsoft Sans Serif"/>
              </a:rPr>
              <a:t>AVE</a:t>
            </a:r>
            <a:r>
              <a:rPr dirty="0" sz="750" spc="-70">
                <a:solidFill>
                  <a:srgbClr val="798FAC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50">
                <a:solidFill>
                  <a:srgbClr val="798FAC"/>
                </a:solidFill>
                <a:latin typeface="Microsoft Sans Serif"/>
                <a:cs typeface="Microsoft Sans Serif"/>
              </a:rPr>
              <a:t>D</a:t>
            </a:r>
            <a:endParaRPr sz="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NHG Growing Pains — Vehicle Routing Optimization</dc:title>
  <dcterms:created xsi:type="dcterms:W3CDTF">2026-04-21T02:24:20Z</dcterms:created>
  <dcterms:modified xsi:type="dcterms:W3CDTF">2026-04-21T02:24:20Z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2026-04-20T00:00:00Z</vt:filetime>
  </property>
  <property fmtid="{D5CDD505-2E9C-101B-9397-08002B2CF9AE}" pid="4" name="Creator">
    <vt:lpwstr>Mozilla/5.0 (Macintosh; Intel Mac OS X 10_15_7) AppleWebKit/537.36 (KHTML, like Gecko) Chrome/147.0.0.0 Safari/537.36</vt:lpwstr>
  </property>
  <property fmtid="{D5CDD505-2E9C-101B-9397-08002B2CF9AE}" pid="5" name="LastSaved">
    <vt:filetime>2026-04-21T00:00:00Z</vt:filetime>
  </property>
  <property fmtid="{D5CDD505-2E9C-101B-9397-08002B2CF9AE}" pid="6" name="Producer">
    <vt:lpwstr>Skia/PDF m147</vt:lpwstr>
  </property>
</Properties>
</file>